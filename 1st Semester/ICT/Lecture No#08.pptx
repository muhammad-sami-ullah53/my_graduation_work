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6" r:id="rId10"/>
    <p:sldId id="267" r:id="rId11"/>
    <p:sldId id="268" r:id="rId12"/>
  </p:sldIdLst>
  <p:sldSz cx="9144000" cy="6858000" type="screen4x3"/>
  <p:notesSz cx="6858000" cy="9144000"/>
  <p:custDataLst>
    <p:tags r:id="rId1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ACD42B9-3CC6-471D-99E5-0AE1F9E0718A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97D7772C-4D20-41CB-AB68-D7D35B49501D}">
      <dgm:prSet phldrT="[Text]"/>
      <dgm:spPr/>
      <dgm:t>
        <a:bodyPr/>
        <a:lstStyle/>
        <a:p>
          <a:pPr algn="ctr"/>
          <a:r>
            <a:rPr lang="en-US" dirty="0"/>
            <a:t>Data</a:t>
          </a:r>
        </a:p>
      </dgm:t>
    </dgm:pt>
    <dgm:pt modelId="{7362A928-47BB-4EFD-B77D-473A0A3DE69B}" type="parTrans" cxnId="{62CC2C5B-FB02-4D5E-AC45-E6B0A7F903D3}">
      <dgm:prSet/>
      <dgm:spPr/>
      <dgm:t>
        <a:bodyPr/>
        <a:lstStyle/>
        <a:p>
          <a:pPr algn="ctr"/>
          <a:endParaRPr lang="en-US"/>
        </a:p>
      </dgm:t>
    </dgm:pt>
    <dgm:pt modelId="{16DD62CB-3977-4723-940E-7133842AE0DF}" type="sibTrans" cxnId="{62CC2C5B-FB02-4D5E-AC45-E6B0A7F903D3}">
      <dgm:prSet/>
      <dgm:spPr/>
      <dgm:t>
        <a:bodyPr/>
        <a:lstStyle/>
        <a:p>
          <a:pPr algn="ctr"/>
          <a:endParaRPr lang="en-US"/>
        </a:p>
      </dgm:t>
    </dgm:pt>
    <dgm:pt modelId="{BCAC1220-A929-441E-A60E-7E43352D189E}">
      <dgm:prSet phldrT="[Text]"/>
      <dgm:spPr/>
      <dgm:t>
        <a:bodyPr/>
        <a:lstStyle/>
        <a:p>
          <a:pPr algn="ctr"/>
          <a:r>
            <a:rPr lang="en-US" dirty="0"/>
            <a:t>Information</a:t>
          </a:r>
        </a:p>
      </dgm:t>
    </dgm:pt>
    <dgm:pt modelId="{5D13F47B-DE5C-4D4E-9AD9-E3F9171847B6}" type="parTrans" cxnId="{3ED88720-7A70-4FE5-B0A1-7103F503E686}">
      <dgm:prSet/>
      <dgm:spPr/>
      <dgm:t>
        <a:bodyPr/>
        <a:lstStyle/>
        <a:p>
          <a:pPr algn="ctr"/>
          <a:endParaRPr lang="en-US"/>
        </a:p>
      </dgm:t>
    </dgm:pt>
    <dgm:pt modelId="{E1573E26-88A5-4926-8987-D9AACCC9CA77}" type="sibTrans" cxnId="{3ED88720-7A70-4FE5-B0A1-7103F503E686}">
      <dgm:prSet/>
      <dgm:spPr/>
      <dgm:t>
        <a:bodyPr/>
        <a:lstStyle/>
        <a:p>
          <a:pPr algn="ctr"/>
          <a:endParaRPr lang="en-US"/>
        </a:p>
      </dgm:t>
    </dgm:pt>
    <dgm:pt modelId="{7F5E1735-AA27-44FE-B37C-F26BF45A5307}">
      <dgm:prSet phldrT="[Text]"/>
      <dgm:spPr/>
      <dgm:t>
        <a:bodyPr/>
        <a:lstStyle/>
        <a:p>
          <a:pPr algn="ctr"/>
          <a:r>
            <a:rPr lang="en-US" dirty="0"/>
            <a:t>Knowledge</a:t>
          </a:r>
        </a:p>
      </dgm:t>
    </dgm:pt>
    <dgm:pt modelId="{78132AE0-C8B3-4F78-8143-3BA81C6EE382}" type="parTrans" cxnId="{1466DB55-CB8B-466D-8192-E1082E4BDD3F}">
      <dgm:prSet/>
      <dgm:spPr/>
      <dgm:t>
        <a:bodyPr/>
        <a:lstStyle/>
        <a:p>
          <a:pPr algn="ctr"/>
          <a:endParaRPr lang="en-US"/>
        </a:p>
      </dgm:t>
    </dgm:pt>
    <dgm:pt modelId="{E769000A-02AB-4B7B-8687-182B3AEA48CB}" type="sibTrans" cxnId="{1466DB55-CB8B-466D-8192-E1082E4BDD3F}">
      <dgm:prSet/>
      <dgm:spPr/>
      <dgm:t>
        <a:bodyPr/>
        <a:lstStyle/>
        <a:p>
          <a:pPr algn="ctr"/>
          <a:endParaRPr lang="en-US"/>
        </a:p>
      </dgm:t>
    </dgm:pt>
    <dgm:pt modelId="{F9992D15-73A8-4D97-9BE8-891B003FD458}">
      <dgm:prSet phldrT="[Text]"/>
      <dgm:spPr/>
      <dgm:t>
        <a:bodyPr/>
        <a:lstStyle/>
        <a:p>
          <a:pPr algn="ctr"/>
          <a:r>
            <a:rPr lang="en-US" dirty="0"/>
            <a:t>Wisdom</a:t>
          </a:r>
        </a:p>
      </dgm:t>
    </dgm:pt>
    <dgm:pt modelId="{847518C1-7848-428A-A2FF-702A63B956B6}" type="parTrans" cxnId="{E5BDC1C9-85E6-4D31-B04D-49599E0598E2}">
      <dgm:prSet/>
      <dgm:spPr/>
      <dgm:t>
        <a:bodyPr/>
        <a:lstStyle/>
        <a:p>
          <a:pPr algn="ctr"/>
          <a:endParaRPr lang="en-US"/>
        </a:p>
      </dgm:t>
    </dgm:pt>
    <dgm:pt modelId="{B1073910-A62B-4873-8D14-F855D700864E}" type="sibTrans" cxnId="{E5BDC1C9-85E6-4D31-B04D-49599E0598E2}">
      <dgm:prSet/>
      <dgm:spPr/>
      <dgm:t>
        <a:bodyPr/>
        <a:lstStyle/>
        <a:p>
          <a:pPr algn="ctr"/>
          <a:endParaRPr lang="en-US"/>
        </a:p>
      </dgm:t>
    </dgm:pt>
    <dgm:pt modelId="{085E3908-4A84-4684-B0B0-345CEC1270A3}" type="pres">
      <dgm:prSet presAssocID="{3ACD42B9-3CC6-471D-99E5-0AE1F9E0718A}" presName="Name0" presStyleCnt="0">
        <dgm:presLayoutVars>
          <dgm:dir/>
          <dgm:animLvl val="lvl"/>
          <dgm:resizeHandles val="exact"/>
        </dgm:presLayoutVars>
      </dgm:prSet>
      <dgm:spPr/>
    </dgm:pt>
    <dgm:pt modelId="{AC57CD8C-5BCF-4589-A101-7AD7B4C66D4D}" type="pres">
      <dgm:prSet presAssocID="{97D7772C-4D20-41CB-AB68-D7D35B49501D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3C1512DD-7A16-4F35-93E4-784E5DFD8ED2}" type="pres">
      <dgm:prSet presAssocID="{16DD62CB-3977-4723-940E-7133842AE0DF}" presName="parTxOnlySpace" presStyleCnt="0"/>
      <dgm:spPr/>
    </dgm:pt>
    <dgm:pt modelId="{48A02A0D-E54C-4762-BA9D-D50A436EBE14}" type="pres">
      <dgm:prSet presAssocID="{BCAC1220-A929-441E-A60E-7E43352D189E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B6BD43CD-28E3-423B-B7BD-FCC7C459D9AD}" type="pres">
      <dgm:prSet presAssocID="{E1573E26-88A5-4926-8987-D9AACCC9CA77}" presName="parTxOnlySpace" presStyleCnt="0"/>
      <dgm:spPr/>
    </dgm:pt>
    <dgm:pt modelId="{06AD1AA8-2609-4DC7-865E-1F8C6BEE4318}" type="pres">
      <dgm:prSet presAssocID="{7F5E1735-AA27-44FE-B37C-F26BF45A5307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20BB3949-CE43-4A03-866C-0E1F83F0A819}" type="pres">
      <dgm:prSet presAssocID="{E769000A-02AB-4B7B-8687-182B3AEA48CB}" presName="parTxOnlySpace" presStyleCnt="0"/>
      <dgm:spPr/>
    </dgm:pt>
    <dgm:pt modelId="{DA823FE3-8327-4E7F-A61A-CD451D8E050E}" type="pres">
      <dgm:prSet presAssocID="{F9992D15-73A8-4D97-9BE8-891B003FD458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516C300D-BFF7-46B6-A266-3728C0247C8E}" type="presOf" srcId="{F9992D15-73A8-4D97-9BE8-891B003FD458}" destId="{DA823FE3-8327-4E7F-A61A-CD451D8E050E}" srcOrd="0" destOrd="0" presId="urn:microsoft.com/office/officeart/2005/8/layout/chevron1"/>
    <dgm:cxn modelId="{3ED88720-7A70-4FE5-B0A1-7103F503E686}" srcId="{3ACD42B9-3CC6-471D-99E5-0AE1F9E0718A}" destId="{BCAC1220-A929-441E-A60E-7E43352D189E}" srcOrd="1" destOrd="0" parTransId="{5D13F47B-DE5C-4D4E-9AD9-E3F9171847B6}" sibTransId="{E1573E26-88A5-4926-8987-D9AACCC9CA77}"/>
    <dgm:cxn modelId="{62CC2C5B-FB02-4D5E-AC45-E6B0A7F903D3}" srcId="{3ACD42B9-3CC6-471D-99E5-0AE1F9E0718A}" destId="{97D7772C-4D20-41CB-AB68-D7D35B49501D}" srcOrd="0" destOrd="0" parTransId="{7362A928-47BB-4EFD-B77D-473A0A3DE69B}" sibTransId="{16DD62CB-3977-4723-940E-7133842AE0DF}"/>
    <dgm:cxn modelId="{7254A24E-5B4E-4750-A0BA-DF309A7F2183}" type="presOf" srcId="{97D7772C-4D20-41CB-AB68-D7D35B49501D}" destId="{AC57CD8C-5BCF-4589-A101-7AD7B4C66D4D}" srcOrd="0" destOrd="0" presId="urn:microsoft.com/office/officeart/2005/8/layout/chevron1"/>
    <dgm:cxn modelId="{1466DB55-CB8B-466D-8192-E1082E4BDD3F}" srcId="{3ACD42B9-3CC6-471D-99E5-0AE1F9E0718A}" destId="{7F5E1735-AA27-44FE-B37C-F26BF45A5307}" srcOrd="2" destOrd="0" parTransId="{78132AE0-C8B3-4F78-8143-3BA81C6EE382}" sibTransId="{E769000A-02AB-4B7B-8687-182B3AEA48CB}"/>
    <dgm:cxn modelId="{6985F18D-44C9-4F54-A2F5-1B7C597C0FDB}" type="presOf" srcId="{3ACD42B9-3CC6-471D-99E5-0AE1F9E0718A}" destId="{085E3908-4A84-4684-B0B0-345CEC1270A3}" srcOrd="0" destOrd="0" presId="urn:microsoft.com/office/officeart/2005/8/layout/chevron1"/>
    <dgm:cxn modelId="{C87E41B2-FA09-4EBB-B4CE-05F2E74F309F}" type="presOf" srcId="{7F5E1735-AA27-44FE-B37C-F26BF45A5307}" destId="{06AD1AA8-2609-4DC7-865E-1F8C6BEE4318}" srcOrd="0" destOrd="0" presId="urn:microsoft.com/office/officeart/2005/8/layout/chevron1"/>
    <dgm:cxn modelId="{4EE3B0C6-5A30-487C-A8E7-80E94F93F527}" type="presOf" srcId="{BCAC1220-A929-441E-A60E-7E43352D189E}" destId="{48A02A0D-E54C-4762-BA9D-D50A436EBE14}" srcOrd="0" destOrd="0" presId="urn:microsoft.com/office/officeart/2005/8/layout/chevron1"/>
    <dgm:cxn modelId="{E5BDC1C9-85E6-4D31-B04D-49599E0598E2}" srcId="{3ACD42B9-3CC6-471D-99E5-0AE1F9E0718A}" destId="{F9992D15-73A8-4D97-9BE8-891B003FD458}" srcOrd="3" destOrd="0" parTransId="{847518C1-7848-428A-A2FF-702A63B956B6}" sibTransId="{B1073910-A62B-4873-8D14-F855D700864E}"/>
    <dgm:cxn modelId="{8B59AFA7-5220-4D8D-9B09-2C4F9AC02D80}" type="presParOf" srcId="{085E3908-4A84-4684-B0B0-345CEC1270A3}" destId="{AC57CD8C-5BCF-4589-A101-7AD7B4C66D4D}" srcOrd="0" destOrd="0" presId="urn:microsoft.com/office/officeart/2005/8/layout/chevron1"/>
    <dgm:cxn modelId="{F1EF5580-233A-4761-B094-7B8FB5553460}" type="presParOf" srcId="{085E3908-4A84-4684-B0B0-345CEC1270A3}" destId="{3C1512DD-7A16-4F35-93E4-784E5DFD8ED2}" srcOrd="1" destOrd="0" presId="urn:microsoft.com/office/officeart/2005/8/layout/chevron1"/>
    <dgm:cxn modelId="{F111B698-D857-4094-BD1D-D99E7653E47D}" type="presParOf" srcId="{085E3908-4A84-4684-B0B0-345CEC1270A3}" destId="{48A02A0D-E54C-4762-BA9D-D50A436EBE14}" srcOrd="2" destOrd="0" presId="urn:microsoft.com/office/officeart/2005/8/layout/chevron1"/>
    <dgm:cxn modelId="{F16BC71E-B254-4FF5-8D4A-DCDBDF2B43D8}" type="presParOf" srcId="{085E3908-4A84-4684-B0B0-345CEC1270A3}" destId="{B6BD43CD-28E3-423B-B7BD-FCC7C459D9AD}" srcOrd="3" destOrd="0" presId="urn:microsoft.com/office/officeart/2005/8/layout/chevron1"/>
    <dgm:cxn modelId="{3AA91083-0CE3-40F0-8FC9-AF5B133710CC}" type="presParOf" srcId="{085E3908-4A84-4684-B0B0-345CEC1270A3}" destId="{06AD1AA8-2609-4DC7-865E-1F8C6BEE4318}" srcOrd="4" destOrd="0" presId="urn:microsoft.com/office/officeart/2005/8/layout/chevron1"/>
    <dgm:cxn modelId="{D2813354-C815-49BE-AA90-6D1295527660}" type="presParOf" srcId="{085E3908-4A84-4684-B0B0-345CEC1270A3}" destId="{20BB3949-CE43-4A03-866C-0E1F83F0A819}" srcOrd="5" destOrd="0" presId="urn:microsoft.com/office/officeart/2005/8/layout/chevron1"/>
    <dgm:cxn modelId="{F8D8BA98-91DB-4AD2-8ACE-6AF4682D36F4}" type="presParOf" srcId="{085E3908-4A84-4684-B0B0-345CEC1270A3}" destId="{DA823FE3-8327-4E7F-A61A-CD451D8E050E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57CD8C-5BCF-4589-A101-7AD7B4C66D4D}">
      <dsp:nvSpPr>
        <dsp:cNvPr id="0" name=""/>
        <dsp:cNvSpPr/>
      </dsp:nvSpPr>
      <dsp:spPr>
        <a:xfrm>
          <a:off x="2827" y="1476116"/>
          <a:ext cx="1646039" cy="65841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Data</a:t>
          </a:r>
        </a:p>
      </dsp:txBody>
      <dsp:txXfrm>
        <a:off x="332035" y="1476116"/>
        <a:ext cx="987624" cy="658415"/>
      </dsp:txXfrm>
    </dsp:sp>
    <dsp:sp modelId="{48A02A0D-E54C-4762-BA9D-D50A436EBE14}">
      <dsp:nvSpPr>
        <dsp:cNvPr id="0" name=""/>
        <dsp:cNvSpPr/>
      </dsp:nvSpPr>
      <dsp:spPr>
        <a:xfrm>
          <a:off x="1484262" y="1476116"/>
          <a:ext cx="1646039" cy="65841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Information</a:t>
          </a:r>
        </a:p>
      </dsp:txBody>
      <dsp:txXfrm>
        <a:off x="1813470" y="1476116"/>
        <a:ext cx="987624" cy="658415"/>
      </dsp:txXfrm>
    </dsp:sp>
    <dsp:sp modelId="{06AD1AA8-2609-4DC7-865E-1F8C6BEE4318}">
      <dsp:nvSpPr>
        <dsp:cNvPr id="0" name=""/>
        <dsp:cNvSpPr/>
      </dsp:nvSpPr>
      <dsp:spPr>
        <a:xfrm>
          <a:off x="2965698" y="1476116"/>
          <a:ext cx="1646039" cy="65841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Knowledge</a:t>
          </a:r>
        </a:p>
      </dsp:txBody>
      <dsp:txXfrm>
        <a:off x="3294906" y="1476116"/>
        <a:ext cx="987624" cy="658415"/>
      </dsp:txXfrm>
    </dsp:sp>
    <dsp:sp modelId="{DA823FE3-8327-4E7F-A61A-CD451D8E050E}">
      <dsp:nvSpPr>
        <dsp:cNvPr id="0" name=""/>
        <dsp:cNvSpPr/>
      </dsp:nvSpPr>
      <dsp:spPr>
        <a:xfrm>
          <a:off x="4447133" y="1476116"/>
          <a:ext cx="1646039" cy="65841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Wisdom</a:t>
          </a:r>
        </a:p>
      </dsp:txBody>
      <dsp:txXfrm>
        <a:off x="4776341" y="1476116"/>
        <a:ext cx="987624" cy="6584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310 Slides-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4138" y="142732"/>
            <a:ext cx="7772400" cy="14700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95353" y="1824889"/>
            <a:ext cx="6400800" cy="73334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C577C-36B9-A749-96AC-1A7E3C40902D}" type="datetimeFigureOut">
              <a:rPr lang="en-US" smtClean="0"/>
              <a:t>9/14/2022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3A3C7-8D46-DB42-89CB-992E9276F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471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310 Slides-02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C577C-36B9-A749-96AC-1A7E3C40902D}" type="datetimeFigureOut">
              <a:rPr lang="en-US" smtClean="0"/>
              <a:t>9/14/2022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3A3C7-8D46-DB42-89CB-992E9276F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2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310 Slides-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59595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C577C-36B9-A749-96AC-1A7E3C40902D}" type="datetimeFigureOut">
              <a:rPr lang="en-US" smtClean="0"/>
              <a:t>9/14/2022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3A3C7-8D46-DB42-89CB-992E9276F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453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310 Slides-02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2683"/>
            <a:ext cx="7772400" cy="764118"/>
          </a:xfrm>
        </p:spPr>
        <p:txBody>
          <a:bodyPr anchor="t"/>
          <a:lstStyle>
            <a:lvl1pPr algn="l">
              <a:defRPr sz="4000" b="1" cap="all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05957"/>
            <a:ext cx="7772400" cy="61740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C577C-36B9-A749-96AC-1A7E3C40902D}" type="datetimeFigureOut">
              <a:rPr lang="en-US" smtClean="0"/>
              <a:t>9/14/2022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3A3C7-8D46-DB42-89CB-992E9276F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61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310 Slides-02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C577C-36B9-A749-96AC-1A7E3C40902D}" type="datetimeFigureOut">
              <a:rPr lang="en-US" smtClean="0"/>
              <a:t>9/14/2022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3A3C7-8D46-DB42-89CB-992E9276F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462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310 Slides-02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C577C-36B9-A749-96AC-1A7E3C40902D}" type="datetimeFigureOut">
              <a:rPr lang="en-US" smtClean="0"/>
              <a:t>9/14/2022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3A3C7-8D46-DB42-89CB-992E9276F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756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310 Slides-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C577C-36B9-A749-96AC-1A7E3C40902D}" type="datetimeFigureOut">
              <a:rPr lang="en-US" smtClean="0"/>
              <a:t>9/14/2022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3A3C7-8D46-DB42-89CB-992E9276F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695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310 Slides-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C577C-36B9-A749-96AC-1A7E3C40902D}" type="datetimeFigureOut">
              <a:rPr lang="en-US" smtClean="0"/>
              <a:t>9/14/2022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3A3C7-8D46-DB42-89CB-992E9276F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685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310 Slides-02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40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C577C-36B9-A749-96AC-1A7E3C40902D}" type="datetimeFigureOut">
              <a:rPr lang="en-US" smtClean="0"/>
              <a:t>9/14/2022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3A3C7-8D46-DB42-89CB-992E9276F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254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310 Slides-02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4450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2571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0117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C577C-36B9-A749-96AC-1A7E3C40902D}" type="datetimeFigureOut">
              <a:rPr lang="en-US" smtClean="0"/>
              <a:t>9/14/2022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3A3C7-8D46-DB42-89CB-992E9276F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505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8C577C-36B9-A749-96AC-1A7E3C40902D}" type="datetimeFigureOut">
              <a:rPr lang="en-US" smtClean="0"/>
              <a:t>9/14/2022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13A3C7-8D46-DB42-89CB-992E9276F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364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8395" y="1824889"/>
            <a:ext cx="6400800" cy="733345"/>
          </a:xfrm>
        </p:spPr>
        <p:txBody>
          <a:bodyPr/>
          <a:lstStyle/>
          <a:p>
            <a:r>
              <a:rPr lang="en-US" dirty="0"/>
              <a:t>Data and Databases</a:t>
            </a:r>
          </a:p>
        </p:txBody>
      </p:sp>
    </p:spTree>
    <p:extLst>
      <p:ext uri="{BB962C8B-B14F-4D97-AF65-F5344CB8AC3E}">
        <p14:creationId xmlns:p14="http://schemas.microsoft.com/office/powerpoint/2010/main" val="315588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21945"/>
            <a:ext cx="8229600" cy="515328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Upon successful completion of this chapter, you will be able to:</a:t>
            </a:r>
          </a:p>
          <a:p>
            <a:r>
              <a:rPr lang="en-US" dirty="0"/>
              <a:t>Describe the differences between data, information, and technology</a:t>
            </a:r>
          </a:p>
          <a:p>
            <a:r>
              <a:rPr lang="en-US" dirty="0"/>
              <a:t>Define the term </a:t>
            </a:r>
            <a:r>
              <a:rPr lang="en-US" i="1" dirty="0"/>
              <a:t>database</a:t>
            </a:r>
            <a:r>
              <a:rPr lang="en-US" dirty="0"/>
              <a:t> and identify the steps to creating one</a:t>
            </a:r>
          </a:p>
          <a:p>
            <a:r>
              <a:rPr lang="en-US" dirty="0"/>
              <a:t>Describe the role of a database management system</a:t>
            </a:r>
          </a:p>
          <a:p>
            <a:r>
              <a:rPr lang="en-US" dirty="0"/>
              <a:t>Describe the characteristics of a </a:t>
            </a:r>
            <a:br>
              <a:rPr lang="en-US" dirty="0"/>
            </a:br>
            <a:r>
              <a:rPr lang="en-US" dirty="0"/>
              <a:t>data warehouse</a:t>
            </a:r>
          </a:p>
        </p:txBody>
      </p:sp>
    </p:spTree>
    <p:extLst>
      <p:ext uri="{BB962C8B-B14F-4D97-AF65-F5344CB8AC3E}">
        <p14:creationId xmlns:p14="http://schemas.microsoft.com/office/powerpoint/2010/main" val="3392768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Data, Information, and Knowledge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79845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Data is raw bits and pieces of information</a:t>
            </a:r>
          </a:p>
          <a:p>
            <a:pPr lvl="1"/>
            <a:r>
              <a:rPr lang="en-US" dirty="0"/>
              <a:t>Quantitative – numeric</a:t>
            </a:r>
          </a:p>
          <a:p>
            <a:pPr lvl="1"/>
            <a:r>
              <a:rPr lang="en-US" dirty="0"/>
              <a:t>Qualitative – descriptive</a:t>
            </a:r>
          </a:p>
          <a:p>
            <a:pPr lvl="1"/>
            <a:r>
              <a:rPr lang="en-US" dirty="0"/>
              <a:t>Alone is not useful</a:t>
            </a:r>
          </a:p>
          <a:p>
            <a:r>
              <a:rPr lang="en-US" dirty="0"/>
              <a:t>Information is when data is given context and more specific</a:t>
            </a:r>
          </a:p>
          <a:p>
            <a:r>
              <a:rPr lang="en-US" dirty="0"/>
              <a:t>Knowledge is developed when information has been aggregated and analyzed to make decisions, set policies, and spark innovation.</a:t>
            </a:r>
          </a:p>
          <a:p>
            <a:r>
              <a:rPr lang="en-US" dirty="0"/>
              <a:t>Wisdom is the combination of knowledge and </a:t>
            </a:r>
            <a:br>
              <a:rPr lang="en-US" dirty="0"/>
            </a:br>
            <a:r>
              <a:rPr lang="en-US" dirty="0"/>
              <a:t>experience</a:t>
            </a:r>
          </a:p>
          <a:p>
            <a:pPr lvl="1"/>
            <a:r>
              <a:rPr lang="en-US" dirty="0"/>
              <a:t>May take years to develop</a:t>
            </a:r>
          </a:p>
          <a:p>
            <a:endParaRPr lang="en-US" dirty="0"/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1190354996"/>
              </p:ext>
            </p:extLst>
          </p:nvPr>
        </p:nvGraphicFramePr>
        <p:xfrm>
          <a:off x="1274618" y="365125"/>
          <a:ext cx="6096000" cy="36106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11512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502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Organized collection of related information to generate knowledge for decision making purposes</a:t>
            </a:r>
          </a:p>
          <a:p>
            <a:pPr lvl="1"/>
            <a:r>
              <a:rPr lang="en-US" dirty="0"/>
              <a:t>For example, a university transcript database may contain information on students, classes taken, and grades received</a:t>
            </a:r>
          </a:p>
          <a:p>
            <a:r>
              <a:rPr lang="en-US" dirty="0"/>
              <a:t>A separate university database would be created to maintain your financial information</a:t>
            </a:r>
          </a:p>
          <a:p>
            <a:r>
              <a:rPr lang="en-US" dirty="0"/>
              <a:t>Relational databases (such as Microsoft Access) where data in organized into one or more tables</a:t>
            </a:r>
          </a:p>
          <a:p>
            <a:pPr lvl="1"/>
            <a:r>
              <a:rPr lang="en-US" dirty="0"/>
              <a:t>Tables are a collection of fields </a:t>
            </a:r>
          </a:p>
          <a:p>
            <a:pPr lvl="2"/>
            <a:r>
              <a:rPr lang="en-US" dirty="0"/>
              <a:t>E.g., Student ID, Course ID, Grade Earned</a:t>
            </a:r>
          </a:p>
          <a:p>
            <a:pPr lvl="1"/>
            <a:r>
              <a:rPr lang="en-US" dirty="0"/>
              <a:t>Record is an instance in the table </a:t>
            </a:r>
          </a:p>
          <a:p>
            <a:pPr lvl="2"/>
            <a:r>
              <a:rPr lang="en-US" dirty="0"/>
              <a:t>E.g., your specific information in the table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8701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Databases continued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6331" y="1825625"/>
            <a:ext cx="783133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835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6414"/>
          </a:xfrm>
        </p:spPr>
        <p:txBody>
          <a:bodyPr>
            <a:normAutofit fontScale="92500"/>
          </a:bodyPr>
          <a:lstStyle/>
          <a:p>
            <a:r>
              <a:rPr lang="en-US" dirty="0"/>
              <a:t>Design is a critical first step in creating a database</a:t>
            </a:r>
          </a:p>
          <a:p>
            <a:pPr lvl="1"/>
            <a:r>
              <a:rPr lang="en-US" dirty="0"/>
              <a:t>Understand the goal of how the database will be used</a:t>
            </a:r>
          </a:p>
          <a:p>
            <a:pPr lvl="1"/>
            <a:r>
              <a:rPr lang="en-US" dirty="0"/>
              <a:t>Identify the data needed as part of accomplishing this goal</a:t>
            </a:r>
          </a:p>
          <a:p>
            <a:pPr lvl="1"/>
            <a:r>
              <a:rPr lang="en-US" dirty="0"/>
              <a:t>Identify how the data is related to each other</a:t>
            </a:r>
          </a:p>
          <a:p>
            <a:pPr lvl="1"/>
            <a:r>
              <a:rPr lang="en-US" dirty="0"/>
              <a:t>Identify tables and fields to organize the data</a:t>
            </a:r>
          </a:p>
          <a:p>
            <a:pPr lvl="2"/>
            <a:r>
              <a:rPr lang="en-US" dirty="0"/>
              <a:t>Each table needs a primary key of which </a:t>
            </a:r>
            <a:br>
              <a:rPr lang="en-US" dirty="0"/>
            </a:br>
            <a:r>
              <a:rPr lang="en-US" dirty="0"/>
              <a:t>field(s) is unique to each record and </a:t>
            </a:r>
            <a:br>
              <a:rPr lang="en-US" dirty="0"/>
            </a:br>
            <a:r>
              <a:rPr lang="en-US" dirty="0"/>
              <a:t>will not change</a:t>
            </a:r>
          </a:p>
          <a:p>
            <a:pPr lvl="3"/>
            <a:r>
              <a:rPr lang="en-US" dirty="0"/>
              <a:t>For example, our  ID</a:t>
            </a:r>
          </a:p>
          <a:p>
            <a:pPr lvl="2"/>
            <a:r>
              <a:rPr lang="en-US" dirty="0"/>
              <a:t>Normalization is performed to eliminate </a:t>
            </a:r>
            <a:br>
              <a:rPr lang="en-US" dirty="0"/>
            </a:br>
            <a:r>
              <a:rPr lang="en-US" dirty="0"/>
              <a:t>duplicated data</a:t>
            </a:r>
          </a:p>
        </p:txBody>
      </p:sp>
    </p:spTree>
    <p:extLst>
      <p:ext uri="{BB962C8B-B14F-4D97-AF65-F5344CB8AC3E}">
        <p14:creationId xmlns:p14="http://schemas.microsoft.com/office/powerpoint/2010/main" val="14517925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63098"/>
            <a:ext cx="7886700" cy="4658157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Each field in the database has a data type to store information:</a:t>
            </a:r>
          </a:p>
          <a:p>
            <a:pPr lvl="1"/>
            <a:r>
              <a:rPr lang="en-US" dirty="0"/>
              <a:t>Text – non-numeric data less than 256 characters</a:t>
            </a:r>
          </a:p>
          <a:p>
            <a:pPr lvl="1"/>
            <a:r>
              <a:rPr lang="en-US" dirty="0"/>
              <a:t>Number – numeric data</a:t>
            </a:r>
          </a:p>
          <a:p>
            <a:pPr lvl="1"/>
            <a:r>
              <a:rPr lang="en-US" dirty="0"/>
              <a:t>Yes/No – stores 0 for No or False and 1 for Yes or True</a:t>
            </a:r>
          </a:p>
          <a:p>
            <a:pPr lvl="1"/>
            <a:r>
              <a:rPr lang="en-US" dirty="0"/>
              <a:t>Date/Time – number data type that can be interpreted as a number or a time</a:t>
            </a:r>
          </a:p>
          <a:p>
            <a:pPr lvl="1"/>
            <a:r>
              <a:rPr lang="en-US" dirty="0"/>
              <a:t>Currency – monetary data</a:t>
            </a:r>
          </a:p>
          <a:p>
            <a:pPr lvl="1"/>
            <a:r>
              <a:rPr lang="en-US" dirty="0"/>
              <a:t>Paragraph Text – stores text longer than 256 characters</a:t>
            </a:r>
          </a:p>
          <a:p>
            <a:pPr lvl="1"/>
            <a:r>
              <a:rPr lang="en-US" dirty="0"/>
              <a:t>Object – data that can’t be typed such as a picture or music file</a:t>
            </a:r>
          </a:p>
          <a:p>
            <a:r>
              <a:rPr lang="en-US" dirty="0"/>
              <a:t>Data types functions can be performed on the data</a:t>
            </a:r>
          </a:p>
          <a:p>
            <a:pPr lvl="1"/>
            <a:r>
              <a:rPr lang="en-US" dirty="0"/>
              <a:t>For example, 2 number fields can be used to </a:t>
            </a:r>
            <a:br>
              <a:rPr lang="en-US" dirty="0"/>
            </a:br>
            <a:r>
              <a:rPr lang="en-US" dirty="0"/>
              <a:t>perform calculations</a:t>
            </a:r>
          </a:p>
          <a:p>
            <a:r>
              <a:rPr lang="en-US" dirty="0"/>
              <a:t>Data types indicate the amount of storage </a:t>
            </a:r>
            <a:br>
              <a:rPr lang="en-US" dirty="0"/>
            </a:br>
            <a:r>
              <a:rPr lang="en-US" dirty="0"/>
              <a:t>needed for each field</a:t>
            </a:r>
          </a:p>
        </p:txBody>
      </p:sp>
    </p:spTree>
    <p:extLst>
      <p:ext uri="{BB962C8B-B14F-4D97-AF65-F5344CB8AC3E}">
        <p14:creationId xmlns:p14="http://schemas.microsoft.com/office/powerpoint/2010/main" val="2618995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Reports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/>
              <a:t>Structured Query Language (SQL) is a tool/language that helps extract information from the database for analysis purposes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7165" y="2910670"/>
            <a:ext cx="5185389" cy="3473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6802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Management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22954"/>
            <a:ext cx="8229600" cy="4525963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Database Management Systems (DBMS) is an application that allows data to be:</a:t>
            </a:r>
          </a:p>
          <a:p>
            <a:pPr lvl="1"/>
            <a:r>
              <a:rPr lang="en-US" dirty="0"/>
              <a:t>Entered, Modified, and Deleted</a:t>
            </a:r>
          </a:p>
          <a:p>
            <a:pPr lvl="1"/>
            <a:r>
              <a:rPr lang="en-US" dirty="0"/>
              <a:t>Read</a:t>
            </a:r>
          </a:p>
          <a:p>
            <a:pPr lvl="1"/>
            <a:r>
              <a:rPr lang="en-US" dirty="0"/>
              <a:t>Reported</a:t>
            </a:r>
          </a:p>
          <a:p>
            <a:r>
              <a:rPr lang="en-US" dirty="0"/>
              <a:t>Has a user friendly interface to design the database</a:t>
            </a:r>
          </a:p>
          <a:p>
            <a:r>
              <a:rPr lang="en-US" dirty="0"/>
              <a:t>Relational databases use Microsoft Access installed on one machine with one user access at a time</a:t>
            </a:r>
          </a:p>
          <a:p>
            <a:r>
              <a:rPr lang="en-US" dirty="0"/>
              <a:t>Enterprise Databases serve the entire </a:t>
            </a:r>
            <a:br>
              <a:rPr lang="en-US" dirty="0"/>
            </a:br>
            <a:r>
              <a:rPr lang="en-US" dirty="0"/>
              <a:t>organization</a:t>
            </a:r>
          </a:p>
        </p:txBody>
      </p:sp>
    </p:spTree>
    <p:extLst>
      <p:ext uri="{BB962C8B-B14F-4D97-AF65-F5344CB8AC3E}">
        <p14:creationId xmlns:p14="http://schemas.microsoft.com/office/powerpoint/2010/main" val="7837263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Warehouse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85901"/>
            <a:ext cx="7886700" cy="5010592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Consists of extracts from one or more of the organization’s databases</a:t>
            </a:r>
          </a:p>
          <a:p>
            <a:r>
              <a:rPr lang="en-US" dirty="0"/>
              <a:t>Allows the data to be copied and stored for analysis</a:t>
            </a:r>
          </a:p>
          <a:p>
            <a:pPr lvl="1"/>
            <a:r>
              <a:rPr lang="en-US" dirty="0"/>
              <a:t>Needs to be refreshed as the data changes</a:t>
            </a:r>
          </a:p>
          <a:p>
            <a:r>
              <a:rPr lang="en-US" dirty="0"/>
              <a:t>Data is time-stamped when extracted</a:t>
            </a:r>
          </a:p>
          <a:p>
            <a:pPr lvl="1"/>
            <a:r>
              <a:rPr lang="en-US" dirty="0"/>
              <a:t>Allows comparisons between different time periods</a:t>
            </a:r>
          </a:p>
          <a:p>
            <a:r>
              <a:rPr lang="en-US" dirty="0"/>
              <a:t>Data is standardized</a:t>
            </a:r>
          </a:p>
          <a:p>
            <a:pPr lvl="1"/>
            <a:r>
              <a:rPr lang="en-US" dirty="0"/>
              <a:t>All similar fields (e.g., calendar dates) are structured the same</a:t>
            </a:r>
          </a:p>
          <a:p>
            <a:pPr lvl="2"/>
            <a:r>
              <a:rPr lang="en-US" dirty="0"/>
              <a:t>Date is MM/DD/YYYY</a:t>
            </a:r>
          </a:p>
          <a:p>
            <a:r>
              <a:rPr lang="en-US" dirty="0"/>
              <a:t>Data marts are smaller subsets of </a:t>
            </a:r>
            <a:br>
              <a:rPr lang="en-US" dirty="0"/>
            </a:br>
            <a:r>
              <a:rPr lang="en-US" dirty="0"/>
              <a:t>data warehouses for specific business </a:t>
            </a:r>
            <a:br>
              <a:rPr lang="en-US" dirty="0"/>
            </a:br>
            <a:r>
              <a:rPr lang="en-US" dirty="0"/>
              <a:t>problems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2903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Warehouse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9629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Forces organizations to better understand the data</a:t>
            </a:r>
          </a:p>
          <a:p>
            <a:r>
              <a:rPr lang="en-US" dirty="0"/>
              <a:t>Centralized view of data to identify inconsistent data</a:t>
            </a:r>
          </a:p>
          <a:p>
            <a:r>
              <a:rPr lang="en-US" dirty="0"/>
              <a:t>Once inconsistencies are resolved, higher quality data is used to make better business decisions</a:t>
            </a:r>
          </a:p>
          <a:p>
            <a:r>
              <a:rPr lang="en-US" dirty="0"/>
              <a:t>Data can be analyzed over multiple </a:t>
            </a:r>
            <a:br>
              <a:rPr lang="en-US" dirty="0"/>
            </a:br>
            <a:r>
              <a:rPr lang="en-US" dirty="0"/>
              <a:t>time periods</a:t>
            </a:r>
          </a:p>
          <a:p>
            <a:r>
              <a:rPr lang="en-US" dirty="0"/>
              <a:t>Tools are available to combine </a:t>
            </a:r>
            <a:br>
              <a:rPr lang="en-US" dirty="0"/>
            </a:br>
            <a:r>
              <a:rPr lang="en-US" dirty="0"/>
              <a:t>data and gain more insight into </a:t>
            </a:r>
            <a:br>
              <a:rPr lang="en-US" dirty="0"/>
            </a:br>
            <a:r>
              <a:rPr lang="en-US" dirty="0"/>
              <a:t>business operations</a:t>
            </a:r>
          </a:p>
        </p:txBody>
      </p:sp>
    </p:spTree>
    <p:extLst>
      <p:ext uri="{BB962C8B-B14F-4D97-AF65-F5344CB8AC3E}">
        <p14:creationId xmlns:p14="http://schemas.microsoft.com/office/powerpoint/2010/main" val="48059425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11"/>
  <p:tag name="MMPROD_UIDATA" val="&lt;database version=&quot;7.0&quot;&gt;&lt;object type=&quot;1&quot; unique_id=&quot;10001&quot;&gt;&lt;object type=&quot;8&quot; unique_id=&quot;10825&quot;&gt;&lt;/object&gt;&lt;object type=&quot;2&quot; unique_id=&quot;10826&quot;&gt;&lt;object type=&quot;3&quot; unique_id=&quot;10891&quot;&gt;&lt;property id=&quot;20148&quot; value=&quot;5&quot;/&gt;&lt;property id=&quot;20300&quot; value=&quot;Slide 1 - &amp;quot;Chapter 4&amp;quot;&quot;/&gt;&lt;property id=&quot;20307&quot; value=&quot;257&quot;/&gt;&lt;/object&gt;&lt;object type=&quot;3&quot; unique_id=&quot;10892&quot;&gt;&lt;property id=&quot;20148&quot; value=&quot;5&quot;/&gt;&lt;property id=&quot;20300&quot; value=&quot;Slide 2 - &amp;quot;Learning Objectives&amp;quot;&quot;/&gt;&lt;property id=&quot;20307&quot; value=&quot;258&quot;/&gt;&lt;/object&gt;&lt;object type=&quot;3&quot; unique_id=&quot;10893&quot;&gt;&lt;property id=&quot;20148&quot; value=&quot;5&quot;/&gt;&lt;property id=&quot;20300&quot; value=&quot;Slide 3 - &amp;quot;Data, Information, and Knowledge&amp;quot;&quot;/&gt;&lt;property id=&quot;20307&quot; value=&quot;259&quot;/&gt;&lt;/object&gt;&lt;object type=&quot;3&quot; unique_id=&quot;10894&quot;&gt;&lt;property id=&quot;20148&quot; value=&quot;5&quot;/&gt;&lt;property id=&quot;20300&quot; value=&quot;Slide 4 - &amp;quot;Databases&amp;quot;&quot;/&gt;&lt;property id=&quot;20307&quot; value=&quot;260&quot;/&gt;&lt;/object&gt;&lt;object type=&quot;3&quot; unique_id=&quot;10895&quot;&gt;&lt;property id=&quot;20148&quot; value=&quot;5&quot;/&gt;&lt;property id=&quot;20300&quot; value=&quot;Slide 5 - &amp;quot;Databases continued&amp;quot;&quot;/&gt;&lt;property id=&quot;20307&quot; value=&quot;261&quot;/&gt;&lt;/object&gt;&lt;object type=&quot;3&quot; unique_id=&quot;10896&quot;&gt;&lt;property id=&quot;20148&quot; value=&quot;5&quot;/&gt;&lt;property id=&quot;20300&quot; value=&quot;Slide 6 - &amp;quot;Database Design&amp;quot;&quot;/&gt;&lt;property id=&quot;20307&quot; value=&quot;262&quot;/&gt;&lt;/object&gt;&lt;object type=&quot;3&quot; unique_id=&quot;10897&quot;&gt;&lt;property id=&quot;20148&quot; value=&quot;5&quot;/&gt;&lt;property id=&quot;20300&quot; value=&quot;Slide 7 - &amp;quot;Database Design&amp;quot;&quot;/&gt;&lt;property id=&quot;20307&quot; value=&quot;263&quot;/&gt;&lt;/object&gt;&lt;object type=&quot;3&quot; unique_id=&quot;10898&quot;&gt;&lt;property id=&quot;20148&quot; value=&quot;5&quot;/&gt;&lt;property id=&quot;20300&quot; value=&quot;Slide 8 - &amp;quot;Database Reports&amp;quot;&quot;/&gt;&lt;property id=&quot;20307&quot; value=&quot;264&quot;/&gt;&lt;/object&gt;&lt;object type=&quot;3&quot; unique_id=&quot;10899&quot;&gt;&lt;property id=&quot;20148&quot; value=&quot;5&quot;/&gt;&lt;property id=&quot;20300&quot; value=&quot;Slide 9 - &amp;quot;Other Database Types&amp;quot;&quot;/&gt;&lt;property id=&quot;20307&quot; value=&quot;265&quot;/&gt;&lt;/object&gt;&lt;object type=&quot;3&quot; unique_id=&quot;10900&quot;&gt;&lt;property id=&quot;20148&quot; value=&quot;5&quot;/&gt;&lt;property id=&quot;20300&quot; value=&quot;Slide 10 - &amp;quot;Database Management Systems&amp;quot;&quot;/&gt;&lt;property id=&quot;20307&quot; value=&quot;266&quot;/&gt;&lt;/object&gt;&lt;object type=&quot;3&quot; unique_id=&quot;10901&quot;&gt;&lt;property id=&quot;20148&quot; value=&quot;5&quot;/&gt;&lt;property id=&quot;20300&quot; value=&quot;Slide 11 - &amp;quot;Data Warehouse&amp;quot;&quot;/&gt;&lt;property id=&quot;20307&quot; value=&quot;267&quot;/&gt;&lt;/object&gt;&lt;object type=&quot;3&quot; unique_id=&quot;10902&quot;&gt;&lt;property id=&quot;20148&quot; value=&quot;5&quot;/&gt;&lt;property id=&quot;20300&quot; value=&quot;Slide 12 - &amp;quot;Data Warehouse Benefits&amp;quot;&quot;/&gt;&lt;property id=&quot;20307&quot; value=&quot;268&quot;/&gt;&lt;/object&gt;&lt;object type=&quot;3&quot; unique_id=&quot;10903&quot;&gt;&lt;property id=&quot;20148&quot; value=&quot;5&quot;/&gt;&lt;property id=&quot;20300&quot; value=&quot;Slide 13 - &amp;quot;Data Mining&amp;quot;&quot;/&gt;&lt;property id=&quot;20307&quot; value=&quot;269&quot;/&gt;&lt;/object&gt;&lt;object type=&quot;3&quot; unique_id=&quot;10904&quot;&gt;&lt;property id=&quot;20148&quot; value=&quot;5&quot;/&gt;&lt;property id=&quot;20300&quot; value=&quot;Slide 14 - &amp;quot;Knowledge Management (KM)&amp;quot;&quot;/&gt;&lt;property id=&quot;20307&quot; value=&quot;270&quot;/&gt;&lt;/object&gt;&lt;object type=&quot;3&quot; unique_id=&quot;10905&quot;&gt;&lt;property id=&quot;20148&quot; value=&quot;5&quot;/&gt;&lt;property id=&quot;20300&quot; value=&quot;Slide 15 - &amp;quot;Summary&amp;quot;&quot;/&gt;&lt;property id=&quot;20307&quot; value=&quot;271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653</Words>
  <Application>Microsoft Office PowerPoint</Application>
  <PresentationFormat>On-screen Show (4:3)</PresentationFormat>
  <Paragraphs>80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Chapter 4</vt:lpstr>
      <vt:lpstr>Learning Objectives</vt:lpstr>
      <vt:lpstr>Data, Information, and Knowledge</vt:lpstr>
      <vt:lpstr>Databases</vt:lpstr>
      <vt:lpstr>Databases continued</vt:lpstr>
      <vt:lpstr>Database Design</vt:lpstr>
      <vt:lpstr>Database Design</vt:lpstr>
      <vt:lpstr>Database Reports</vt:lpstr>
      <vt:lpstr>Database Management Systems</vt:lpstr>
      <vt:lpstr>Data Warehouse</vt:lpstr>
      <vt:lpstr>Data Warehouse Benefits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Torres</dc:creator>
  <cp:lastModifiedBy>vu</cp:lastModifiedBy>
  <cp:revision>23</cp:revision>
  <dcterms:created xsi:type="dcterms:W3CDTF">2015-07-22T22:44:37Z</dcterms:created>
  <dcterms:modified xsi:type="dcterms:W3CDTF">2022-09-15T05:02:12Z</dcterms:modified>
</cp:coreProperties>
</file>