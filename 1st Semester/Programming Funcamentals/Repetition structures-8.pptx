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537DC-6B43-46BC-9750-72764631F2D6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EA595-0DE2-4467-AC3F-FCF97D879F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3128CF-F03E-4C40-96D9-0E4EBD7F7E3F}" type="slidenum">
              <a:rPr lang="en-US"/>
              <a:pPr/>
              <a:t>4</a:t>
            </a:fld>
            <a:endParaRPr 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5047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</a:t>
            </a:r>
            <a:r>
              <a:rPr lang="en-US" baseline="0" dirty="0" smtClean="0"/>
              <a:t> the expression for next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978EB-682D-4EB6-ADBC-6745186969D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6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if </a:t>
            </a:r>
            <a:r>
              <a:rPr lang="en-US" dirty="0" err="1" smtClean="0"/>
              <a:t>i</a:t>
            </a:r>
            <a:r>
              <a:rPr lang="en-US" dirty="0" smtClean="0"/>
              <a:t>=i+5</a:t>
            </a:r>
            <a:r>
              <a:rPr lang="en-US" baseline="0" dirty="0" smtClean="0"/>
              <a:t> is ignored</a:t>
            </a:r>
          </a:p>
          <a:p>
            <a:r>
              <a:rPr lang="en-US" baseline="0" dirty="0" smtClean="0"/>
              <a:t>Change the order of statements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978EB-682D-4EB6-ADBC-6745186969D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12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Print</a:t>
            </a:r>
            <a:r>
              <a:rPr lang="en-US" baseline="0" dirty="0" smtClean="0"/>
              <a:t> the numbers in ascending order.</a:t>
            </a:r>
          </a:p>
          <a:p>
            <a:r>
              <a:rPr lang="en-US" baseline="0" dirty="0" smtClean="0"/>
              <a:t>Print numbers in descending order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978EB-682D-4EB6-ADBC-6745186969D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06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0BD3A6-8227-45D9-8865-C8FC723537E4}" type="slidenum">
              <a:rPr lang="en-US"/>
              <a:pPr/>
              <a:t>9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 pr5-06.cpp</a:t>
            </a:r>
          </a:p>
        </p:txBody>
      </p:sp>
    </p:spTree>
    <p:extLst>
      <p:ext uri="{BB962C8B-B14F-4D97-AF65-F5344CB8AC3E}">
        <p14:creationId xmlns:p14="http://schemas.microsoft.com/office/powerpoint/2010/main" val="2297209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C6B9F2-93EA-41CB-B1AF-B90B610F9481}" type="slidenum">
              <a:rPr lang="en-US"/>
              <a:pPr/>
              <a:t>11</a:t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 pr5-11.cpp</a:t>
            </a:r>
          </a:p>
        </p:txBody>
      </p:sp>
    </p:spTree>
    <p:extLst>
      <p:ext uri="{BB962C8B-B14F-4D97-AF65-F5344CB8AC3E}">
        <p14:creationId xmlns:p14="http://schemas.microsoft.com/office/powerpoint/2010/main" val="3777376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96592D-CA4F-4E9F-A102-C60E5CCFE5C3}" type="slidenum">
              <a:rPr lang="en-US"/>
              <a:pPr/>
              <a:t>16</a:t>
            </a:fld>
            <a:endParaRPr 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 pr5-09.cpp</a:t>
            </a:r>
          </a:p>
        </p:txBody>
      </p:sp>
    </p:spTree>
    <p:extLst>
      <p:ext uri="{BB962C8B-B14F-4D97-AF65-F5344CB8AC3E}">
        <p14:creationId xmlns:p14="http://schemas.microsoft.com/office/powerpoint/2010/main" val="3087725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A50ED-7A76-42E4-9F4D-84FA58A7870D}" type="slidenum">
              <a:rPr lang="en-US"/>
              <a:pPr/>
              <a:t>17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65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18B588-D21B-4AE4-97EF-97A1688E1900}" type="slidenum">
              <a:rPr lang="en-US"/>
              <a:pPr/>
              <a:t>20</a:t>
            </a:fld>
            <a:endParaRPr lang="en-US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endParaRPr lang="en-US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163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C6D4FF-734A-40AC-A2C4-BD55D4F3D821}" type="slidenum">
              <a:rPr lang="en-US"/>
              <a:pPr/>
              <a:t>21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en-US">
                <a:latin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88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37B0C8-8594-470A-8D57-932A3F9425AD}" type="slidenum">
              <a:rPr lang="en-US"/>
              <a:pPr/>
              <a:t>32</a:t>
            </a:fld>
            <a:endParaRPr lang="en-US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</a:rPr>
              <a:t>See pr5-14.cpp</a:t>
            </a:r>
          </a:p>
        </p:txBody>
      </p:sp>
    </p:spTree>
    <p:extLst>
      <p:ext uri="{BB962C8B-B14F-4D97-AF65-F5344CB8AC3E}">
        <p14:creationId xmlns:p14="http://schemas.microsoft.com/office/powerpoint/2010/main" val="2784445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AF9548-5CD8-47FD-90B3-D649DE8276B0}" type="slidenum">
              <a:rPr lang="en-US"/>
              <a:pPr/>
              <a:t>33</a:t>
            </a:fld>
            <a:endParaRPr 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9517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1 2 3</a:t>
            </a:r>
          </a:p>
          <a:p>
            <a:r>
              <a:rPr lang="en-US" dirty="0"/>
              <a:t>// 2 4 6</a:t>
            </a:r>
          </a:p>
          <a:p>
            <a:r>
              <a:rPr lang="en-US" dirty="0"/>
              <a:t>// 3 6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978EB-682D-4EB6-ADBC-6745186969D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8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0FC32-B7D4-4F22-82C8-FE0A6FB22F3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6C2BE-7BE9-4337-9805-DEE16DC9D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Repetition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Zainab Shahzadi</a:t>
            </a:r>
            <a:endParaRPr lang="en-US" dirty="0"/>
          </a:p>
        </p:txBody>
      </p:sp>
    </p:spTree>
  </p:cSld>
  <p:clrMapOvr>
    <a:masterClrMapping/>
  </p:clrMapOvr>
  <p:transition advTm="1501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Is Repetition Needed?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Repetition allows you to efficiently use variables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Can input, add, and average multiple numbers using a limited number of variables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For example, to add five numbers: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Declare a variable for each number, input the numbers and add the variables together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Create a loop that reads a number into a variable and adds it to a variable that contains the sum of the numbers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011A7396-6A08-456C-B050-9A74543B3CDE}" type="slidenum">
              <a:rPr lang="en-US">
                <a:solidFill>
                  <a:srgbClr val="898989"/>
                </a:solidFill>
              </a:rPr>
              <a:pPr eaLnBrk="1" hangingPunct="1"/>
              <a:t>2</a:t>
            </a:fld>
            <a:endParaRPr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44625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Looping (Repetition) Structure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general form of the </a:t>
            </a: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statement is: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	 </a:t>
            </a:r>
            <a:r>
              <a:rPr lang="en-US" sz="2400" dirty="0" smtClean="0">
                <a:latin typeface="Courier New" pitchFamily="49" charset="0"/>
              </a:rPr>
              <a:t>  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latin typeface="Courier New" pitchFamily="49" charset="0"/>
              </a:rPr>
              <a:t>	     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latin typeface="Courier New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while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is a reserved word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Statement can be </a:t>
            </a:r>
            <a:r>
              <a:rPr lang="en-US" b="1" dirty="0" smtClean="0"/>
              <a:t>simple</a:t>
            </a:r>
            <a:r>
              <a:rPr lang="en-US" dirty="0" smtClean="0"/>
              <a:t> or </a:t>
            </a:r>
            <a:r>
              <a:rPr lang="en-US" b="1" dirty="0" smtClean="0"/>
              <a:t>compound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Expression acts as a decision maker and is usually a logical expression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While </a:t>
            </a:r>
            <a:r>
              <a:rPr lang="en-US" dirty="0" smtClean="0"/>
              <a:t>is </a:t>
            </a:r>
            <a:r>
              <a:rPr lang="en-US" dirty="0"/>
              <a:t>a </a:t>
            </a:r>
            <a:r>
              <a:rPr lang="en-US" dirty="0" smtClean="0">
                <a:solidFill>
                  <a:srgbClr val="FF0000"/>
                </a:solidFill>
              </a:rPr>
              <a:t>pre-test</a:t>
            </a:r>
            <a:r>
              <a:rPr lang="en-US" dirty="0" smtClean="0"/>
              <a:t> loop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Statement is called the body of the loop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parentheses are part of the syntax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dirty="0" smtClean="0"/>
          </a:p>
        </p:txBody>
      </p:sp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4804443F-1D4D-49BD-94F5-C6B32FA5AFD2}" type="slidenum">
              <a:rPr lang="en-US">
                <a:solidFill>
                  <a:srgbClr val="898989"/>
                </a:solidFill>
              </a:rPr>
              <a:pPr eaLnBrk="1" hangingPunct="1"/>
              <a:t>3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615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057400"/>
            <a:ext cx="301625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4917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2DF56728-6508-46B6-A189-A4C065306DEF}" type="slidenum">
              <a:rPr lang="en-US"/>
              <a:pPr/>
              <a:t>4</a:t>
            </a:fld>
            <a:endParaRPr lang="en-US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14600"/>
            <a:ext cx="8229600" cy="1143000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</a:rPr>
              <a:t>while</a:t>
            </a:r>
            <a:r>
              <a:rPr lang="en-US" dirty="0"/>
              <a:t> Loop Flow of Control</a:t>
            </a:r>
          </a:p>
        </p:txBody>
      </p:sp>
    </p:spTree>
    <p:extLst>
      <p:ext uri="{BB962C8B-B14F-4D97-AF65-F5344CB8AC3E}">
        <p14:creationId xmlns:p14="http://schemas.microsoft.com/office/powerpoint/2010/main" val="1294915859"/>
      </p:ext>
    </p:extLst>
  </p:cSld>
  <p:clrMapOvr>
    <a:masterClrMapping/>
  </p:clrMapOvr>
  <p:transition advTm="963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8198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4279365" cy="2181722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u="sng" dirty="0" smtClean="0"/>
              <a:t>Infinite loop</a:t>
            </a:r>
            <a:r>
              <a:rPr lang="en-US" dirty="0" smtClean="0"/>
              <a:t>: continues to execute endlessly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Avoided by including statements in loop body that assure exit condition is eventually </a:t>
            </a:r>
            <a:r>
              <a:rPr lang="en-US" dirty="0" smtClean="0">
                <a:latin typeface="Courier New" pitchFamily="49" charset="0"/>
              </a:rPr>
              <a:t>false</a:t>
            </a:r>
            <a:endParaRPr lang="en-US" dirty="0" smtClean="0"/>
          </a:p>
        </p:txBody>
      </p:sp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862A5161-F614-414B-8422-D40A69CD132B}" type="slidenum">
              <a:rPr lang="en-US">
                <a:solidFill>
                  <a:srgbClr val="898989"/>
                </a:solidFill>
              </a:rPr>
              <a:pPr eaLnBrk="1" hangingPunct="1"/>
              <a:t>5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7174" name="Picture 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2" r="22941"/>
          <a:stretch/>
        </p:blipFill>
        <p:spPr bwMode="auto">
          <a:xfrm>
            <a:off x="1174855" y="3869648"/>
            <a:ext cx="34290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3"/>
          <p:cNvGrpSpPr/>
          <p:nvPr/>
        </p:nvGrpSpPr>
        <p:grpSpPr>
          <a:xfrm>
            <a:off x="5562600" y="1541462"/>
            <a:ext cx="3124200" cy="4325938"/>
            <a:chOff x="3276600" y="2074863"/>
            <a:chExt cx="2895600" cy="3868738"/>
          </a:xfrm>
        </p:grpSpPr>
        <p:sp>
          <p:nvSpPr>
            <p:cNvPr id="45" name="AutoShape 5"/>
            <p:cNvSpPr>
              <a:spLocks noChangeAspect="1" noChangeArrowheads="1"/>
            </p:cNvSpPr>
            <p:nvPr/>
          </p:nvSpPr>
          <p:spPr bwMode="auto">
            <a:xfrm>
              <a:off x="3276600" y="2074863"/>
              <a:ext cx="2895600" cy="3868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809628" y="3655611"/>
              <a:ext cx="1752971" cy="946552"/>
              <a:chOff x="5176" y="4807"/>
              <a:chExt cx="1850" cy="1322"/>
            </a:xfrm>
          </p:grpSpPr>
          <p:sp>
            <p:nvSpPr>
              <p:cNvPr id="66" name="Text Box 9"/>
              <p:cNvSpPr txBox="1">
                <a:spLocks noChangeArrowheads="1"/>
              </p:cNvSpPr>
              <p:nvPr/>
            </p:nvSpPr>
            <p:spPr bwMode="auto">
              <a:xfrm>
                <a:off x="5659" y="4807"/>
                <a:ext cx="100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993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333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666633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lang="en-US" sz="1400" b="1" baseline="0" dirty="0">
                    <a:solidFill>
                      <a:srgbClr val="3333CC"/>
                    </a:solidFill>
                  </a:rPr>
                  <a:t>  </a:t>
                </a:r>
                <a:r>
                  <a:rPr lang="en-US" sz="1400" b="1" baseline="0" dirty="0">
                    <a:solidFill>
                      <a:srgbClr val="0000FF"/>
                    </a:solidFill>
                  </a:rPr>
                  <a:t>true</a:t>
                </a:r>
                <a:endParaRPr lang="en-US" b="1" baseline="0" dirty="0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5176" y="5378"/>
                <a:ext cx="1850" cy="751"/>
                <a:chOff x="5176" y="5378"/>
                <a:chExt cx="1850" cy="751"/>
              </a:xfrm>
            </p:grpSpPr>
            <p:sp>
              <p:nvSpPr>
                <p:cNvPr id="6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5370" y="5378"/>
                  <a:ext cx="1467" cy="751"/>
                </a:xfrm>
                <a:prstGeom prst="rect">
                  <a:avLst/>
                </a:prstGeom>
                <a:noFill/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33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666633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sz="1200" b="1" baseline="0">
                      <a:solidFill>
                        <a:srgbClr val="3333CC"/>
                      </a:solidFill>
                    </a:rPr>
                    <a:t> </a:t>
                  </a:r>
                </a:p>
                <a:p>
                  <a:endParaRPr lang="en-US" b="1" baseline="0"/>
                </a:p>
              </p:txBody>
            </p:sp>
            <p:sp>
              <p:nvSpPr>
                <p:cNvPr id="69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176" y="5533"/>
                  <a:ext cx="1850" cy="4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3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3333CC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666633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sz="1400" b="1" baseline="0" dirty="0">
                      <a:solidFill>
                        <a:srgbClr val="0000FF"/>
                      </a:solidFill>
                    </a:rPr>
                    <a:t>statement(s)</a:t>
                  </a:r>
                  <a:endParaRPr lang="en-US" b="1" baseline="0" dirty="0"/>
                </a:p>
              </p:txBody>
            </p:sp>
          </p:grpSp>
        </p:grp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3352800" y="2074863"/>
              <a:ext cx="2667000" cy="3868737"/>
              <a:chOff x="4620" y="2602"/>
              <a:chExt cx="3251" cy="5399"/>
            </a:xfrm>
          </p:grpSpPr>
          <p:sp>
            <p:nvSpPr>
              <p:cNvPr id="49" name="Text Box 14"/>
              <p:cNvSpPr txBox="1">
                <a:spLocks noChangeArrowheads="1"/>
              </p:cNvSpPr>
              <p:nvPr/>
            </p:nvSpPr>
            <p:spPr bwMode="auto">
              <a:xfrm>
                <a:off x="6870" y="3528"/>
                <a:ext cx="100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993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333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666633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lang="en-US" sz="1400" b="1" baseline="0">
                    <a:solidFill>
                      <a:srgbClr val="0000FF"/>
                    </a:solidFill>
                  </a:rPr>
                  <a:t>false</a:t>
                </a:r>
                <a:endParaRPr lang="en-US" b="1" baseline="0"/>
              </a:p>
            </p:txBody>
          </p:sp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4620" y="2602"/>
                <a:ext cx="3151" cy="5399"/>
                <a:chOff x="4620" y="2602"/>
                <a:chExt cx="3151" cy="5399"/>
              </a:xfrm>
            </p:grpSpPr>
            <p:sp>
              <p:nvSpPr>
                <p:cNvPr id="51" name="Line 16"/>
                <p:cNvSpPr>
                  <a:spLocks noChangeShapeType="1"/>
                </p:cNvSpPr>
                <p:nvPr/>
              </p:nvSpPr>
              <p:spPr bwMode="auto">
                <a:xfrm>
                  <a:off x="6120" y="4761"/>
                  <a:ext cx="1" cy="617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666633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grpSp>
              <p:nvGrpSpPr>
                <p:cNvPr id="8" name="Group 17"/>
                <p:cNvGrpSpPr>
                  <a:grpSpLocks/>
                </p:cNvGrpSpPr>
                <p:nvPr/>
              </p:nvGrpSpPr>
              <p:grpSpPr bwMode="auto">
                <a:xfrm>
                  <a:off x="4620" y="2602"/>
                  <a:ext cx="3151" cy="5399"/>
                  <a:chOff x="4620" y="2602"/>
                  <a:chExt cx="3151" cy="5399"/>
                </a:xfrm>
              </p:grpSpPr>
              <p:sp>
                <p:nvSpPr>
                  <p:cNvPr id="53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6120" y="2602"/>
                    <a:ext cx="1" cy="617"/>
                  </a:xfrm>
                  <a:prstGeom prst="line">
                    <a:avLst/>
                  </a:prstGeom>
                  <a:noFill/>
                  <a:ln w="9525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666633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9" name="Group 19"/>
                  <p:cNvGrpSpPr>
                    <a:grpSpLocks/>
                  </p:cNvGrpSpPr>
                  <p:nvPr/>
                </p:nvGrpSpPr>
                <p:grpSpPr bwMode="auto">
                  <a:xfrm>
                    <a:off x="5220" y="3219"/>
                    <a:ext cx="1810" cy="1535"/>
                    <a:chOff x="5220" y="3219"/>
                    <a:chExt cx="1810" cy="1535"/>
                  </a:xfrm>
                </p:grpSpPr>
                <p:sp>
                  <p:nvSpPr>
                    <p:cNvPr id="64" name="AutoShape 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20" y="3219"/>
                      <a:ext cx="1810" cy="1535"/>
                    </a:xfrm>
                    <a:prstGeom prst="flowChartDecision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339933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666633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449" y="3747"/>
                      <a:ext cx="1400" cy="5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339933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3333CC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666633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rgbClr val="0000FF"/>
                          </a:solidFill>
                        </a:rPr>
                        <a:t>condition</a:t>
                      </a:r>
                      <a:endParaRPr lang="en-US" b="1" baseline="0" dirty="0"/>
                    </a:p>
                  </p:txBody>
                </p:sp>
              </p:grpSp>
              <p:grpSp>
                <p:nvGrpSpPr>
                  <p:cNvPr id="10" name="Group 22"/>
                  <p:cNvGrpSpPr>
                    <a:grpSpLocks/>
                  </p:cNvGrpSpPr>
                  <p:nvPr/>
                </p:nvGrpSpPr>
                <p:grpSpPr bwMode="auto">
                  <a:xfrm>
                    <a:off x="4620" y="2910"/>
                    <a:ext cx="1501" cy="3857"/>
                    <a:chOff x="4620" y="2910"/>
                    <a:chExt cx="1501" cy="3857"/>
                  </a:xfrm>
                </p:grpSpPr>
                <p:sp>
                  <p:nvSpPr>
                    <p:cNvPr id="60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120" y="6150"/>
                      <a:ext cx="1" cy="6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666633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" name="Line 2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620" y="6767"/>
                      <a:ext cx="15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" name="Line 2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620" y="2910"/>
                      <a:ext cx="0" cy="385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" name="Line 2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20" y="2910"/>
                      <a:ext cx="15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1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6120" y="3990"/>
                    <a:ext cx="1651" cy="4011"/>
                    <a:chOff x="6120" y="3990"/>
                    <a:chExt cx="1651" cy="4011"/>
                  </a:xfrm>
                </p:grpSpPr>
                <p:sp>
                  <p:nvSpPr>
                    <p:cNvPr id="57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020" y="3990"/>
                      <a:ext cx="75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770" y="3990"/>
                      <a:ext cx="1" cy="3085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120" y="7075"/>
                      <a:ext cx="0" cy="92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48" name="Line 31"/>
            <p:cNvSpPr>
              <a:spLocks noChangeShapeType="1"/>
            </p:cNvSpPr>
            <p:nvPr/>
          </p:nvSpPr>
          <p:spPr bwMode="auto">
            <a:xfrm flipH="1">
              <a:off x="4572000" y="5257800"/>
              <a:ext cx="137160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advTm="3919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921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EC9E750E-1364-46A5-ACB8-E79D3B7E4900}" type="slidenum">
              <a:rPr lang="en-US">
                <a:solidFill>
                  <a:srgbClr val="898989"/>
                </a:solidFill>
              </a:rPr>
              <a:pPr eaLnBrk="1" hangingPunct="1"/>
              <a:t>6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819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28850"/>
            <a:ext cx="6975475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15259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Designing </a:t>
            </a:r>
            <a:r>
              <a:rPr lang="en-US" smtClean="0">
                <a:latin typeface="Courier New" panose="02070309020205020404" pitchFamily="49" charset="0"/>
              </a:rPr>
              <a:t>while</a:t>
            </a:r>
            <a:r>
              <a:rPr lang="en-US" smtClean="0"/>
              <a:t> Loops</a:t>
            </a:r>
          </a:p>
        </p:txBody>
      </p:sp>
      <p:sp>
        <p:nvSpPr>
          <p:cNvPr id="1024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BF4B884B-E0B3-49AF-9275-1EEEBB0CD59E}" type="slidenum">
              <a:rPr lang="en-US">
                <a:solidFill>
                  <a:srgbClr val="898989"/>
                </a:solidFill>
              </a:rPr>
              <a:pPr eaLnBrk="1" hangingPunct="1"/>
              <a:t>7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71713"/>
            <a:ext cx="7010400" cy="351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63713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Case 1: Counter-Controlled </a:t>
            </a: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7772400" cy="1447800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If you know exactly how many pieces of data need to be read,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atin typeface="Courier New" pitchFamily="49" charset="0"/>
              </a:rPr>
              <a:t>while</a:t>
            </a:r>
            <a:r>
              <a:rPr lang="en-US" b="1" dirty="0" smtClean="0"/>
              <a:t> </a:t>
            </a:r>
            <a:r>
              <a:rPr lang="en-US" dirty="0" smtClean="0"/>
              <a:t>loop becomes a counter-controlled loop with </a:t>
            </a:r>
            <a:r>
              <a:rPr lang="en-US" b="1" dirty="0" smtClean="0"/>
              <a:t>loop control variable (LCV)</a:t>
            </a:r>
            <a:endParaRPr lang="en-US" sz="2200" b="1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000" dirty="0" smtClean="0"/>
          </a:p>
        </p:txBody>
      </p:sp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0CD00C0A-F497-4F8F-966A-3F3458BBB9C5}" type="slidenum">
              <a:rPr lang="en-US">
                <a:solidFill>
                  <a:srgbClr val="898989"/>
                </a:solidFill>
              </a:rPr>
              <a:pPr eaLnBrk="1" hangingPunct="1"/>
              <a:t>8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1024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038600"/>
            <a:ext cx="589597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73882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76DB7DEF-A172-4E93-8347-8F2CD21C72DB}" type="slidenum">
              <a:rPr lang="en-US"/>
              <a:pPr/>
              <a:t>9</a:t>
            </a:fld>
            <a:endParaRPr lang="en-US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1143000"/>
          </a:xfrm>
        </p:spPr>
        <p:txBody>
          <a:bodyPr/>
          <a:lstStyle/>
          <a:p>
            <a:r>
              <a:rPr lang="en-US"/>
              <a:t>User Controls the Loop Example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153400" cy="43434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, limit;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"Table of squares\n";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"How high to go? ";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cin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&gt;&gt; limit;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"\n\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nnumber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square\n";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= 1;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while (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&lt;= limit)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{ 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setw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(5) &lt;&lt;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setw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(6)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	      &lt;&lt;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*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endl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++;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745743"/>
      </p:ext>
    </p:extLst>
  </p:cSld>
  <p:clrMapOvr>
    <a:masterClrMapping/>
  </p:clrMapOvr>
  <p:transition advTm="8334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Case 2: Sentinel-Controlled </a:t>
            </a: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77724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Sentinel variable is tested in the condition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Loop ends when sentinel is encountered</a:t>
            </a:r>
          </a:p>
        </p:txBody>
      </p:sp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DACBBD63-1C1B-457F-8EE5-ACBAA0BAF523}" type="slidenum">
              <a:rPr lang="en-US">
                <a:solidFill>
                  <a:srgbClr val="898989"/>
                </a:solidFill>
              </a:rPr>
              <a:pPr eaLnBrk="1" hangingPunct="1"/>
              <a:t>10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11270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931" y="3352800"/>
            <a:ext cx="6688137" cy="225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92087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5ED3CF05-83BA-497C-98B6-A5D0F3B37CB7}" type="slidenum">
              <a:rPr lang="en-US"/>
              <a:pPr/>
              <a:t>11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Sentinel Example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17638"/>
            <a:ext cx="8153400" cy="4678362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total = 0;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"Enter points earned "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   &lt;&lt; "(or -1 to quit): ";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cin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&gt;&gt; points;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while (points != -1) // </a:t>
            </a:r>
            <a:r>
              <a:rPr lang="en-US" sz="2000" b="1" dirty="0">
                <a:solidFill>
                  <a:srgbClr val="3D8963"/>
                </a:solidFill>
                <a:latin typeface="Courier New" panose="02070309020205020404" pitchFamily="49" charset="0"/>
              </a:rPr>
              <a:t>-1 is the sentinel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 total += points; 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"Enter points earned: ";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 </a:t>
            </a:r>
            <a:r>
              <a:rPr lang="en-US" sz="2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cin</a:t>
            </a: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&gt;&gt; points;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dirty="0">
                <a:solidFill>
                  <a:srgbClr val="3D8963"/>
                </a:solidFill>
                <a:latin typeface="Courier New" panose="02070309020205020404" pitchFamily="49" charset="0"/>
              </a:rPr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2840314237"/>
      </p:ext>
    </p:extLst>
  </p:cSld>
  <p:clrMapOvr>
    <a:masterClrMapping/>
  </p:clrMapOvr>
  <p:transition advTm="71007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Case 3: Flag-Controlled </a:t>
            </a:r>
            <a:r>
              <a:rPr lang="en-US" smtClean="0">
                <a:latin typeface="Courier New" pitchFamily="49" charset="0"/>
              </a:rPr>
              <a:t>while</a:t>
            </a:r>
            <a:r>
              <a:rPr lang="en-US" smtClean="0"/>
              <a:t> Loops</a:t>
            </a:r>
          </a:p>
        </p:txBody>
      </p:sp>
      <p:sp>
        <p:nvSpPr>
          <p:cNvPr id="1331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flag-controlled </a:t>
            </a:r>
            <a:r>
              <a:rPr lang="en-US" smtClean="0">
                <a:latin typeface="Courier New" panose="02070309020205020404" pitchFamily="49" charset="0"/>
              </a:rPr>
              <a:t>while</a:t>
            </a:r>
            <a:r>
              <a:rPr lang="en-US" smtClean="0"/>
              <a:t> loop uses a </a:t>
            </a:r>
            <a:r>
              <a:rPr lang="en-US" smtClean="0">
                <a:latin typeface="Courier New" panose="02070309020205020404" pitchFamily="49" charset="0"/>
              </a:rPr>
              <a:t>bool</a:t>
            </a:r>
            <a:r>
              <a:rPr lang="en-US" smtClean="0"/>
              <a:t> variable to control the loop</a:t>
            </a:r>
          </a:p>
          <a:p>
            <a:pPr eaLnBrk="1" hangingPunct="1"/>
            <a:r>
              <a:rPr lang="en-US" smtClean="0"/>
              <a:t>The flag-controlled </a:t>
            </a:r>
            <a:r>
              <a:rPr lang="en-US" smtClean="0">
                <a:latin typeface="Courier New" panose="02070309020205020404" pitchFamily="49" charset="0"/>
              </a:rPr>
              <a:t>while</a:t>
            </a:r>
            <a:r>
              <a:rPr lang="en-US" smtClean="0"/>
              <a:t> loop takes the form:</a:t>
            </a:r>
          </a:p>
        </p:txBody>
      </p:sp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F4532064-0070-4C91-8261-AC46AD4AF24E}" type="slidenum">
              <a:rPr lang="en-US">
                <a:solidFill>
                  <a:srgbClr val="898989"/>
                </a:solidFill>
              </a:rPr>
              <a:pPr eaLnBrk="1" hangingPunct="1"/>
              <a:t>12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1331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3783013"/>
            <a:ext cx="5894387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70865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More on Expressions in </a:t>
            </a:r>
            <a:r>
              <a:rPr lang="en-US" smtClean="0">
                <a:latin typeface="Courier New" pitchFamily="49" charset="0"/>
              </a:rPr>
              <a:t>while </a:t>
            </a:r>
            <a:r>
              <a:rPr lang="en-US" smtClean="0"/>
              <a:t>Statements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expression in a </a:t>
            </a:r>
            <a:r>
              <a:rPr lang="en-US" smtClean="0">
                <a:latin typeface="Courier New" panose="02070309020205020404" pitchFamily="49" charset="0"/>
              </a:rPr>
              <a:t>while</a:t>
            </a:r>
            <a:r>
              <a:rPr lang="en-US" smtClean="0"/>
              <a:t> statement can be complex</a:t>
            </a:r>
          </a:p>
          <a:p>
            <a:pPr lvl="1" eaLnBrk="1" hangingPunct="1"/>
            <a:r>
              <a:rPr lang="en-US" smtClean="0"/>
              <a:t>For example:</a:t>
            </a:r>
          </a:p>
          <a:p>
            <a:pPr lvl="2" eaLnBrk="1" hangingPunct="1">
              <a:buFontTx/>
              <a:buNone/>
            </a:pPr>
            <a:r>
              <a:rPr lang="en-US" sz="2100" smtClean="0">
                <a:latin typeface="Courier New" panose="02070309020205020404" pitchFamily="49" charset="0"/>
              </a:rPr>
              <a:t>while ((noOfGuesses &lt; 5) &amp;&amp; (!isGuessed))</a:t>
            </a:r>
          </a:p>
          <a:p>
            <a:pPr lvl="2" eaLnBrk="1" hangingPunct="1">
              <a:buFontTx/>
              <a:buNone/>
            </a:pPr>
            <a:r>
              <a:rPr lang="en-US" sz="2100" smtClean="0">
                <a:latin typeface="Courier New" panose="02070309020205020404" pitchFamily="49" charset="0"/>
              </a:rPr>
              <a:t>{</a:t>
            </a:r>
          </a:p>
          <a:p>
            <a:pPr lvl="3" eaLnBrk="1" hangingPunct="1">
              <a:buFontTx/>
              <a:buNone/>
            </a:pPr>
            <a:r>
              <a:rPr lang="en-US" sz="1800" smtClean="0">
                <a:latin typeface="Courier New" panose="02070309020205020404" pitchFamily="49" charset="0"/>
              </a:rPr>
              <a:t>…</a:t>
            </a:r>
          </a:p>
          <a:p>
            <a:pPr lvl="2" eaLnBrk="1" hangingPunct="1">
              <a:buFontTx/>
              <a:buNone/>
            </a:pPr>
            <a:r>
              <a:rPr lang="en-US" sz="2100" smtClean="0"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smtClean="0"/>
          </a:p>
        </p:txBody>
      </p:sp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01756521-396F-4D40-8460-99A5F24EC48B}" type="slidenum">
              <a:rPr lang="en-US">
                <a:solidFill>
                  <a:srgbClr val="898989"/>
                </a:solidFill>
              </a:rPr>
              <a:pPr eaLnBrk="1" hangingPunct="1"/>
              <a:t>13</a:t>
            </a:fld>
            <a:endParaRPr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44595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for</a:t>
            </a:r>
            <a:r>
              <a:rPr lang="en-US" smtClean="0"/>
              <a:t> Looping (Repetition) Structure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7772400" cy="45720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90000"/>
              </a:lnSpc>
              <a:spcBef>
                <a:spcPct val="60000"/>
              </a:spcBef>
              <a:spcAft>
                <a:spcPts val="0"/>
              </a:spcAft>
              <a:defRPr/>
            </a:pPr>
            <a:r>
              <a:rPr lang="en-US" smtClean="0"/>
              <a:t>The general form of the </a:t>
            </a:r>
            <a:r>
              <a:rPr lang="en-US" smtClean="0">
                <a:latin typeface="Courier New" pitchFamily="49" charset="0"/>
              </a:rPr>
              <a:t>for</a:t>
            </a:r>
            <a:r>
              <a:rPr lang="en-US" smtClean="0"/>
              <a:t> statement is:</a:t>
            </a:r>
          </a:p>
          <a:p>
            <a:pPr eaLnBrk="1" fontAlgn="auto" hangingPunct="1">
              <a:lnSpc>
                <a:spcPct val="0"/>
              </a:lnSpc>
              <a:spcBef>
                <a:spcPct val="60000"/>
              </a:spcBef>
              <a:spcAft>
                <a:spcPts val="0"/>
              </a:spcAft>
              <a:buFontTx/>
              <a:buNone/>
              <a:defRPr/>
            </a:pPr>
            <a:r>
              <a:rPr lang="en-US" sz="2400" smtClean="0"/>
              <a:t>	  </a:t>
            </a:r>
            <a:endParaRPr lang="en-US" sz="2400" smtClean="0">
              <a:latin typeface="Courier New" pitchFamily="49" charset="0"/>
            </a:endParaRPr>
          </a:p>
          <a:p>
            <a:pPr eaLnBrk="1" fontAlgn="auto" hangingPunct="1">
              <a:lnSpc>
                <a:spcPct val="90000"/>
              </a:lnSpc>
              <a:spcBef>
                <a:spcPct val="60000"/>
              </a:spcBef>
              <a:spcAft>
                <a:spcPts val="0"/>
              </a:spcAft>
              <a:buFontTx/>
              <a:buNone/>
              <a:defRPr/>
            </a:pPr>
            <a:r>
              <a:rPr lang="en-US" sz="2400" smtClean="0">
                <a:latin typeface="Courier New" pitchFamily="49" charset="0"/>
              </a:rPr>
              <a:t>	  </a:t>
            </a:r>
          </a:p>
          <a:p>
            <a:pPr eaLnBrk="1" fontAlgn="auto" hangingPunct="1">
              <a:spcBef>
                <a:spcPct val="60000"/>
              </a:spcBef>
              <a:spcAft>
                <a:spcPts val="0"/>
              </a:spcAft>
              <a:defRPr/>
            </a:pPr>
            <a:r>
              <a:rPr lang="en-US" smtClean="0"/>
              <a:t>The </a:t>
            </a:r>
            <a:r>
              <a:rPr lang="en-US" smtClean="0">
                <a:latin typeface="Courier New" pitchFamily="49" charset="0"/>
              </a:rPr>
              <a:t>initial statement</a:t>
            </a:r>
            <a:r>
              <a:rPr lang="en-US" smtClean="0"/>
              <a:t>, </a:t>
            </a:r>
            <a:r>
              <a:rPr lang="en-US" smtClean="0">
                <a:latin typeface="Courier New" pitchFamily="49" charset="0"/>
              </a:rPr>
              <a:t>loop condition</a:t>
            </a:r>
            <a:r>
              <a:rPr lang="en-US" smtClean="0"/>
              <a:t>, and </a:t>
            </a:r>
            <a:r>
              <a:rPr lang="en-US" smtClean="0">
                <a:latin typeface="Courier New" pitchFamily="49" charset="0"/>
              </a:rPr>
              <a:t>update statement</a:t>
            </a:r>
            <a:r>
              <a:rPr lang="en-US" smtClean="0"/>
              <a:t> are called </a:t>
            </a:r>
            <a:r>
              <a:rPr lang="en-US" smtClean="0">
                <a:latin typeface="Courier New" pitchFamily="49" charset="0"/>
              </a:rPr>
              <a:t>for</a:t>
            </a:r>
            <a:r>
              <a:rPr lang="en-US" smtClean="0"/>
              <a:t> loop control statements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>
                <a:latin typeface="Courier New" pitchFamily="49" charset="0"/>
              </a:rPr>
              <a:t>initial statement</a:t>
            </a:r>
            <a:r>
              <a:rPr lang="en-US" smtClean="0"/>
              <a:t> usually initializes a variable (called the </a:t>
            </a:r>
            <a:r>
              <a:rPr lang="en-US" smtClean="0">
                <a:latin typeface="Courier New" pitchFamily="49" charset="0"/>
              </a:rPr>
              <a:t>for</a:t>
            </a:r>
            <a:r>
              <a:rPr lang="en-US" smtClean="0"/>
              <a:t> </a:t>
            </a:r>
            <a:r>
              <a:rPr lang="en-US" b="1" smtClean="0"/>
              <a:t>loop control</a:t>
            </a:r>
            <a:r>
              <a:rPr lang="en-US" smtClean="0"/>
              <a:t>, or </a:t>
            </a:r>
            <a:r>
              <a:rPr lang="en-US" smtClean="0">
                <a:latin typeface="Courier New" pitchFamily="49" charset="0"/>
              </a:rPr>
              <a:t>for</a:t>
            </a:r>
            <a:r>
              <a:rPr lang="en-US" smtClean="0"/>
              <a:t> </a:t>
            </a:r>
            <a:r>
              <a:rPr lang="en-US" b="1" smtClean="0"/>
              <a:t>indexed</a:t>
            </a:r>
            <a:r>
              <a:rPr lang="en-US" smtClean="0"/>
              <a:t>, </a:t>
            </a:r>
            <a:r>
              <a:rPr lang="en-US" b="1" smtClean="0"/>
              <a:t>variable</a:t>
            </a:r>
            <a:r>
              <a:rPr lang="en-US" smtClean="0"/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In C++, </a:t>
            </a:r>
            <a:r>
              <a:rPr lang="en-US" smtClean="0">
                <a:latin typeface="Courier New" pitchFamily="49" charset="0"/>
              </a:rPr>
              <a:t>for</a:t>
            </a:r>
            <a:r>
              <a:rPr lang="en-US" smtClean="0"/>
              <a:t> is a reserved word</a:t>
            </a:r>
          </a:p>
        </p:txBody>
      </p:sp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E5D502F8-299A-401F-AE99-4F5CF5EC3FCB}" type="slidenum">
              <a:rPr lang="en-US">
                <a:solidFill>
                  <a:srgbClr val="898989"/>
                </a:solidFill>
              </a:rPr>
              <a:pPr eaLnBrk="1" hangingPunct="1"/>
              <a:t>14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072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2401888"/>
            <a:ext cx="7277100" cy="72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2398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4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for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3277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A19EA602-0A78-4437-A587-424264B6FE11}" type="slidenum">
              <a:rPr lang="en-US">
                <a:solidFill>
                  <a:srgbClr val="898989"/>
                </a:solidFill>
              </a:rPr>
              <a:pPr eaLnBrk="1" hangingPunct="1"/>
              <a:t>15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13" y="2100263"/>
            <a:ext cx="7011987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6861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B27E7317-84E7-4B6B-B7EE-33ED3FECB5C8}" type="slidenum">
              <a:rPr lang="en-US"/>
              <a:pPr/>
              <a:t>16</a:t>
            </a:fld>
            <a:endParaRPr lang="en-US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for</a:t>
            </a:r>
            <a:r>
              <a:rPr lang="en-US"/>
              <a:t> Loop Example</a:t>
            </a:r>
            <a:endParaRPr lang="en-US">
              <a:latin typeface="Courier New" panose="02070309020205020404" pitchFamily="49" charset="0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8915400" cy="31242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sz="2800" b="1">
                <a:solidFill>
                  <a:srgbClr val="3D8963"/>
                </a:solidFill>
                <a:latin typeface="Courier New" panose="02070309020205020404" pitchFamily="49" charset="0"/>
              </a:rPr>
              <a:t>int sum = 0, num;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b="1">
                <a:solidFill>
                  <a:srgbClr val="3D8963"/>
                </a:solidFill>
                <a:latin typeface="Courier New" panose="02070309020205020404" pitchFamily="49" charset="0"/>
              </a:rPr>
              <a:t>for (num = 1; num &lt;= 10; num++)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sum += num;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b="1">
                <a:solidFill>
                  <a:srgbClr val="3D8963"/>
                </a:solidFill>
                <a:latin typeface="Courier New" panose="02070309020205020404" pitchFamily="49" charset="0"/>
              </a:rPr>
              <a:t>cout &lt;&lt; "Sum of numbers 1 – 10 is "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   &lt;&lt; sum &lt;&lt; endl;</a:t>
            </a:r>
            <a:endParaRPr lang="en-US" sz="2400" b="1">
              <a:solidFill>
                <a:srgbClr val="3D8963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332673"/>
      </p:ext>
    </p:extLst>
  </p:cSld>
  <p:clrMapOvr>
    <a:masterClrMapping/>
  </p:clrMapOvr>
  <p:transition advTm="32465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960109FF-3699-4534-B89B-DC493389A468}" type="slidenum">
              <a:rPr lang="en-US"/>
              <a:pPr/>
              <a:t>17</a:t>
            </a:fld>
            <a:endParaRPr lang="en-US"/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for</a:t>
            </a:r>
            <a:r>
              <a:rPr lang="en-US"/>
              <a:t> Loop Notes</a:t>
            </a:r>
            <a:endParaRPr lang="en-US">
              <a:latin typeface="Courier New" panose="02070309020205020404" pitchFamily="49" charset="0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8534400" cy="4038600"/>
          </a:xfrm>
        </p:spPr>
        <p:txBody>
          <a:bodyPr/>
          <a:lstStyle/>
          <a:p>
            <a:pPr>
              <a:lnSpc>
                <a:spcPct val="85000"/>
              </a:lnSpc>
              <a:buFontTx/>
              <a:buChar char="•"/>
            </a:pPr>
            <a:r>
              <a:rPr lang="en-US" dirty="0"/>
              <a:t>If </a:t>
            </a:r>
            <a:r>
              <a:rPr lang="en-US" b="1" i="1" dirty="0">
                <a:latin typeface="Courier New" panose="02070309020205020404" pitchFamily="49" charset="0"/>
              </a:rPr>
              <a:t>test</a:t>
            </a:r>
            <a:r>
              <a:rPr lang="en-US" dirty="0"/>
              <a:t> is false the first time it is evaluated, the body of the loop will not be executed</a:t>
            </a:r>
          </a:p>
          <a:p>
            <a:pPr>
              <a:lnSpc>
                <a:spcPct val="85000"/>
              </a:lnSpc>
              <a:buFontTx/>
              <a:buChar char="•"/>
            </a:pPr>
            <a:r>
              <a:rPr lang="en-US" dirty="0"/>
              <a:t>The update expression can increment or decrement by any amount</a:t>
            </a:r>
          </a:p>
          <a:p>
            <a:pPr>
              <a:lnSpc>
                <a:spcPct val="85000"/>
              </a:lnSpc>
              <a:buFontTx/>
              <a:buChar char="•"/>
            </a:pPr>
            <a:r>
              <a:rPr lang="en-US" dirty="0"/>
              <a:t>Variables used in the initialization section should not be modified in the body of the loop</a:t>
            </a:r>
          </a:p>
        </p:txBody>
      </p:sp>
    </p:spTree>
    <p:extLst>
      <p:ext uri="{BB962C8B-B14F-4D97-AF65-F5344CB8AC3E}">
        <p14:creationId xmlns:p14="http://schemas.microsoft.com/office/powerpoint/2010/main" val="2659362815"/>
      </p:ext>
    </p:extLst>
  </p:cSld>
  <p:clrMapOvr>
    <a:masterClrMapping/>
  </p:clrMapOvr>
  <p:transition advTm="3828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9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for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3379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13A28203-FE0E-4150-8121-9FA10441332A}" type="slidenum">
              <a:rPr lang="en-US">
                <a:solidFill>
                  <a:srgbClr val="898989"/>
                </a:solidFill>
              </a:rPr>
              <a:pPr eaLnBrk="1" hangingPunct="1"/>
              <a:t>18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2773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3999"/>
            <a:ext cx="8995550" cy="419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3088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for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7772400" cy="45720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C++ allows you to use fractional values for loop control variables of the </a:t>
            </a:r>
            <a:r>
              <a:rPr lang="en-US" dirty="0" smtClean="0">
                <a:solidFill>
                  <a:srgbClr val="3333FF"/>
                </a:solidFill>
                <a:latin typeface="Courier New" pitchFamily="49" charset="0"/>
              </a:rPr>
              <a:t>double</a:t>
            </a:r>
            <a:r>
              <a:rPr lang="en-US" dirty="0" smtClean="0"/>
              <a:t> type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Results may differ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following is a semantic error: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following is a legal </a:t>
            </a:r>
            <a:r>
              <a:rPr lang="en-US" dirty="0" smtClean="0">
                <a:solidFill>
                  <a:srgbClr val="3333FF"/>
                </a:solidFill>
                <a:latin typeface="Courier New" pitchFamily="49" charset="0"/>
              </a:rPr>
              <a:t>for</a:t>
            </a:r>
            <a:r>
              <a:rPr lang="en-US" dirty="0" smtClean="0"/>
              <a:t> loop:</a:t>
            </a:r>
          </a:p>
          <a:p>
            <a:pPr lvl="1" eaLnBrk="1" fontAlgn="auto" hangingPunct="1">
              <a:lnSpc>
                <a:spcPct val="7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 smtClean="0">
                <a:solidFill>
                  <a:srgbClr val="3333FF"/>
                </a:solidFill>
                <a:latin typeface="Courier New" pitchFamily="49" charset="0"/>
              </a:rPr>
              <a:t>	for</a:t>
            </a:r>
            <a:r>
              <a:rPr lang="en-US" sz="2000" dirty="0" smtClean="0">
                <a:latin typeface="Courier New" pitchFamily="49" charset="0"/>
              </a:rPr>
              <a:t> (;;)</a:t>
            </a:r>
          </a:p>
          <a:p>
            <a:pPr lvl="1" eaLnBrk="1" fontAlgn="auto" hangingPunct="1">
              <a:lnSpc>
                <a:spcPct val="7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 smtClean="0">
                <a:latin typeface="Courier New" pitchFamily="49" charset="0"/>
              </a:rPr>
              <a:t>      </a:t>
            </a:r>
            <a:r>
              <a:rPr lang="en-US" sz="2000" dirty="0" err="1" smtClean="0">
                <a:latin typeface="Courier New" pitchFamily="49" charset="0"/>
              </a:rPr>
              <a:t>cout</a:t>
            </a:r>
            <a:r>
              <a:rPr lang="en-US" sz="2000" dirty="0" smtClean="0">
                <a:latin typeface="Courier New" pitchFamily="49" charset="0"/>
              </a:rPr>
              <a:t> &lt;&lt; "Hello" &lt;&lt; </a:t>
            </a:r>
            <a:r>
              <a:rPr lang="en-US" sz="2000" dirty="0" err="1" smtClean="0">
                <a:latin typeface="Courier New" pitchFamily="49" charset="0"/>
              </a:rPr>
              <a:t>endl</a:t>
            </a:r>
            <a:r>
              <a:rPr lang="en-US" sz="2000" dirty="0" smtClean="0">
                <a:latin typeface="Courier New" pitchFamily="49" charset="0"/>
              </a:rPr>
              <a:t>;</a:t>
            </a:r>
          </a:p>
        </p:txBody>
      </p:sp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5B1BA32C-1110-4C1C-9CB4-DAED5A3B960A}" type="slidenum">
              <a:rPr lang="en-US">
                <a:solidFill>
                  <a:srgbClr val="898989"/>
                </a:solidFill>
              </a:rPr>
              <a:pPr eaLnBrk="1" hangingPunct="1"/>
              <a:t>19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3798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676650"/>
            <a:ext cx="50292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42451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892D4168-EDAA-4AC0-B7F0-D62D61C1A4F6}" type="slidenum">
              <a:rPr lang="en-US"/>
              <a:pPr/>
              <a:t>20</a:t>
            </a:fld>
            <a:endParaRPr lang="en-US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for</a:t>
            </a:r>
            <a:r>
              <a:rPr lang="en-US" b="1"/>
              <a:t> </a:t>
            </a:r>
            <a:r>
              <a:rPr lang="en-US"/>
              <a:t>Loop Modifications</a:t>
            </a:r>
            <a:endParaRPr lang="en-US">
              <a:latin typeface="Courier New" panose="02070309020205020404" pitchFamily="49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915400" cy="4267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/>
              <a:t>Can define variables in initialization code</a:t>
            </a:r>
          </a:p>
          <a:p>
            <a:pPr lvl="1">
              <a:lnSpc>
                <a:spcPct val="90000"/>
              </a:lnSpc>
            </a:pPr>
            <a:r>
              <a:rPr lang="en-US"/>
              <a:t>Their scope is the </a:t>
            </a:r>
            <a:r>
              <a:rPr lang="en-US" b="1">
                <a:latin typeface="Courier New" panose="02070309020205020404" pitchFamily="49" charset="0"/>
              </a:rPr>
              <a:t>for</a:t>
            </a:r>
            <a:r>
              <a:rPr lang="en-US"/>
              <a:t> loop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/>
              <a:t>Initialization code, test, or update code can contain more than one statement</a:t>
            </a:r>
          </a:p>
          <a:p>
            <a:pPr lvl="1">
              <a:lnSpc>
                <a:spcPct val="90000"/>
              </a:lnSpc>
            </a:pPr>
            <a:r>
              <a:rPr lang="en-US"/>
              <a:t>Separate statements with commas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/>
              <a:t>Example: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b="1">
                <a:solidFill>
                  <a:srgbClr val="3D8963"/>
                </a:solidFill>
                <a:latin typeface="Courier New" panose="02070309020205020404" pitchFamily="49" charset="0"/>
              </a:rPr>
              <a:t>for (int sum = 0, num = 1; num &lt;= 10; num++)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400" b="1">
                <a:solidFill>
                  <a:srgbClr val="3D8963"/>
                </a:solidFill>
                <a:latin typeface="Courier New" panose="02070309020205020404" pitchFamily="49" charset="0"/>
              </a:rPr>
              <a:t>   sum += num;</a:t>
            </a:r>
            <a:endParaRPr lang="en-US" sz="2400" b="1">
              <a:solidFill>
                <a:srgbClr val="3D8963"/>
              </a:solidFill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50711536"/>
      </p:ext>
    </p:extLst>
  </p:cSld>
  <p:clrMapOvr>
    <a:masterClrMapping/>
  </p:clrMapOvr>
  <p:transition advTm="19736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7905E59F-7B38-43A2-BEB9-A31AAD2193EB}" type="slidenum">
              <a:rPr lang="en-US"/>
              <a:pPr/>
              <a:t>21</a:t>
            </a:fld>
            <a:endParaRPr lang="en-U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10600" cy="992188"/>
          </a:xfrm>
        </p:spPr>
        <p:txBody>
          <a:bodyPr>
            <a:normAutofit fontScale="90000"/>
          </a:bodyPr>
          <a:lstStyle/>
          <a:p>
            <a:r>
              <a:rPr lang="en-US"/>
              <a:t>More </a:t>
            </a:r>
            <a:r>
              <a:rPr lang="en-US" b="1">
                <a:latin typeface="Courier New" panose="02070309020205020404" pitchFamily="49" charset="0"/>
              </a:rPr>
              <a:t>for</a:t>
            </a:r>
            <a:r>
              <a:rPr lang="en-US"/>
              <a:t> Loop Modifications</a:t>
            </a:r>
            <a:r>
              <a:rPr lang="en-US" sz="3200"/>
              <a:t> </a:t>
            </a:r>
            <a:br>
              <a:rPr lang="en-US" sz="3200"/>
            </a:br>
            <a:r>
              <a:rPr lang="en-US" sz="2800"/>
              <a:t>(These are NOT Recommended)</a:t>
            </a:r>
            <a:endParaRPr lang="en-US" sz="2800">
              <a:latin typeface="Courier New" panose="02070309020205020404" pitchFamily="49" charset="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209800"/>
            <a:ext cx="8458200" cy="4114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Char char="•"/>
            </a:pPr>
            <a:r>
              <a:rPr lang="en-US" sz="2800" dirty="0"/>
              <a:t>Can omit </a:t>
            </a:r>
            <a:r>
              <a:rPr lang="en-US" sz="2800" b="1" i="1" dirty="0">
                <a:latin typeface="Courier New" panose="02070309020205020404" pitchFamily="49" charset="0"/>
              </a:rPr>
              <a:t>initialization</a:t>
            </a:r>
            <a:r>
              <a:rPr lang="en-US" sz="2800" dirty="0"/>
              <a:t> if already done</a:t>
            </a:r>
            <a:endParaRPr lang="en-US" sz="28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sum = 0, num = 1;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		for (; num &lt;= 10; num++)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		   sum += num;</a:t>
            </a:r>
            <a:endParaRPr lang="en-US" sz="2400" b="1" dirty="0">
              <a:solidFill>
                <a:srgbClr val="3D8963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800" dirty="0"/>
              <a:t>Can omit </a:t>
            </a:r>
            <a:r>
              <a:rPr lang="en-US" sz="2800" b="1" i="1" dirty="0">
                <a:latin typeface="Courier New" panose="02070309020205020404" pitchFamily="49" charset="0"/>
              </a:rPr>
              <a:t>update</a:t>
            </a:r>
            <a:r>
              <a:rPr lang="en-US" sz="2800" dirty="0"/>
              <a:t> if done in loop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2400" dirty="0">
                <a:latin typeface="Courier New" panose="02070309020205020404" pitchFamily="49" charset="0"/>
              </a:rPr>
              <a:t>		</a:t>
            </a:r>
            <a:r>
              <a:rPr 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for (sum = 0, num = 1; num &lt;= 10;)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		   sum += num++;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800" dirty="0"/>
              <a:t>Can omit </a:t>
            </a:r>
            <a:r>
              <a:rPr lang="en-US" sz="2800" b="1" i="1" dirty="0">
                <a:latin typeface="Courier New" panose="02070309020205020404" pitchFamily="49" charset="0"/>
              </a:rPr>
              <a:t>test</a:t>
            </a:r>
            <a:r>
              <a:rPr lang="en-US" sz="2800" dirty="0"/>
              <a:t> – may cause an infinite loop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3D8963"/>
                </a:solidFill>
              </a:rPr>
              <a:t>	</a:t>
            </a:r>
            <a:r>
              <a:rPr 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for (sum = 0, num = 1; ; num++)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		   sum += num;</a:t>
            </a:r>
          </a:p>
        </p:txBody>
      </p:sp>
    </p:spTree>
    <p:extLst>
      <p:ext uri="{BB962C8B-B14F-4D97-AF65-F5344CB8AC3E}">
        <p14:creationId xmlns:p14="http://schemas.microsoft.com/office/powerpoint/2010/main" val="1818087158"/>
      </p:ext>
    </p:extLst>
  </p:cSld>
  <p:clrMapOvr>
    <a:masterClrMapping/>
  </p:clrMapOvr>
  <p:transition advTm="49725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for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3584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547FC40F-6F46-4E80-9A45-D6C136593FB7}" type="slidenum">
              <a:rPr lang="en-US">
                <a:solidFill>
                  <a:srgbClr val="898989"/>
                </a:solidFill>
              </a:rPr>
              <a:pPr eaLnBrk="1" hangingPunct="1"/>
              <a:t>22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4821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76400"/>
            <a:ext cx="73914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62375"/>
            <a:ext cx="70866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2763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do</a:t>
            </a:r>
            <a:r>
              <a:rPr lang="en-US" dirty="0" smtClean="0"/>
              <a:t>…</a:t>
            </a: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Looping (Repetition) Structure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676400"/>
            <a:ext cx="7772400" cy="472440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General form of a </a:t>
            </a:r>
            <a:r>
              <a:rPr lang="en-US" dirty="0" smtClean="0">
                <a:latin typeface="Courier New" pitchFamily="49" charset="0"/>
              </a:rPr>
              <a:t>do</a:t>
            </a:r>
            <a:r>
              <a:rPr lang="en-US" dirty="0" smtClean="0"/>
              <a:t>...</a:t>
            </a: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:</a:t>
            </a:r>
          </a:p>
          <a:p>
            <a:pPr eaLnBrk="1" fontAlgn="auto" hangingPunct="1">
              <a:lnSpc>
                <a:spcPct val="7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</a:t>
            </a:r>
            <a:endParaRPr lang="en-US" sz="2400" dirty="0" smtClean="0">
              <a:latin typeface="Courier New" pitchFamily="49" charset="0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latin typeface="Courier New" pitchFamily="49" charset="0"/>
              </a:rPr>
              <a:t>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latin typeface="Courier New" pitchFamily="49" charset="0"/>
              </a:rPr>
              <a:t>	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</a:t>
            </a:r>
            <a:r>
              <a:rPr lang="en-US" dirty="0" smtClean="0">
                <a:latin typeface="Courier New" pitchFamily="49" charset="0"/>
              </a:rPr>
              <a:t>statement</a:t>
            </a:r>
            <a:r>
              <a:rPr lang="en-US" dirty="0" smtClean="0"/>
              <a:t> executes first, and then the </a:t>
            </a:r>
            <a:r>
              <a:rPr lang="en-US" dirty="0" smtClean="0">
                <a:latin typeface="Courier New" pitchFamily="49" charset="0"/>
              </a:rPr>
              <a:t>expression</a:t>
            </a:r>
            <a:r>
              <a:rPr lang="en-US" dirty="0" smtClean="0"/>
              <a:t> is evaluated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To avoid an infinite loop, body must contain a statement that makes the expression </a:t>
            </a:r>
            <a:r>
              <a:rPr lang="en-US" dirty="0" smtClean="0">
                <a:latin typeface="Courier New" pitchFamily="49" charset="0"/>
              </a:rPr>
              <a:t>false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</a:t>
            </a:r>
            <a:r>
              <a:rPr lang="en-US" dirty="0" smtClean="0">
                <a:latin typeface="Courier New" pitchFamily="49" charset="0"/>
              </a:rPr>
              <a:t>statement</a:t>
            </a:r>
            <a:r>
              <a:rPr lang="en-US" dirty="0" smtClean="0"/>
              <a:t> can be simple or compound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This loop is </a:t>
            </a:r>
            <a:r>
              <a:rPr lang="en-US" b="1" dirty="0" smtClean="0">
                <a:solidFill>
                  <a:srgbClr val="FF0000"/>
                </a:solidFill>
              </a:rPr>
              <a:t>post-test</a:t>
            </a:r>
            <a:r>
              <a:rPr lang="en-US" dirty="0" smtClean="0"/>
              <a:t> loop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Loop always iterates </a:t>
            </a:r>
            <a:r>
              <a:rPr lang="en-US" b="1" dirty="0" smtClean="0"/>
              <a:t>at least once</a:t>
            </a:r>
          </a:p>
        </p:txBody>
      </p:sp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7CBED3F2-A827-4E1E-97CA-C7F32F12A86B}" type="slidenum">
              <a:rPr lang="en-US">
                <a:solidFill>
                  <a:srgbClr val="898989"/>
                </a:solidFill>
              </a:rPr>
              <a:pPr eaLnBrk="1" hangingPunct="1"/>
              <a:t>23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584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057400"/>
            <a:ext cx="2667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8026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do</a:t>
            </a:r>
            <a:r>
              <a:rPr lang="en-US" dirty="0" smtClean="0"/>
              <a:t>…</a:t>
            </a: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378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13332E35-C50B-4D40-95DE-495D33776B08}" type="slidenum">
              <a:rPr lang="en-US">
                <a:solidFill>
                  <a:srgbClr val="898989"/>
                </a:solidFill>
              </a:rPr>
              <a:pPr eaLnBrk="1" hangingPunct="1"/>
              <a:t>24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6869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057400"/>
            <a:ext cx="701040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422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do</a:t>
            </a:r>
            <a:r>
              <a:rPr lang="en-US" dirty="0" smtClean="0"/>
              <a:t>…</a:t>
            </a: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389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837EFBC5-6ECF-4D8D-950E-488085596535}" type="slidenum">
              <a:rPr lang="en-US">
                <a:solidFill>
                  <a:srgbClr val="898989"/>
                </a:solidFill>
              </a:rPr>
              <a:pPr eaLnBrk="1" hangingPunct="1"/>
              <a:t>25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7893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36" y="1715294"/>
            <a:ext cx="725192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5201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do</a:t>
            </a:r>
            <a:r>
              <a:rPr lang="en-US" dirty="0" smtClean="0"/>
              <a:t>…</a:t>
            </a:r>
            <a:r>
              <a:rPr lang="en-US" dirty="0" smtClean="0">
                <a:latin typeface="Courier New" pitchFamily="49" charset="0"/>
              </a:rPr>
              <a:t>while</a:t>
            </a:r>
            <a:r>
              <a:rPr lang="en-US" dirty="0" smtClean="0"/>
              <a:t> Looping (Repetition) Structure (cont'd.)</a:t>
            </a:r>
          </a:p>
        </p:txBody>
      </p:sp>
      <p:sp>
        <p:nvSpPr>
          <p:cNvPr id="389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A99E9A24-299B-4BB0-A893-D5A47228C0F9}" type="slidenum">
              <a:rPr lang="en-US">
                <a:solidFill>
                  <a:srgbClr val="898989"/>
                </a:solidFill>
              </a:rPr>
              <a:pPr eaLnBrk="1" hangingPunct="1"/>
              <a:t>26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891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7800"/>
            <a:ext cx="6248400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7332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Choosing the Right Looping Structure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All three loops have their place in C++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If you know or can determine in advance the </a:t>
            </a:r>
            <a:r>
              <a:rPr lang="en-US" dirty="0" smtClean="0">
                <a:solidFill>
                  <a:srgbClr val="FF0000"/>
                </a:solidFill>
              </a:rPr>
              <a:t>number of repetitions needed</a:t>
            </a:r>
            <a:r>
              <a:rPr lang="en-US" dirty="0" smtClean="0"/>
              <a:t>, the 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for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loop is the correct choice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If you do not know and</a:t>
            </a:r>
            <a:r>
              <a:rPr lang="en-US" dirty="0" smtClean="0">
                <a:solidFill>
                  <a:srgbClr val="FF0000"/>
                </a:solidFill>
              </a:rPr>
              <a:t> cannot determine in advance</a:t>
            </a:r>
            <a:r>
              <a:rPr lang="en-US" dirty="0" smtClean="0"/>
              <a:t> the number of repetitions needed, and it could be zero, use a 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while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loop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If you do not know and cannot determine in advance the number of repetitions needed, and it is </a:t>
            </a:r>
            <a:r>
              <a:rPr lang="en-US" dirty="0" smtClean="0">
                <a:solidFill>
                  <a:srgbClr val="FF0000"/>
                </a:solidFill>
              </a:rPr>
              <a:t>at least one</a:t>
            </a:r>
            <a:r>
              <a:rPr lang="en-US" dirty="0" smtClean="0"/>
              <a:t>, use a 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do...while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loop</a:t>
            </a:r>
          </a:p>
        </p:txBody>
      </p:sp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DA7796CB-C2A3-4854-A6C8-962776015FFC}" type="slidenum">
              <a:rPr lang="en-US">
                <a:solidFill>
                  <a:srgbClr val="898989"/>
                </a:solidFill>
              </a:rPr>
              <a:pPr eaLnBrk="1" hangingPunct="1"/>
              <a:t>27</a:t>
            </a:fld>
            <a:endParaRPr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22347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smtClean="0">
                <a:latin typeface="Courier New" panose="02070309020205020404" pitchFamily="49" charset="0"/>
              </a:rPr>
              <a:t>break</a:t>
            </a:r>
            <a:r>
              <a:rPr lang="en-US" smtClean="0"/>
              <a:t> and </a:t>
            </a:r>
            <a:r>
              <a:rPr lang="en-US" sz="3800" smtClean="0">
                <a:latin typeface="Courier New" panose="02070309020205020404" pitchFamily="49" charset="0"/>
              </a:rPr>
              <a:t>continue</a:t>
            </a:r>
            <a:r>
              <a:rPr lang="en-US" smtClean="0"/>
              <a:t> Statements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latin typeface="Courier New" pitchFamily="49" charset="0"/>
              </a:rPr>
              <a:t>break</a:t>
            </a:r>
            <a:r>
              <a:rPr lang="en-US" smtClean="0"/>
              <a:t> and </a:t>
            </a:r>
            <a:r>
              <a:rPr lang="en-US" smtClean="0">
                <a:latin typeface="Courier New" pitchFamily="49" charset="0"/>
              </a:rPr>
              <a:t>continue</a:t>
            </a:r>
            <a:r>
              <a:rPr lang="en-US" smtClean="0"/>
              <a:t> alter the flow of control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latin typeface="Courier New" pitchFamily="49" charset="0"/>
              </a:rPr>
              <a:t>break</a:t>
            </a:r>
            <a:r>
              <a:rPr lang="en-US" smtClean="0"/>
              <a:t> statement is used for two purposes: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To exit early from a loop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mtClean="0"/>
              <a:t>Can eliminate the use of certain (flag) variables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To skip the remainder of the </a:t>
            </a:r>
            <a:r>
              <a:rPr lang="en-US" smtClean="0">
                <a:latin typeface="Courier New" pitchFamily="49" charset="0"/>
              </a:rPr>
              <a:t>switch</a:t>
            </a:r>
            <a:r>
              <a:rPr lang="en-US" smtClean="0"/>
              <a:t> structure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After the </a:t>
            </a:r>
            <a:r>
              <a:rPr lang="en-US" smtClean="0">
                <a:latin typeface="Courier New" pitchFamily="49" charset="0"/>
              </a:rPr>
              <a:t>break</a:t>
            </a:r>
            <a:r>
              <a:rPr lang="en-US" smtClean="0"/>
              <a:t> statement executes, the program continues with the first statement after the structure</a:t>
            </a:r>
          </a:p>
        </p:txBody>
      </p:sp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53D03572-C3E8-44C1-88D5-704BD8276237}" type="slidenum">
              <a:rPr lang="en-US">
                <a:solidFill>
                  <a:srgbClr val="898989"/>
                </a:solidFill>
              </a:rPr>
              <a:pPr eaLnBrk="1" hangingPunct="1"/>
              <a:t>28</a:t>
            </a:fld>
            <a:endParaRPr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14829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800" dirty="0" smtClean="0">
                <a:latin typeface="Courier New" pitchFamily="49" charset="0"/>
              </a:rPr>
              <a:t>break</a:t>
            </a:r>
            <a:r>
              <a:rPr lang="en-US" dirty="0" smtClean="0"/>
              <a:t> and </a:t>
            </a:r>
            <a:r>
              <a:rPr lang="en-US" sz="3800" dirty="0" smtClean="0">
                <a:latin typeface="Courier New" pitchFamily="49" charset="0"/>
              </a:rPr>
              <a:t>continue</a:t>
            </a:r>
            <a:r>
              <a:rPr lang="en-US" dirty="0" smtClean="0"/>
              <a:t> Statements (cont'd.)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05000"/>
            <a:ext cx="7772400" cy="4225925"/>
          </a:xfrm>
        </p:spPr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continue</a:t>
            </a:r>
            <a:r>
              <a:rPr lang="en-US" smtClean="0"/>
              <a:t> is used in </a:t>
            </a:r>
            <a:r>
              <a:rPr lang="en-US" smtClean="0">
                <a:latin typeface="Courier New" panose="02070309020205020404" pitchFamily="49" charset="0"/>
              </a:rPr>
              <a:t>while</a:t>
            </a:r>
            <a:r>
              <a:rPr lang="en-US" smtClean="0"/>
              <a:t>, </a:t>
            </a:r>
            <a:r>
              <a:rPr lang="en-US" smtClean="0">
                <a:latin typeface="Courier New" panose="02070309020205020404" pitchFamily="49" charset="0"/>
              </a:rPr>
              <a:t>for</a:t>
            </a:r>
            <a:r>
              <a:rPr lang="en-US" smtClean="0"/>
              <a:t>, and </a:t>
            </a:r>
            <a:r>
              <a:rPr lang="en-US" smtClean="0">
                <a:latin typeface="Courier New" panose="02070309020205020404" pitchFamily="49" charset="0"/>
              </a:rPr>
              <a:t>do</a:t>
            </a:r>
            <a:r>
              <a:rPr lang="en-US" smtClean="0"/>
              <a:t>…</a:t>
            </a:r>
            <a:r>
              <a:rPr lang="en-US" smtClean="0">
                <a:latin typeface="Courier New" panose="02070309020205020404" pitchFamily="49" charset="0"/>
              </a:rPr>
              <a:t>while</a:t>
            </a:r>
            <a:r>
              <a:rPr lang="en-US" smtClean="0"/>
              <a:t> structures</a:t>
            </a:r>
          </a:p>
          <a:p>
            <a:pPr eaLnBrk="1" hangingPunct="1"/>
            <a:r>
              <a:rPr lang="en-US" smtClean="0"/>
              <a:t>When executed in a loop</a:t>
            </a:r>
          </a:p>
          <a:p>
            <a:pPr lvl="1" eaLnBrk="1" hangingPunct="1"/>
            <a:r>
              <a:rPr lang="en-US" smtClean="0"/>
              <a:t>It skips remaining statements and proceeds with the next iteration of the loop </a:t>
            </a:r>
          </a:p>
        </p:txBody>
      </p:sp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 eaLnBrk="1" hangingPunct="1"/>
            <a:fld id="{55816F60-B3B8-4106-89E9-63034BF70FFA}" type="slidenum">
              <a:rPr lang="en-US">
                <a:solidFill>
                  <a:srgbClr val="898989"/>
                </a:solidFill>
              </a:rPr>
              <a:pPr eaLnBrk="1" hangingPunct="1"/>
              <a:t>29</a:t>
            </a:fld>
            <a:endParaRPr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2446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 Statement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C++ Programming: Program Design Including Data Structures, Fifth Edition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A456-DD65-4F3F-9148-0C03681D697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/>
          <a:srcRect l="37200" t="32529" r="14652" b="30689"/>
          <a:stretch/>
        </p:blipFill>
        <p:spPr>
          <a:xfrm>
            <a:off x="228600" y="1600200"/>
            <a:ext cx="8915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80438"/>
      </p:ext>
    </p:extLst>
  </p:cSld>
  <p:clrMapOvr>
    <a:masterClrMapping/>
  </p:clrMapOvr>
  <p:transition advTm="2253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sz="2400" dirty="0"/>
              <a:t>for (int i = 0; i &lt; 100; ++i) </a:t>
            </a:r>
            <a:endParaRPr lang="nn-NO" sz="2400" dirty="0" smtClean="0"/>
          </a:p>
          <a:p>
            <a:pPr marL="0" indent="0">
              <a:buNone/>
            </a:pPr>
            <a:r>
              <a:rPr lang="nn-NO" sz="2400" dirty="0" smtClean="0"/>
              <a:t>{</a:t>
            </a:r>
            <a:endParaRPr lang="nn-NO" sz="2400" dirty="0"/>
          </a:p>
          <a:p>
            <a:pPr marL="0" indent="0">
              <a:buNone/>
            </a:pPr>
            <a:r>
              <a:rPr lang="en-US" sz="2400" dirty="0" smtClean="0"/>
              <a:t>	// </a:t>
            </a:r>
            <a:r>
              <a:rPr lang="en-US" sz="2400" dirty="0">
                <a:solidFill>
                  <a:srgbClr val="FF0000"/>
                </a:solidFill>
              </a:rPr>
              <a:t>Skip all the multiples of 7</a:t>
            </a:r>
          </a:p>
          <a:p>
            <a:pPr marL="0" indent="0">
              <a:buNone/>
            </a:pPr>
            <a:r>
              <a:rPr lang="en-US" sz="2400" dirty="0" smtClean="0"/>
              <a:t>	// </a:t>
            </a:r>
            <a:r>
              <a:rPr lang="en-US" sz="2400" dirty="0"/>
              <a:t>Operator % calculates the </a:t>
            </a:r>
            <a:r>
              <a:rPr lang="en-US" sz="2400" dirty="0" smtClean="0"/>
              <a:t>modulo (remainder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 smtClean="0"/>
              <a:t>	// </a:t>
            </a:r>
            <a:r>
              <a:rPr lang="en-US" sz="2400" dirty="0"/>
              <a:t>of a division; if (</a:t>
            </a:r>
            <a:r>
              <a:rPr lang="en-US" sz="2400" dirty="0" err="1"/>
              <a:t>i</a:t>
            </a:r>
            <a:r>
              <a:rPr lang="en-US" sz="2400" dirty="0"/>
              <a:t> % 7) is equal to zero</a:t>
            </a:r>
          </a:p>
          <a:p>
            <a:pPr marL="0" indent="0">
              <a:buNone/>
            </a:pPr>
            <a:r>
              <a:rPr lang="en-US" sz="2400" dirty="0" smtClean="0"/>
              <a:t>	// </a:t>
            </a:r>
            <a:r>
              <a:rPr lang="en-US" sz="2400" dirty="0"/>
              <a:t>this means that </a:t>
            </a:r>
            <a:r>
              <a:rPr lang="en-US" sz="2400" dirty="0" err="1"/>
              <a:t>i</a:t>
            </a:r>
            <a:r>
              <a:rPr lang="en-US" sz="2400" dirty="0"/>
              <a:t> is a multiple of 7.</a:t>
            </a:r>
          </a:p>
          <a:p>
            <a:pPr marL="0" indent="0">
              <a:buNone/>
            </a:pPr>
            <a:r>
              <a:rPr lang="en-US" sz="2400" dirty="0" smtClean="0"/>
              <a:t>	if </a:t>
            </a:r>
            <a:r>
              <a:rPr lang="en-US" sz="2400" dirty="0"/>
              <a:t>((</a:t>
            </a:r>
            <a:r>
              <a:rPr lang="en-US" sz="2400" dirty="0" err="1"/>
              <a:t>i</a:t>
            </a:r>
            <a:r>
              <a:rPr lang="en-US" sz="2400" dirty="0"/>
              <a:t> % 7) == 0)</a:t>
            </a:r>
          </a:p>
          <a:p>
            <a:pPr marL="0" indent="0">
              <a:buNone/>
            </a:pPr>
            <a:r>
              <a:rPr lang="en-US" sz="2400" dirty="0" smtClean="0"/>
              <a:t>		continue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 smtClean="0"/>
              <a:t>	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</a:t>
            </a:r>
            <a:r>
              <a:rPr lang="en-US" sz="2400" dirty="0" err="1"/>
              <a:t>i</a:t>
            </a:r>
            <a:r>
              <a:rPr lang="en-US" sz="2400" dirty="0"/>
              <a:t> &lt;&lt; " ";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C++ Programming: Program Design Including Data Structures, Fifth Edition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A456-DD65-4F3F-9148-0C03681D697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6642"/>
      </p:ext>
    </p:extLst>
  </p:cSld>
  <p:clrMapOvr>
    <a:masterClrMapping/>
  </p:clrMapOvr>
  <p:transition advTm="4092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E5DE0B38-0A9A-4922-8AD9-8D4E623A46EE}" type="slidenum">
              <a:rPr lang="en-US"/>
              <a:pPr/>
              <a:t>32</a:t>
            </a:fld>
            <a:endParaRPr 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Control </a:t>
            </a:r>
            <a:r>
              <a:rPr lang="en-US" dirty="0" smtClean="0"/>
              <a:t>Structures</a:t>
            </a:r>
            <a:br>
              <a:rPr lang="en-US" dirty="0" smtClean="0"/>
            </a:br>
            <a:r>
              <a:rPr lang="en-US" dirty="0"/>
              <a:t>(</a:t>
            </a:r>
            <a:r>
              <a:rPr lang="en-US" dirty="0" smtClean="0"/>
              <a:t>Nested Loops)</a:t>
            </a:r>
            <a:endParaRPr 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10600" cy="4419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/>
              <a:t>A </a:t>
            </a:r>
            <a:r>
              <a:rPr lang="en-US">
                <a:solidFill>
                  <a:schemeClr val="accent2"/>
                </a:solidFill>
              </a:rPr>
              <a:t>nested loop</a:t>
            </a:r>
            <a:r>
              <a:rPr lang="en-US"/>
              <a:t> is a loop inside the body of another loop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/>
              <a:t>Example: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for (row</a:t>
            </a:r>
            <a:r>
              <a:rPr lang="en-US" b="1">
                <a:solidFill>
                  <a:srgbClr val="3D8963"/>
                </a:solidFill>
              </a:rPr>
              <a:t> </a:t>
            </a: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=</a:t>
            </a:r>
            <a:r>
              <a:rPr lang="en-US" b="1">
                <a:solidFill>
                  <a:srgbClr val="3D8963"/>
                </a:solidFill>
              </a:rPr>
              <a:t> </a:t>
            </a: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1; row</a:t>
            </a:r>
            <a:r>
              <a:rPr lang="en-US" b="1">
                <a:solidFill>
                  <a:srgbClr val="3D8963"/>
                </a:solidFill>
              </a:rPr>
              <a:t> </a:t>
            </a: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&lt;=</a:t>
            </a:r>
            <a:r>
              <a:rPr lang="en-US" b="1">
                <a:solidFill>
                  <a:srgbClr val="3D8963"/>
                </a:solidFill>
              </a:rPr>
              <a:t> </a:t>
            </a: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3; row++)</a:t>
            </a:r>
            <a:endParaRPr lang="en-US" sz="2400" b="1">
              <a:solidFill>
                <a:srgbClr val="3D8963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{                          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  	for (col</a:t>
            </a:r>
            <a:r>
              <a:rPr lang="en-US" b="1">
                <a:solidFill>
                  <a:srgbClr val="3D8963"/>
                </a:solidFill>
              </a:rPr>
              <a:t> </a:t>
            </a: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=</a:t>
            </a:r>
            <a:r>
              <a:rPr lang="en-US" b="1">
                <a:solidFill>
                  <a:srgbClr val="3D8963"/>
                </a:solidFill>
              </a:rPr>
              <a:t> </a:t>
            </a: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1; col</a:t>
            </a:r>
            <a:r>
              <a:rPr lang="en-US" b="1">
                <a:solidFill>
                  <a:srgbClr val="3D8963"/>
                </a:solidFill>
              </a:rPr>
              <a:t> </a:t>
            </a: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&lt;=</a:t>
            </a:r>
            <a:r>
              <a:rPr lang="en-US" b="1">
                <a:solidFill>
                  <a:srgbClr val="3D8963"/>
                </a:solidFill>
              </a:rPr>
              <a:t> </a:t>
            </a: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3; col++)</a:t>
            </a:r>
            <a:endParaRPr lang="en-US" sz="2400" b="1">
              <a:solidFill>
                <a:srgbClr val="3D8963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  { 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     cout &lt;&lt; row * col &lt;&lt; endl;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  }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3D8963"/>
                </a:solidFill>
                <a:latin typeface="Courier New" panose="02070309020205020404" pitchFamily="49" charset="0"/>
              </a:rPr>
              <a:t>}</a:t>
            </a:r>
            <a:endParaRPr lang="en-US" b="1">
              <a:solidFill>
                <a:srgbClr val="3D8963"/>
              </a:solidFill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400800" y="3276600"/>
            <a:ext cx="2057400" cy="2743200"/>
            <a:chOff x="3744" y="2064"/>
            <a:chExt cx="1344" cy="1728"/>
          </a:xfrm>
        </p:grpSpPr>
        <p:sp>
          <p:nvSpPr>
            <p:cNvPr id="52238" name="Line 14"/>
            <p:cNvSpPr>
              <a:spLocks noChangeShapeType="1"/>
            </p:cNvSpPr>
            <p:nvPr/>
          </p:nvSpPr>
          <p:spPr bwMode="auto">
            <a:xfrm>
              <a:off x="3888" y="230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9" name="Line 15"/>
            <p:cNvSpPr>
              <a:spLocks noChangeShapeType="1"/>
            </p:cNvSpPr>
            <p:nvPr/>
          </p:nvSpPr>
          <p:spPr bwMode="auto">
            <a:xfrm>
              <a:off x="3744" y="3792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0" name="Line 16"/>
            <p:cNvSpPr>
              <a:spLocks noChangeShapeType="1"/>
            </p:cNvSpPr>
            <p:nvPr/>
          </p:nvSpPr>
          <p:spPr bwMode="auto">
            <a:xfrm>
              <a:off x="5088" y="2304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3888" y="2064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baseline="0"/>
                <a:t>    </a:t>
              </a:r>
              <a:r>
                <a:rPr lang="en-US" b="1" baseline="0">
                  <a:solidFill>
                    <a:schemeClr val="accent2"/>
                  </a:solidFill>
                </a:rPr>
                <a:t>outer loop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7162800" y="4495800"/>
            <a:ext cx="1066800" cy="1143000"/>
            <a:chOff x="4128" y="2832"/>
            <a:chExt cx="672" cy="720"/>
          </a:xfrm>
        </p:grpSpPr>
        <p:sp>
          <p:nvSpPr>
            <p:cNvPr id="52235" name="Line 11"/>
            <p:cNvSpPr>
              <a:spLocks noChangeShapeType="1"/>
            </p:cNvSpPr>
            <p:nvPr/>
          </p:nvSpPr>
          <p:spPr bwMode="auto">
            <a:xfrm>
              <a:off x="4128" y="283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6" name="Line 12"/>
            <p:cNvSpPr>
              <a:spLocks noChangeShapeType="1"/>
            </p:cNvSpPr>
            <p:nvPr/>
          </p:nvSpPr>
          <p:spPr bwMode="auto">
            <a:xfrm>
              <a:off x="4176" y="35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7" name="Line 13"/>
            <p:cNvSpPr>
              <a:spLocks noChangeShapeType="1"/>
            </p:cNvSpPr>
            <p:nvPr/>
          </p:nvSpPr>
          <p:spPr bwMode="auto">
            <a:xfrm>
              <a:off x="4800" y="283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42" name="Text Box 18"/>
          <p:cNvSpPr txBox="1">
            <a:spLocks noChangeArrowheads="1"/>
          </p:cNvSpPr>
          <p:nvPr/>
        </p:nvSpPr>
        <p:spPr bwMode="auto">
          <a:xfrm>
            <a:off x="6934200" y="4038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baseline="0">
                <a:solidFill>
                  <a:schemeClr val="accent2"/>
                </a:solidFill>
              </a:rPr>
              <a:t>inner loop</a:t>
            </a:r>
          </a:p>
        </p:txBody>
      </p:sp>
    </p:spTree>
    <p:extLst>
      <p:ext uri="{BB962C8B-B14F-4D97-AF65-F5344CB8AC3E}">
        <p14:creationId xmlns:p14="http://schemas.microsoft.com/office/powerpoint/2010/main" val="1688522748"/>
      </p:ext>
    </p:extLst>
  </p:cSld>
  <p:clrMapOvr>
    <a:masterClrMapping/>
  </p:clrMapOvr>
  <p:transition advTm="67005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36F69182-82F7-4C4C-9608-629567A17B60}" type="slidenum">
              <a:rPr lang="en-US"/>
              <a:pPr/>
              <a:t>33</a:t>
            </a:fld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on Nested Loops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Inner loop goes through all its repetitions for each repetition of outer loop</a:t>
            </a:r>
          </a:p>
          <a:p>
            <a:pPr>
              <a:buFontTx/>
              <a:buChar char="•"/>
            </a:pPr>
            <a:r>
              <a:rPr lang="en-US"/>
              <a:t>Inner loop repetitions complete sooner than outer loop</a:t>
            </a:r>
          </a:p>
          <a:p>
            <a:pPr>
              <a:buFontTx/>
              <a:buChar char="•"/>
            </a:pPr>
            <a:r>
              <a:rPr lang="en-US"/>
              <a:t>Total number of repetitions for inner loop is product of number of repetitions of the two loops.  In previous example, inner loop repeats 9 times</a:t>
            </a:r>
          </a:p>
        </p:txBody>
      </p:sp>
    </p:spTree>
    <p:extLst>
      <p:ext uri="{BB962C8B-B14F-4D97-AF65-F5344CB8AC3E}">
        <p14:creationId xmlns:p14="http://schemas.microsoft.com/office/powerpoint/2010/main" val="1507718197"/>
      </p:ext>
    </p:extLst>
  </p:cSld>
  <p:clrMapOvr>
    <a:masterClrMapping/>
  </p:clrMapOvr>
  <p:transition advTm="1725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=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err="1"/>
              <a:t>for</a:t>
            </a:r>
            <a:r>
              <a:rPr lang="es-ES" dirty="0"/>
              <a:t> (</a:t>
            </a:r>
            <a:r>
              <a:rPr lang="es-ES" dirty="0" err="1"/>
              <a:t>int</a:t>
            </a:r>
            <a:r>
              <a:rPr lang="es-ES" dirty="0"/>
              <a:t> y = 1; y &lt;= 3; ++y) {</a:t>
            </a:r>
          </a:p>
          <a:p>
            <a:pPr marL="0" indent="0">
              <a:buNone/>
            </a:pPr>
            <a:r>
              <a:rPr lang="en-US" dirty="0" smtClean="0"/>
              <a:t>	for 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x = 1; x &lt;= 3; ++x) {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cout</a:t>
            </a:r>
            <a:r>
              <a:rPr lang="en-US" dirty="0" smtClean="0"/>
              <a:t> </a:t>
            </a:r>
            <a:r>
              <a:rPr lang="en-US" dirty="0"/>
              <a:t>&lt;&lt; x * y &lt;&lt; " ";</a:t>
            </a:r>
          </a:p>
          <a:p>
            <a:pPr marL="0" indent="0">
              <a:buNone/>
            </a:pPr>
            <a:r>
              <a:rPr lang="en-US" dirty="0" smtClean="0"/>
              <a:t>		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cout</a:t>
            </a:r>
            <a:r>
              <a:rPr lang="en-US" dirty="0" smtClean="0"/>
              <a:t> </a:t>
            </a:r>
            <a:r>
              <a:rPr lang="en-US" dirty="0"/>
              <a:t>&lt;&lt; "\n";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C++ Programming: Program Design Including Data Structures, Fifth Edition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A456-DD65-4F3F-9148-0C03681D697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87565"/>
      </p:ext>
    </p:extLst>
  </p:cSld>
  <p:clrMapOvr>
    <a:masterClrMapping/>
  </p:clrMapOvr>
  <p:transition advTm="494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4899</TotalTime>
  <Words>1357</Words>
  <Application>Microsoft Office PowerPoint</Application>
  <PresentationFormat>On-screen Show (4:3)</PresentationFormat>
  <Paragraphs>266</Paragraphs>
  <Slides>34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Courier New</vt:lpstr>
      <vt:lpstr>Office Theme</vt:lpstr>
      <vt:lpstr>Repetition structures</vt:lpstr>
      <vt:lpstr>Why Is Repetition Needed?</vt:lpstr>
      <vt:lpstr>while Looping (Repetition) Structure</vt:lpstr>
      <vt:lpstr>while Loop Flow of Control</vt:lpstr>
      <vt:lpstr>while Looping (Repetition) Structure (cont'd.)</vt:lpstr>
      <vt:lpstr>while Looping (Repetition) Structure (cont'd.)</vt:lpstr>
      <vt:lpstr>Designing while Loops</vt:lpstr>
      <vt:lpstr>Case 1: Counter-Controlled while Loops</vt:lpstr>
      <vt:lpstr>User Controls the Loop Example</vt:lpstr>
      <vt:lpstr>Case 2: Sentinel-Controlled while Loops</vt:lpstr>
      <vt:lpstr>Sentinel Example</vt:lpstr>
      <vt:lpstr>Case 3: Flag-Controlled while Loops</vt:lpstr>
      <vt:lpstr>More on Expressions in while Statements</vt:lpstr>
      <vt:lpstr>for Looping (Repetition) Structure</vt:lpstr>
      <vt:lpstr>for Looping (Repetition) Structure (cont'd.)</vt:lpstr>
      <vt:lpstr>for Loop Example</vt:lpstr>
      <vt:lpstr>for Loop Notes</vt:lpstr>
      <vt:lpstr>for Looping (Repetition) Structure (cont'd.)</vt:lpstr>
      <vt:lpstr>for Looping (Repetition) Structure (cont'd.)</vt:lpstr>
      <vt:lpstr>for Loop Modifications</vt:lpstr>
      <vt:lpstr>More for Loop Modifications  (These are NOT Recommended)</vt:lpstr>
      <vt:lpstr>for Looping (Repetition) Structure (cont'd.)</vt:lpstr>
      <vt:lpstr>do…while Looping (Repetition) Structure</vt:lpstr>
      <vt:lpstr>do…while Looping (Repetition) Structure (cont'd.)</vt:lpstr>
      <vt:lpstr>do…while Looping (Repetition) Structure (cont'd.)</vt:lpstr>
      <vt:lpstr>do…while Looping (Repetition) Structure (cont'd.)</vt:lpstr>
      <vt:lpstr>Choosing the Right Looping Structure</vt:lpstr>
      <vt:lpstr>break and continue Statements</vt:lpstr>
      <vt:lpstr>break and continue Statements (cont'd.)</vt:lpstr>
      <vt:lpstr>Break Statement Example</vt:lpstr>
      <vt:lpstr>Continue Example</vt:lpstr>
      <vt:lpstr>Nested Control Structures (Nested Loops)</vt:lpstr>
      <vt:lpstr>Notes on Nested Loops</vt:lpstr>
      <vt:lpstr>Output = 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 structures</dc:title>
  <dc:creator>sadia tariq</dc:creator>
  <cp:lastModifiedBy>Microsoft account</cp:lastModifiedBy>
  <cp:revision>3</cp:revision>
  <dcterms:created xsi:type="dcterms:W3CDTF">2020-05-30T13:59:57Z</dcterms:created>
  <dcterms:modified xsi:type="dcterms:W3CDTF">2025-11-16T13:04:56Z</dcterms:modified>
</cp:coreProperties>
</file>