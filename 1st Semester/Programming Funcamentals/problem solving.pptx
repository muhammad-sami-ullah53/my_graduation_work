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9F8E4-A223-4D4A-9EE9-86A86DE0534B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B832CE-49D7-464A-B196-8A1D144C71A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3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223D0B-CE13-41B0-AE29-24418421FCCF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88EBB6-089E-4C6A-9208-8E4924167FFE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489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E86F6F-FD96-4686-A865-348C1F60C142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34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1F08A0-F9F3-4BC4-8046-C876D3B5FF05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84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73B6D5-7348-4F76-9CBA-12F56430CC2E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13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13DDD3-4DC0-4A53-93F2-BB5A6B3E26A2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9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0627C-BFF8-4EC1-9CC0-71D61897B84A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235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18F866-0043-4115-8697-3878984E2ED6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518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EE6B2E-CBEB-4942-BB15-27A132EB5A18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678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1193EF-E6BC-4551-85CF-A05DCB497F45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50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14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38B63B-B8BD-4EC3-84B0-95E8D9169D68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49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B51CF7-212F-40EE-967A-C7CF61271D54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35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59474B-E37C-44AA-BDF8-9A180DCB31B2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63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7AB41E-9257-4551-B9AD-775058DAF9F6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28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58E515-EA2D-441C-A8F3-D53980DC432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83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D7296D-0925-41AE-8764-1CC54507F3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A3B78-1635-439C-BE73-3CD837E3BB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BD172-FD4B-4826-99E0-1F718767AB78}" type="datetimeFigureOut">
              <a:rPr lang="en-US" smtClean="0"/>
              <a:pPr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FB965-A63D-48C3-BB26-5BD325EA35B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WAV"/><Relationship Id="rId2" Type="http://schemas.microsoft.com/office/2007/relationships/media" Target="../media/media2.WAV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microsoft.com/office/2007/relationships/media" Target="../media/media3.WAV"/><Relationship Id="rId7" Type="http://schemas.openxmlformats.org/officeDocument/2006/relationships/oleObject" Target="../embeddings/oleObject1.bin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2.xml"/><Relationship Id="rId4" Type="http://schemas.openxmlformats.org/officeDocument/2006/relationships/audio" Target="../media/media3.WAV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WAV"/><Relationship Id="rId2" Type="http://schemas.microsoft.com/office/2007/relationships/media" Target="../media/media4.WAV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WAV"/><Relationship Id="rId2" Type="http://schemas.microsoft.com/office/2007/relationships/media" Target="../media/media5.WAV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WAV"/><Relationship Id="rId2" Type="http://schemas.microsoft.com/office/2007/relationships/media" Target="../media/media7.WAV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WAV"/><Relationship Id="rId1" Type="http://schemas.microsoft.com/office/2007/relationships/media" Target="../media/media8.WAV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WAV"/><Relationship Id="rId1" Type="http://schemas.microsoft.com/office/2007/relationships/media" Target="../media/media9.WAV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WAV"/><Relationship Id="rId1" Type="http://schemas.microsoft.com/office/2007/relationships/media" Target="../media/media10.WAV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1.WAV"/><Relationship Id="rId2" Type="http://schemas.microsoft.com/office/2007/relationships/media" Target="../media/media11.WAV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audio" Target="../media/media12.WAV"/><Relationship Id="rId7" Type="http://schemas.openxmlformats.org/officeDocument/2006/relationships/image" Target="../media/image7.emf"/><Relationship Id="rId2" Type="http://schemas.microsoft.com/office/2007/relationships/media" Target="../media/media12.WAV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media13.WAV"/><Relationship Id="rId2" Type="http://schemas.microsoft.com/office/2007/relationships/media" Target="../media/media13.WAV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media14.WAV"/><Relationship Id="rId2" Type="http://schemas.microsoft.com/office/2007/relationships/media" Target="../media/media14.WAV"/><Relationship Id="rId1" Type="http://schemas.openxmlformats.org/officeDocument/2006/relationships/tags" Target="../tags/tag8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media15.WAV"/><Relationship Id="rId2" Type="http://schemas.microsoft.com/office/2007/relationships/media" Target="../media/media15.WAV"/><Relationship Id="rId1" Type="http://schemas.openxmlformats.org/officeDocument/2006/relationships/tags" Target="../tags/tag9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WAV"/><Relationship Id="rId1" Type="http://schemas.microsoft.com/office/2007/relationships/media" Target="../media/media16.WAV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Problem solving techniques and logic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Zainab Shahzadi</a:t>
            </a:r>
            <a:endParaRPr lang="en-US" dirty="0"/>
          </a:p>
        </p:txBody>
      </p:sp>
      <p:pic>
        <p:nvPicPr>
          <p:cNvPr id="11" name="~PP1234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514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Problem Solving Techniques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What is the unknown?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What is required?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What are the data?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What is given?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What is the condition?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By what condition the unknown is linked to the data?</a:t>
            </a:r>
          </a:p>
        </p:txBody>
      </p:sp>
      <p:pic>
        <p:nvPicPr>
          <p:cNvPr id="7" name="~PP1332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4918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CC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25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  <p:bldLst>
      <p:bldP spid="3481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Conversion from Fahrenheit to Celsius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600200"/>
            <a:ext cx="6858000" cy="4525963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mtClean="0">
                <a:solidFill>
                  <a:srgbClr val="0000FF"/>
                </a:solidFill>
              </a:rPr>
              <a:t>Output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mtClean="0"/>
              <a:t>Temperature in Celsius (C)</a:t>
            </a:r>
          </a:p>
          <a:p>
            <a:pPr marL="990600" lvl="1" indent="-533400" eaLnBrk="1" hangingPunct="1">
              <a:lnSpc>
                <a:spcPct val="80000"/>
              </a:lnSpc>
            </a:pPr>
            <a:endParaRPr lang="en-US" smtClean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smtClean="0">
                <a:solidFill>
                  <a:srgbClr val="0000FF"/>
                </a:solidFill>
              </a:rPr>
              <a:t>Inputs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mtClean="0"/>
              <a:t>Temperature in Fahrenheit (F)</a:t>
            </a:r>
          </a:p>
          <a:p>
            <a:pPr marL="990600" lvl="1" indent="-533400" eaLnBrk="1" hangingPunct="1">
              <a:lnSpc>
                <a:spcPct val="80000"/>
              </a:lnSpc>
            </a:pPr>
            <a:endParaRPr lang="en-US" smtClean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smtClean="0">
                <a:solidFill>
                  <a:srgbClr val="0000FF"/>
                </a:solidFill>
              </a:rPr>
              <a:t>Process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None/>
            </a:pPr>
            <a:endParaRPr lang="en-US" smtClean="0"/>
          </a:p>
          <a:p>
            <a:pPr marL="990600" lvl="1" indent="-533400" eaLnBrk="1" hangingPunct="1">
              <a:lnSpc>
                <a:spcPct val="80000"/>
              </a:lnSpc>
            </a:pPr>
            <a:endParaRPr lang="en-US" smtClean="0"/>
          </a:p>
        </p:txBody>
      </p:sp>
      <p:graphicFrame>
        <p:nvGraphicFramePr>
          <p:cNvPr id="3584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127375" y="4686300"/>
          <a:ext cx="235585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28847880" imgH="12588840" progId="Equation.3">
                  <p:embed/>
                </p:oleObj>
              </mc:Choice>
              <mc:Fallback>
                <p:oleObj name="Equation" r:id="rId7" imgW="28847880" imgH="12588840" progId="Equation.3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4686300"/>
                        <a:ext cx="2355850" cy="1028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~PP1368.WAV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advTm="491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3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5843" grpId="0" build="p" bldLvl="2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Calculate and print the average grade of 3 tests for the entire class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66800" y="1600200"/>
            <a:ext cx="6858000" cy="4525963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z="2800" smtClean="0">
                <a:solidFill>
                  <a:srgbClr val="0000FF"/>
                </a:solidFill>
              </a:rPr>
              <a:t>Input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400" smtClean="0"/>
              <a:t>3 test scores for each student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800" smtClean="0">
                <a:solidFill>
                  <a:srgbClr val="0000FF"/>
                </a:solidFill>
              </a:rPr>
              <a:t>output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z="2400" smtClean="0"/>
              <a:t>Average of 3 tests for each student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sz="2800" smtClean="0">
                <a:solidFill>
                  <a:srgbClr val="0000FF"/>
                </a:solidFill>
              </a:rPr>
              <a:t>Process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400" smtClean="0"/>
              <a:t>Get three scores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400" smtClean="0"/>
              <a:t>Add them together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400" smtClean="0"/>
              <a:t>Divide by three to get the average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400" smtClean="0"/>
              <a:t>Print the average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400" smtClean="0"/>
              <a:t>Repeat step 1 to 4 for next student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z="2400" smtClean="0"/>
              <a:t>Stop if there are no more students</a:t>
            </a:r>
          </a:p>
        </p:txBody>
      </p:sp>
      <p:pic>
        <p:nvPicPr>
          <p:cNvPr id="4" name="~PP3919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8030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5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7891" grpId="0" build="p" bldLvl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Algorithm</a:t>
            </a:r>
            <a:br>
              <a:rPr lang="en-US" smtClean="0"/>
            </a:br>
            <a:r>
              <a:rPr lang="en-US" sz="3200" smtClean="0"/>
              <a:t>Make a Jam and Butter Sandwich</a:t>
            </a:r>
            <a:endParaRPr lang="en-US" smtClean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93838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mtClean="0">
                <a:solidFill>
                  <a:srgbClr val="0000FF"/>
                </a:solidFill>
              </a:rPr>
              <a:t>Output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mtClean="0"/>
              <a:t>Jam and Butter Sandwiches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smtClean="0">
                <a:solidFill>
                  <a:srgbClr val="0000FF"/>
                </a:solidFill>
              </a:rPr>
              <a:t>Inputs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mtClean="0"/>
              <a:t>Jam, Butter, Bread, Knife, Plate</a:t>
            </a:r>
          </a:p>
          <a:p>
            <a:pPr marL="609600" indent="-609600" eaLnBrk="1" hangingPunct="1">
              <a:lnSpc>
                <a:spcPct val="80000"/>
              </a:lnSpc>
            </a:pPr>
            <a:r>
              <a:rPr lang="en-US" smtClean="0">
                <a:solidFill>
                  <a:srgbClr val="0000FF"/>
                </a:solidFill>
              </a:rPr>
              <a:t>Process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Put two slices of bread on the plate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Using the knife, spread butter on one side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Using the knife, spread jam on the other side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Put the two slices together, clean side out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Repeat from step 1 to 4 to prepare more sandwiches</a:t>
            </a:r>
          </a:p>
        </p:txBody>
      </p:sp>
      <p:pic>
        <p:nvPicPr>
          <p:cNvPr id="4" name="~PP2374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5163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4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6867" grpId="0" build="p" bldLvl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27038"/>
            <a:ext cx="8229600" cy="990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Algorithm</a:t>
            </a:r>
            <a:r>
              <a:rPr lang="en-US" sz="3200" smtClean="0"/>
              <a:t> </a:t>
            </a:r>
            <a:br>
              <a:rPr lang="en-US" sz="3200" smtClean="0"/>
            </a:br>
            <a:r>
              <a:rPr lang="en-US" sz="3200" smtClean="0">
                <a:solidFill>
                  <a:schemeClr val="accent2"/>
                </a:solidFill>
              </a:rPr>
              <a:t>ATM for withdrawal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41438"/>
            <a:ext cx="8686800" cy="5059362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smtClean="0">
                <a:solidFill>
                  <a:srgbClr val="0000FF"/>
                </a:solidFill>
              </a:rPr>
              <a:t>Output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mtClean="0"/>
              <a:t>Money, error messages</a:t>
            </a:r>
          </a:p>
          <a:p>
            <a:pPr marL="990600" lvl="1" indent="-533400" eaLnBrk="1" hangingPunct="1">
              <a:lnSpc>
                <a:spcPct val="80000"/>
              </a:lnSpc>
            </a:pPr>
            <a:endParaRPr lang="en-US" smtClean="0"/>
          </a:p>
          <a:p>
            <a:pPr marL="609600" indent="-609600" eaLnBrk="1" hangingPunct="1">
              <a:lnSpc>
                <a:spcPct val="80000"/>
              </a:lnSpc>
            </a:pPr>
            <a:r>
              <a:rPr lang="en-US" smtClean="0">
                <a:solidFill>
                  <a:srgbClr val="0000FF"/>
                </a:solidFill>
              </a:rPr>
              <a:t>Inputs</a:t>
            </a:r>
          </a:p>
          <a:p>
            <a:pPr marL="990600" lvl="1" indent="-533400" eaLnBrk="1" hangingPunct="1">
              <a:lnSpc>
                <a:spcPct val="80000"/>
              </a:lnSpc>
            </a:pPr>
            <a:r>
              <a:rPr lang="en-US" smtClean="0"/>
              <a:t>User Identification (ATM card), password, amount</a:t>
            </a:r>
          </a:p>
        </p:txBody>
      </p:sp>
      <p:pic>
        <p:nvPicPr>
          <p:cNvPr id="4" name="~PP3003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884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23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8915" grpId="0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62000"/>
          </a:xfrm>
        </p:spPr>
        <p:txBody>
          <a:bodyPr/>
          <a:lstStyle/>
          <a:p>
            <a:pPr eaLnBrk="1" hangingPunct="1"/>
            <a:r>
              <a:rPr lang="en-US" sz="2800" smtClean="0"/>
              <a:t>ATM for withdrawal - </a:t>
            </a:r>
            <a:r>
              <a:rPr lang="en-US" smtClean="0">
                <a:solidFill>
                  <a:schemeClr val="accent2"/>
                </a:solidFill>
              </a:rPr>
              <a:t>Process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686800" cy="5059363"/>
          </a:xfrm>
        </p:spPr>
        <p:txBody>
          <a:bodyPr>
            <a:normAutofit lnSpcReduction="10000"/>
          </a:bodyPr>
          <a:lstStyle/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Get the ATM card for identification and ask for password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Check password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If password is not valid, generate an error message and </a:t>
            </a:r>
            <a:r>
              <a:rPr lang="en-US" smtClean="0">
                <a:solidFill>
                  <a:srgbClr val="0000FF"/>
                </a:solidFill>
              </a:rPr>
              <a:t>go to step number 8.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Get the amount from the user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Check the current balance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If amount is greater than current balance, generate an error message and </a:t>
            </a:r>
            <a:r>
              <a:rPr lang="en-US" smtClean="0">
                <a:solidFill>
                  <a:srgbClr val="0000FF"/>
                </a:solidFill>
              </a:rPr>
              <a:t>go to step</a:t>
            </a:r>
            <a:r>
              <a:rPr lang="en-US" smtClean="0">
                <a:solidFill>
                  <a:srgbClr val="FF9999"/>
                </a:solidFill>
              </a:rPr>
              <a:t> </a:t>
            </a:r>
            <a:r>
              <a:rPr lang="en-US" smtClean="0">
                <a:solidFill>
                  <a:srgbClr val="0000FF"/>
                </a:solidFill>
              </a:rPr>
              <a:t>number 8.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Subtract the amount from the balance and give out the cash.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Return the ATM card</a:t>
            </a: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smtClean="0"/>
              <a:t>Stop</a:t>
            </a:r>
          </a:p>
        </p:txBody>
      </p:sp>
      <p:pic>
        <p:nvPicPr>
          <p:cNvPr id="4" name="~PP1402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9663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43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993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686800" cy="5486400"/>
          </a:xfrm>
        </p:spPr>
        <p:txBody>
          <a:bodyPr/>
          <a:lstStyle/>
          <a:p>
            <a:pPr marL="609600" indent="-609600" eaLnBrk="1" hangingPunct="1">
              <a:buClr>
                <a:srgbClr val="FF6600"/>
              </a:buClr>
              <a:buSzPct val="200000"/>
              <a:buFont typeface="Wingdings" pitchFamily="2" charset="2"/>
              <a:buChar char="§"/>
            </a:pPr>
            <a:r>
              <a:rPr lang="en-US" smtClean="0">
                <a:latin typeface="Trebuchet MS" pitchFamily="34" charset="0"/>
              </a:rPr>
              <a:t>A flowchart is a visual or graphical representation of an algorithm.</a:t>
            </a:r>
          </a:p>
          <a:p>
            <a:pPr marL="609600" indent="-609600" eaLnBrk="1" hangingPunct="1">
              <a:buClr>
                <a:srgbClr val="FF6600"/>
              </a:buClr>
              <a:buSzPct val="200000"/>
              <a:buFont typeface="Wingdings" pitchFamily="2" charset="2"/>
              <a:buChar char="§"/>
            </a:pPr>
            <a:endParaRPr lang="en-US" smtClean="0">
              <a:latin typeface="Trebuchet MS" pitchFamily="34" charset="0"/>
            </a:endParaRPr>
          </a:p>
          <a:p>
            <a:pPr marL="990600" lvl="1" indent="-533400" eaLnBrk="1" hangingPunct="1">
              <a:buClr>
                <a:srgbClr val="FF6600"/>
              </a:buClr>
              <a:buSzPct val="200000"/>
              <a:buFont typeface="Wingdings" pitchFamily="2" charset="2"/>
              <a:buChar char="§"/>
            </a:pPr>
            <a:r>
              <a:rPr lang="en-US" smtClean="0">
                <a:latin typeface="Trebuchet MS" pitchFamily="34" charset="0"/>
              </a:rPr>
              <a:t>The flowchart employs a series of blocks and arrows, each of which represents a particular operation or step in the algorithm.</a:t>
            </a:r>
          </a:p>
          <a:p>
            <a:pPr marL="990600" lvl="1" indent="-533400" eaLnBrk="1" hangingPunct="1">
              <a:buClr>
                <a:srgbClr val="FF6600"/>
              </a:buClr>
              <a:buSzPct val="200000"/>
              <a:buFont typeface="Wingdings" pitchFamily="2" charset="2"/>
              <a:buChar char="§"/>
            </a:pPr>
            <a:endParaRPr lang="en-US" smtClean="0">
              <a:latin typeface="Trebuchet MS" pitchFamily="34" charset="0"/>
            </a:endParaRPr>
          </a:p>
          <a:p>
            <a:pPr marL="990600" lvl="1" indent="-533400" eaLnBrk="1" hangingPunct="1">
              <a:buClr>
                <a:srgbClr val="FF6600"/>
              </a:buClr>
              <a:buSzPct val="200000"/>
              <a:buFont typeface="Wingdings" pitchFamily="2" charset="2"/>
              <a:buChar char="§"/>
            </a:pPr>
            <a:r>
              <a:rPr lang="en-US" smtClean="0">
                <a:latin typeface="Trebuchet MS" pitchFamily="34" charset="0"/>
              </a:rPr>
              <a:t>The arrows represent the sequence in which the operations are implemented.</a:t>
            </a:r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1"/>
                </a:solidFill>
              </a:rPr>
              <a:t>Flow Charts</a:t>
            </a:r>
          </a:p>
        </p:txBody>
      </p:sp>
      <p:pic>
        <p:nvPicPr>
          <p:cNvPr id="4" name="~PP2132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3752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 descr="White marble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543800" cy="841375"/>
          </a:xfrm>
          <a:noFill/>
        </p:spPr>
        <p:txBody>
          <a:bodyPr/>
          <a:lstStyle/>
          <a:p>
            <a:pPr eaLnBrk="1" hangingPunct="1"/>
            <a:r>
              <a:rPr lang="en-US" sz="3200" smtClean="0">
                <a:solidFill>
                  <a:schemeClr val="tx1"/>
                </a:solidFill>
              </a:rPr>
              <a:t>Flowcharts – Most Common Symbols</a:t>
            </a: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609600" y="1069975"/>
            <a:ext cx="1204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Symbol</a:t>
            </a: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2133600" y="1069975"/>
            <a:ext cx="9858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Name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4800600" y="1066800"/>
            <a:ext cx="1439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Function</a:t>
            </a:r>
          </a:p>
        </p:txBody>
      </p:sp>
      <p:sp>
        <p:nvSpPr>
          <p:cNvPr id="26630" name="AutoShape 6"/>
          <p:cNvSpPr>
            <a:spLocks noChangeArrowheads="1"/>
          </p:cNvSpPr>
          <p:nvPr/>
        </p:nvSpPr>
        <p:spPr bwMode="auto">
          <a:xfrm>
            <a:off x="457200" y="1676400"/>
            <a:ext cx="1219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2133600" y="1725613"/>
            <a:ext cx="6553200" cy="435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Terminal	Represents the beginning or end of a 		program.</a:t>
            </a:r>
          </a:p>
          <a:p>
            <a:pPr eaLnBrk="0" hangingPunct="0"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Flow-line	Represents the flow of logic.</a:t>
            </a:r>
          </a:p>
          <a:p>
            <a:pPr eaLnBrk="0" hangingPunct="0">
              <a:defRPr/>
            </a:pPr>
            <a:endParaRPr lang="en-US" sz="2000" b="1">
              <a:effectLst>
                <a:outerShdw blurRad="38100" dist="38100" dir="2700000" algn="tl">
                  <a:srgbClr val="C0C0C0"/>
                </a:outerShdw>
              </a:effectLst>
              <a:latin typeface="Trebuchet MS" pitchFamily="34" charset="0"/>
            </a:endParaRPr>
          </a:p>
          <a:p>
            <a:pPr eaLnBrk="0" hangingPunct="0"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Process		Represents calculations or data</a:t>
            </a:r>
          </a:p>
          <a:p>
            <a:pPr eaLnBrk="0" hangingPunct="0"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		manipulation.</a:t>
            </a:r>
          </a:p>
          <a:p>
            <a:pPr eaLnBrk="0" hangingPunct="0">
              <a:defRPr/>
            </a:pPr>
            <a:endParaRPr lang="en-US" sz="2000" b="1">
              <a:effectLst>
                <a:outerShdw blurRad="38100" dist="38100" dir="2700000" algn="tl">
                  <a:srgbClr val="C0C0C0"/>
                </a:outerShdw>
              </a:effectLst>
              <a:latin typeface="Trebuchet MS" pitchFamily="34" charset="0"/>
            </a:endParaRPr>
          </a:p>
          <a:p>
            <a:pPr eaLnBrk="0" hangingPunct="0"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Input/Output	Represents inputs or outputs of data 		and information.</a:t>
            </a:r>
          </a:p>
          <a:p>
            <a:pPr eaLnBrk="0" hangingPunct="0">
              <a:defRPr/>
            </a:pPr>
            <a:endParaRPr lang="en-US" sz="2000" b="1">
              <a:effectLst>
                <a:outerShdw blurRad="38100" dist="38100" dir="2700000" algn="tl">
                  <a:srgbClr val="C0C0C0"/>
                </a:outerShdw>
              </a:effectLst>
              <a:latin typeface="Trebuchet MS" pitchFamily="34" charset="0"/>
            </a:endParaRPr>
          </a:p>
          <a:p>
            <a:pPr eaLnBrk="0" hangingPunct="0">
              <a:defRPr/>
            </a:pPr>
            <a:r>
              <a:rPr lang="en-US" sz="2000" b="1">
                <a:effectLst>
                  <a:outerShdw blurRad="38100" dist="38100" dir="2700000" algn="tl">
                    <a:srgbClr val="C0C0C0"/>
                  </a:outerShdw>
                </a:effectLst>
                <a:latin typeface="Trebuchet MS" pitchFamily="34" charset="0"/>
              </a:rPr>
              <a:t>Decision	Represents a comparison, question, 		or decision that determines 			alternative paths to be followed.</a:t>
            </a:r>
          </a:p>
          <a:p>
            <a:pPr eaLnBrk="0" hangingPunct="0">
              <a:defRPr/>
            </a:pPr>
            <a:endParaRPr lang="en-US" sz="2000" b="1">
              <a:effectLst>
                <a:outerShdw blurRad="38100" dist="38100" dir="2700000" algn="tl">
                  <a:srgbClr val="C0C0C0"/>
                </a:outerShdw>
              </a:effectLst>
              <a:latin typeface="Trebuchet MS" pitchFamily="34" charset="0"/>
            </a:endParaRPr>
          </a:p>
        </p:txBody>
      </p:sp>
      <p:sp>
        <p:nvSpPr>
          <p:cNvPr id="26632" name="Line 8"/>
          <p:cNvSpPr>
            <a:spLocks noChangeShapeType="1"/>
          </p:cNvSpPr>
          <p:nvPr/>
        </p:nvSpPr>
        <p:spPr bwMode="auto">
          <a:xfrm>
            <a:off x="533400" y="2590800"/>
            <a:ext cx="990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457200" y="2895600"/>
            <a:ext cx="1219200" cy="4572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AutoShape 10"/>
          <p:cNvSpPr>
            <a:spLocks noChangeArrowheads="1"/>
          </p:cNvSpPr>
          <p:nvPr/>
        </p:nvSpPr>
        <p:spPr bwMode="auto">
          <a:xfrm>
            <a:off x="457200" y="3810000"/>
            <a:ext cx="1219200" cy="457200"/>
          </a:xfrm>
          <a:prstGeom prst="parallelogram">
            <a:avLst>
              <a:gd name="adj" fmla="val 66667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>
              <a:latin typeface="Garamond" pitchFamily="18" charset="0"/>
            </a:endParaRPr>
          </a:p>
        </p:txBody>
      </p:sp>
      <p:sp>
        <p:nvSpPr>
          <p:cNvPr id="26635" name="AutoShape 11"/>
          <p:cNvSpPr>
            <a:spLocks noChangeArrowheads="1"/>
          </p:cNvSpPr>
          <p:nvPr/>
        </p:nvSpPr>
        <p:spPr bwMode="auto">
          <a:xfrm>
            <a:off x="457200" y="4724400"/>
            <a:ext cx="1219200" cy="685800"/>
          </a:xfrm>
          <a:prstGeom prst="diamond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en-US">
              <a:latin typeface="Garamond" pitchFamily="18" charset="0"/>
            </a:endParaRPr>
          </a:p>
        </p:txBody>
      </p:sp>
      <p:pic>
        <p:nvPicPr>
          <p:cNvPr id="12" name="~PP3571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5464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 descr="White marble"/>
          <p:cNvSpPr>
            <a:spLocks noGrp="1" noChangeArrowheads="1"/>
          </p:cNvSpPr>
          <p:nvPr>
            <p:ph type="title"/>
          </p:nvPr>
        </p:nvSpPr>
        <p:spPr>
          <a:xfrm>
            <a:off x="1981200" y="301625"/>
            <a:ext cx="5257800" cy="841375"/>
          </a:xfrm>
          <a:noFill/>
        </p:spPr>
        <p:txBody>
          <a:bodyPr/>
          <a:lstStyle/>
          <a:p>
            <a:pPr eaLnBrk="1" hangingPunct="1"/>
            <a:r>
              <a:rPr lang="en-US" sz="2800" b="1" smtClean="0">
                <a:solidFill>
                  <a:schemeClr val="tx1"/>
                </a:solidFill>
              </a:rPr>
              <a:t>Flowcharts – An Example</a:t>
            </a:r>
            <a:r>
              <a:rPr lang="en-US" sz="3600" smtClean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90600"/>
            <a:ext cx="9144000" cy="1066800"/>
          </a:xfrm>
        </p:spPr>
        <p:txBody>
          <a:bodyPr/>
          <a:lstStyle/>
          <a:p>
            <a:pPr marL="609600" indent="-609600" eaLnBrk="1" hangingPunct="1">
              <a:buClr>
                <a:srgbClr val="FF6600"/>
              </a:buClr>
              <a:buSzPct val="200000"/>
              <a:buFont typeface="Wingdings" pitchFamily="2" charset="2"/>
              <a:buNone/>
            </a:pPr>
            <a:r>
              <a:rPr lang="en-US" sz="2800" smtClean="0">
                <a:latin typeface="Trebuchet MS" pitchFamily="34" charset="0"/>
              </a:rPr>
              <a:t>	Find the solution of a quadratic equation Ax</a:t>
            </a:r>
            <a:r>
              <a:rPr lang="en-US" sz="2800" baseline="30000" smtClean="0">
                <a:latin typeface="Trebuchet MS" pitchFamily="34" charset="0"/>
              </a:rPr>
              <a:t>2</a:t>
            </a:r>
            <a:r>
              <a:rPr lang="en-US" sz="2800" smtClean="0">
                <a:latin typeface="Trebuchet MS" pitchFamily="34" charset="0"/>
              </a:rPr>
              <a:t>+Bx+C=0, given A, B and C.</a:t>
            </a:r>
            <a:endParaRPr lang="en-US" sz="2800" b="1" smtClean="0">
              <a:latin typeface="Trebuchet MS" pitchFamily="34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600200" y="2057400"/>
            <a:ext cx="6096000" cy="4114800"/>
            <a:chOff x="432" y="1344"/>
            <a:chExt cx="3840" cy="2592"/>
          </a:xfrm>
        </p:grpSpPr>
        <p:sp>
          <p:nvSpPr>
            <p:cNvPr id="27653" name="AutoShape 5"/>
            <p:cNvSpPr>
              <a:spLocks noChangeArrowheads="1"/>
            </p:cNvSpPr>
            <p:nvPr/>
          </p:nvSpPr>
          <p:spPr bwMode="auto">
            <a:xfrm>
              <a:off x="672" y="1488"/>
              <a:ext cx="912" cy="336"/>
            </a:xfrm>
            <a:prstGeom prst="roundRect">
              <a:avLst>
                <a:gd name="adj" fmla="val 50000"/>
              </a:avLst>
            </a:prstGeom>
            <a:solidFill>
              <a:srgbClr val="99CCFF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START</a:t>
              </a:r>
            </a:p>
          </p:txBody>
        </p:sp>
        <p:sp>
          <p:nvSpPr>
            <p:cNvPr id="27654" name="AutoShape 6"/>
            <p:cNvSpPr>
              <a:spLocks noChangeArrowheads="1"/>
            </p:cNvSpPr>
            <p:nvPr/>
          </p:nvSpPr>
          <p:spPr bwMode="auto">
            <a:xfrm>
              <a:off x="480" y="2064"/>
              <a:ext cx="1248" cy="432"/>
            </a:xfrm>
            <a:prstGeom prst="parallelogram">
              <a:avLst>
                <a:gd name="adj" fmla="val 41207"/>
              </a:avLst>
            </a:prstGeom>
            <a:solidFill>
              <a:srgbClr val="99CCFF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INPUT </a:t>
              </a:r>
            </a:p>
            <a:p>
              <a:pPr algn="ctr" eaLnBrk="0" hangingPunct="0"/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A, B, C</a:t>
              </a:r>
            </a:p>
          </p:txBody>
        </p:sp>
        <p:sp>
          <p:nvSpPr>
            <p:cNvPr id="27655" name="Rectangle 7"/>
            <p:cNvSpPr>
              <a:spLocks noChangeArrowheads="1"/>
            </p:cNvSpPr>
            <p:nvPr/>
          </p:nvSpPr>
          <p:spPr bwMode="auto">
            <a:xfrm>
              <a:off x="432" y="2784"/>
              <a:ext cx="1392" cy="432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Calculate</a:t>
              </a:r>
            </a:p>
            <a:p>
              <a:pPr algn="ctr" eaLnBrk="0" hangingPunct="0"/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R = SQRT(B</a:t>
              </a:r>
              <a:r>
                <a:rPr lang="en-US" b="1" baseline="30000">
                  <a:solidFill>
                    <a:schemeClr val="bg2"/>
                  </a:solidFill>
                  <a:latin typeface="Trebuchet MS" pitchFamily="34" charset="0"/>
                </a:rPr>
                <a:t>2</a:t>
              </a:r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-4AC)</a:t>
              </a:r>
            </a:p>
          </p:txBody>
        </p:sp>
        <p:sp>
          <p:nvSpPr>
            <p:cNvPr id="49160" name="Oval 8"/>
            <p:cNvSpPr>
              <a:spLocks noChangeArrowheads="1"/>
            </p:cNvSpPr>
            <p:nvPr/>
          </p:nvSpPr>
          <p:spPr bwMode="auto">
            <a:xfrm>
              <a:off x="912" y="3456"/>
              <a:ext cx="432" cy="378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rebuchet MS" pitchFamily="34" charset="0"/>
                </a:rPr>
                <a:t>A</a:t>
              </a:r>
            </a:p>
          </p:txBody>
        </p:sp>
        <p:sp>
          <p:nvSpPr>
            <p:cNvPr id="49161" name="Oval 9"/>
            <p:cNvSpPr>
              <a:spLocks noChangeArrowheads="1"/>
            </p:cNvSpPr>
            <p:nvPr/>
          </p:nvSpPr>
          <p:spPr bwMode="auto">
            <a:xfrm>
              <a:off x="3264" y="1344"/>
              <a:ext cx="432" cy="378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fol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1">
                  <a:solidFill>
                    <a:schemeClr val="bg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rebuchet MS" pitchFamily="34" charset="0"/>
                </a:rPr>
                <a:t>A</a:t>
              </a:r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2784" y="1968"/>
              <a:ext cx="1488" cy="576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X1 = (-B+R)/(2A)</a:t>
              </a:r>
            </a:p>
            <a:p>
              <a:pPr algn="ctr" eaLnBrk="0" hangingPunct="0"/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X2 = (-B-R)/(2A)</a:t>
              </a:r>
            </a:p>
          </p:txBody>
        </p:sp>
        <p:sp>
          <p:nvSpPr>
            <p:cNvPr id="27659" name="AutoShape 11"/>
            <p:cNvSpPr>
              <a:spLocks noChangeArrowheads="1"/>
            </p:cNvSpPr>
            <p:nvPr/>
          </p:nvSpPr>
          <p:spPr bwMode="auto">
            <a:xfrm>
              <a:off x="2784" y="2784"/>
              <a:ext cx="1488" cy="576"/>
            </a:xfrm>
            <a:prstGeom prst="parallelogram">
              <a:avLst>
                <a:gd name="adj" fmla="val 28476"/>
              </a:avLst>
            </a:prstGeom>
            <a:solidFill>
              <a:srgbClr val="99CCFF"/>
            </a:solidFill>
            <a:ln w="3810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PRINT</a:t>
              </a:r>
            </a:p>
            <a:p>
              <a:pPr algn="ctr" eaLnBrk="0" hangingPunct="0"/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A, B, C, X1, X2</a:t>
              </a:r>
            </a:p>
          </p:txBody>
        </p:sp>
        <p:sp>
          <p:nvSpPr>
            <p:cNvPr id="27660" name="AutoShape 12"/>
            <p:cNvSpPr>
              <a:spLocks noChangeArrowheads="1"/>
            </p:cNvSpPr>
            <p:nvPr/>
          </p:nvSpPr>
          <p:spPr bwMode="auto">
            <a:xfrm>
              <a:off x="3024" y="3600"/>
              <a:ext cx="912" cy="336"/>
            </a:xfrm>
            <a:prstGeom prst="roundRect">
              <a:avLst>
                <a:gd name="adj" fmla="val 50000"/>
              </a:avLst>
            </a:prstGeom>
            <a:solidFill>
              <a:srgbClr val="99CCFF"/>
            </a:solidFill>
            <a:ln w="38100">
              <a:solidFill>
                <a:schemeClr val="fol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b="1">
                  <a:solidFill>
                    <a:schemeClr val="bg2"/>
                  </a:solidFill>
                  <a:latin typeface="Trebuchet MS" pitchFamily="34" charset="0"/>
                </a:rPr>
                <a:t>END</a:t>
              </a:r>
            </a:p>
          </p:txBody>
        </p:sp>
        <p:sp>
          <p:nvSpPr>
            <p:cNvPr id="27661" name="Line 13"/>
            <p:cNvSpPr>
              <a:spLocks noChangeShapeType="1"/>
            </p:cNvSpPr>
            <p:nvPr/>
          </p:nvSpPr>
          <p:spPr bwMode="auto">
            <a:xfrm>
              <a:off x="1104" y="1824"/>
              <a:ext cx="0" cy="24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2" name="Line 14"/>
            <p:cNvSpPr>
              <a:spLocks noChangeShapeType="1"/>
            </p:cNvSpPr>
            <p:nvPr/>
          </p:nvSpPr>
          <p:spPr bwMode="auto">
            <a:xfrm>
              <a:off x="1104" y="2496"/>
              <a:ext cx="0" cy="288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>
              <a:off x="1104" y="3216"/>
              <a:ext cx="0" cy="24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4" name="Line 16"/>
            <p:cNvSpPr>
              <a:spLocks noChangeShapeType="1"/>
            </p:cNvSpPr>
            <p:nvPr/>
          </p:nvSpPr>
          <p:spPr bwMode="auto">
            <a:xfrm>
              <a:off x="3456" y="3360"/>
              <a:ext cx="0" cy="24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3456" y="2544"/>
              <a:ext cx="0" cy="24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>
              <a:off x="3456" y="1728"/>
              <a:ext cx="0" cy="24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" name="~PP444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8692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Flow Charting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143000"/>
          </a:xfrm>
        </p:spPr>
        <p:txBody>
          <a:bodyPr>
            <a:normAutofit lnSpcReduction="10000"/>
          </a:bodyPr>
          <a:lstStyle/>
          <a:p>
            <a:pPr algn="ctr" eaLnBrk="1" hangingPunct="1">
              <a:buFontTx/>
              <a:buNone/>
            </a:pPr>
            <a:r>
              <a:rPr lang="en-US" sz="3600" smtClean="0">
                <a:solidFill>
                  <a:schemeClr val="accent2"/>
                </a:solidFill>
              </a:rPr>
              <a:t>Expresses the flow of processing in a structured pictorial format.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3886200" y="3352800"/>
            <a:ext cx="2133600" cy="762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CC0000"/>
                </a:solidFill>
              </a:rPr>
              <a:t>Processing </a:t>
            </a:r>
          </a:p>
          <a:p>
            <a:pPr algn="ctr"/>
            <a:r>
              <a:rPr lang="en-US" sz="2000" b="1">
                <a:solidFill>
                  <a:srgbClr val="CC0000"/>
                </a:solidFill>
              </a:rPr>
              <a:t>Steps</a:t>
            </a:r>
          </a:p>
        </p:txBody>
      </p:sp>
      <p:sp>
        <p:nvSpPr>
          <p:cNvPr id="40965" name="AutoShape 5"/>
          <p:cNvSpPr>
            <a:spLocks noChangeArrowheads="1"/>
          </p:cNvSpPr>
          <p:nvPr/>
        </p:nvSpPr>
        <p:spPr bwMode="auto">
          <a:xfrm>
            <a:off x="838200" y="3352800"/>
            <a:ext cx="2667000" cy="762000"/>
          </a:xfrm>
          <a:prstGeom prst="flowChartInputOutpu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CC0000"/>
                </a:solidFill>
              </a:rPr>
              <a:t>Input and </a:t>
            </a:r>
          </a:p>
          <a:p>
            <a:pPr algn="ctr"/>
            <a:r>
              <a:rPr lang="en-US" sz="2000" b="1">
                <a:solidFill>
                  <a:srgbClr val="CC0000"/>
                </a:solidFill>
              </a:rPr>
              <a:t>Output Steps</a:t>
            </a:r>
          </a:p>
        </p:txBody>
      </p:sp>
      <p:sp>
        <p:nvSpPr>
          <p:cNvPr id="40966" name="AutoShape 6"/>
          <p:cNvSpPr>
            <a:spLocks noChangeArrowheads="1"/>
          </p:cNvSpPr>
          <p:nvPr/>
        </p:nvSpPr>
        <p:spPr bwMode="auto">
          <a:xfrm>
            <a:off x="1143000" y="4724400"/>
            <a:ext cx="1752600" cy="1295400"/>
          </a:xfrm>
          <a:prstGeom prst="flowChartDecision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CC0000"/>
                </a:solidFill>
              </a:rPr>
              <a:t>Decision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7239000" y="2971800"/>
            <a:ext cx="1066800" cy="1235075"/>
            <a:chOff x="4560" y="1872"/>
            <a:chExt cx="672" cy="778"/>
          </a:xfrm>
        </p:grpSpPr>
        <p:sp>
          <p:nvSpPr>
            <p:cNvPr id="28684" name="Line 8"/>
            <p:cNvSpPr>
              <a:spLocks noChangeShapeType="1"/>
            </p:cNvSpPr>
            <p:nvPr/>
          </p:nvSpPr>
          <p:spPr bwMode="auto">
            <a:xfrm>
              <a:off x="4560" y="1872"/>
              <a:ext cx="0" cy="7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85" name="Text Box 9"/>
            <p:cNvSpPr txBox="1">
              <a:spLocks noChangeArrowheads="1"/>
            </p:cNvSpPr>
            <p:nvPr/>
          </p:nvSpPr>
          <p:spPr bwMode="auto">
            <a:xfrm>
              <a:off x="4704" y="2016"/>
              <a:ext cx="528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/>
                <a:t>Flow of data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629400" y="5029200"/>
            <a:ext cx="1676400" cy="777875"/>
            <a:chOff x="4176" y="3168"/>
            <a:chExt cx="1056" cy="490"/>
          </a:xfrm>
        </p:grpSpPr>
        <p:sp>
          <p:nvSpPr>
            <p:cNvPr id="28682" name="AutoShape 11"/>
            <p:cNvSpPr>
              <a:spLocks noChangeArrowheads="1"/>
            </p:cNvSpPr>
            <p:nvPr/>
          </p:nvSpPr>
          <p:spPr bwMode="auto">
            <a:xfrm>
              <a:off x="4608" y="3168"/>
              <a:ext cx="192" cy="192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83" name="Text Box 12"/>
            <p:cNvSpPr txBox="1">
              <a:spLocks noChangeArrowheads="1"/>
            </p:cNvSpPr>
            <p:nvPr/>
          </p:nvSpPr>
          <p:spPr bwMode="auto">
            <a:xfrm>
              <a:off x="4176" y="3408"/>
              <a:ext cx="105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b="1"/>
                <a:t>Connectors</a:t>
              </a:r>
            </a:p>
          </p:txBody>
        </p:sp>
      </p:grpSp>
      <p:sp>
        <p:nvSpPr>
          <p:cNvPr id="40973" name="AutoShape 13"/>
          <p:cNvSpPr>
            <a:spLocks noChangeArrowheads="1"/>
          </p:cNvSpPr>
          <p:nvPr/>
        </p:nvSpPr>
        <p:spPr bwMode="auto">
          <a:xfrm>
            <a:off x="4191000" y="5105400"/>
            <a:ext cx="1600200" cy="609600"/>
          </a:xfrm>
          <a:prstGeom prst="flowChartTerminator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CC0000"/>
                </a:solidFill>
              </a:rPr>
              <a:t>Terminator</a:t>
            </a:r>
          </a:p>
        </p:txBody>
      </p:sp>
      <p:pic>
        <p:nvPicPr>
          <p:cNvPr id="14" name="~PP734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1250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35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  <p:bldLst>
      <p:bldP spid="40963" grpId="0" build="p"/>
      <p:bldP spid="40964" grpId="0" animBg="1"/>
      <p:bldP spid="40965" grpId="0" animBg="1"/>
      <p:bldP spid="40966" grpId="0" animBg="1"/>
      <p:bldP spid="4097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5562600" y="304800"/>
            <a:ext cx="3429000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>
                <a:solidFill>
                  <a:schemeClr val="tx2"/>
                </a:solidFill>
              </a:rPr>
              <a:t>Flow chart for Converting Fahrenheit into Celsius</a:t>
            </a:r>
          </a:p>
        </p:txBody>
      </p:sp>
      <p:sp>
        <p:nvSpPr>
          <p:cNvPr id="41987" name="AutoShape 3"/>
          <p:cNvSpPr>
            <a:spLocks noChangeArrowheads="1"/>
          </p:cNvSpPr>
          <p:nvPr/>
        </p:nvSpPr>
        <p:spPr bwMode="auto">
          <a:xfrm>
            <a:off x="1600200" y="1371600"/>
            <a:ext cx="3505200" cy="533400"/>
          </a:xfrm>
          <a:prstGeom prst="flowChartInputOutpu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CC0000"/>
                </a:solidFill>
              </a:rPr>
              <a:t>Get temp. in ‘F’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447800" y="2971800"/>
            <a:ext cx="3505200" cy="914400"/>
            <a:chOff x="912" y="1872"/>
            <a:chExt cx="2208" cy="576"/>
          </a:xfrm>
        </p:grpSpPr>
        <p:sp>
          <p:nvSpPr>
            <p:cNvPr id="2065" name="Line 5"/>
            <p:cNvSpPr>
              <a:spLocks noChangeShapeType="1"/>
            </p:cNvSpPr>
            <p:nvPr/>
          </p:nvSpPr>
          <p:spPr bwMode="auto">
            <a:xfrm>
              <a:off x="2112" y="1872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6" name="AutoShape 6"/>
            <p:cNvSpPr>
              <a:spLocks noChangeArrowheads="1"/>
            </p:cNvSpPr>
            <p:nvPr/>
          </p:nvSpPr>
          <p:spPr bwMode="auto">
            <a:xfrm>
              <a:off x="912" y="2112"/>
              <a:ext cx="2208" cy="336"/>
            </a:xfrm>
            <a:prstGeom prst="flowChartInputOutpu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Print ‘C’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447800" y="1752600"/>
            <a:ext cx="3810000" cy="1333500"/>
            <a:chOff x="912" y="1152"/>
            <a:chExt cx="2400" cy="840"/>
          </a:xfrm>
        </p:grpSpPr>
        <p:grpSp>
          <p:nvGrpSpPr>
            <p:cNvPr id="4" name="Group 8"/>
            <p:cNvGrpSpPr>
              <a:grpSpLocks/>
            </p:cNvGrpSpPr>
            <p:nvPr/>
          </p:nvGrpSpPr>
          <p:grpSpPr bwMode="auto">
            <a:xfrm>
              <a:off x="912" y="1152"/>
              <a:ext cx="2400" cy="720"/>
              <a:chOff x="1536" y="1536"/>
              <a:chExt cx="2400" cy="528"/>
            </a:xfrm>
          </p:grpSpPr>
          <p:sp>
            <p:nvSpPr>
              <p:cNvPr id="2063" name="Line 9"/>
              <p:cNvSpPr>
                <a:spLocks noChangeShapeType="1"/>
              </p:cNvSpPr>
              <p:nvPr/>
            </p:nvSpPr>
            <p:spPr bwMode="auto">
              <a:xfrm>
                <a:off x="2736" y="1536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4" name="AutoShape 10"/>
              <p:cNvSpPr>
                <a:spLocks noChangeArrowheads="1"/>
              </p:cNvSpPr>
              <p:nvPr/>
            </p:nvSpPr>
            <p:spPr bwMode="auto">
              <a:xfrm>
                <a:off x="1536" y="1776"/>
                <a:ext cx="2400" cy="288"/>
              </a:xfrm>
              <a:prstGeom prst="flowChartProcess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r>
                  <a:rPr lang="en-US" sz="2000" b="1">
                    <a:solidFill>
                      <a:srgbClr val="CC0000"/>
                    </a:solidFill>
                  </a:rPr>
                  <a:t>   Calculate  </a:t>
                </a:r>
              </a:p>
            </p:txBody>
          </p:sp>
        </p:grpSp>
        <p:graphicFrame>
          <p:nvGraphicFramePr>
            <p:cNvPr id="2050" name="Object 11"/>
            <p:cNvGraphicFramePr>
              <a:graphicFrameLocks noChangeAspect="1"/>
            </p:cNvGraphicFramePr>
            <p:nvPr/>
          </p:nvGraphicFramePr>
          <p:xfrm>
            <a:off x="2160" y="1602"/>
            <a:ext cx="952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6" imgW="30880440" imgH="12588840" progId="Equation.3">
                    <p:embed/>
                  </p:oleObj>
                </mc:Choice>
                <mc:Fallback>
                  <p:oleObj name="Equation" r:id="rId6" imgW="30880440" imgH="1258884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0" y="1602"/>
                          <a:ext cx="952" cy="3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tx1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2743200" y="3886200"/>
            <a:ext cx="1143000" cy="1219200"/>
            <a:chOff x="1728" y="2112"/>
            <a:chExt cx="720" cy="768"/>
          </a:xfrm>
        </p:grpSpPr>
        <p:sp>
          <p:nvSpPr>
            <p:cNvPr id="2060" name="AutoShape 13"/>
            <p:cNvSpPr>
              <a:spLocks noChangeArrowheads="1"/>
            </p:cNvSpPr>
            <p:nvPr/>
          </p:nvSpPr>
          <p:spPr bwMode="auto">
            <a:xfrm>
              <a:off x="1728" y="2496"/>
              <a:ext cx="720" cy="384"/>
            </a:xfrm>
            <a:prstGeom prst="flowChartTermina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Stop</a:t>
              </a:r>
            </a:p>
          </p:txBody>
        </p:sp>
        <p:sp>
          <p:nvSpPr>
            <p:cNvPr id="2061" name="Line 14"/>
            <p:cNvSpPr>
              <a:spLocks noChangeShapeType="1"/>
            </p:cNvSpPr>
            <p:nvPr/>
          </p:nvSpPr>
          <p:spPr bwMode="auto">
            <a:xfrm>
              <a:off x="2112" y="2112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2743200" y="152400"/>
            <a:ext cx="1042988" cy="1131888"/>
            <a:chOff x="4640" y="528"/>
            <a:chExt cx="657" cy="713"/>
          </a:xfrm>
        </p:grpSpPr>
        <p:sp>
          <p:nvSpPr>
            <p:cNvPr id="2058" name="AutoShape 16"/>
            <p:cNvSpPr>
              <a:spLocks noChangeArrowheads="1"/>
            </p:cNvSpPr>
            <p:nvPr/>
          </p:nvSpPr>
          <p:spPr bwMode="auto">
            <a:xfrm>
              <a:off x="4640" y="528"/>
              <a:ext cx="657" cy="357"/>
            </a:xfrm>
            <a:prstGeom prst="flowChartTermina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00"/>
                  </a:solidFill>
                </a:rPr>
                <a:t>Begin</a:t>
              </a:r>
            </a:p>
          </p:txBody>
        </p:sp>
        <p:sp>
          <p:nvSpPr>
            <p:cNvPr id="2059" name="Line 17"/>
            <p:cNvSpPr>
              <a:spLocks noChangeShapeType="1"/>
            </p:cNvSpPr>
            <p:nvPr/>
          </p:nvSpPr>
          <p:spPr bwMode="auto">
            <a:xfrm flipV="1">
              <a:off x="4990" y="885"/>
              <a:ext cx="0" cy="3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57" name="Line 18"/>
          <p:cNvSpPr>
            <a:spLocks noChangeShapeType="1"/>
          </p:cNvSpPr>
          <p:nvPr/>
        </p:nvSpPr>
        <p:spPr bwMode="auto">
          <a:xfrm>
            <a:off x="3276600" y="762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~PP3642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158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2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  <p:bldLst>
      <p:bldP spid="4198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AutoShape 2"/>
          <p:cNvSpPr>
            <a:spLocks noChangeArrowheads="1"/>
          </p:cNvSpPr>
          <p:nvPr/>
        </p:nvSpPr>
        <p:spPr bwMode="auto">
          <a:xfrm>
            <a:off x="1447800" y="304800"/>
            <a:ext cx="3810000" cy="838200"/>
          </a:xfrm>
          <a:prstGeom prst="flowChartInputOutpu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>
                <a:solidFill>
                  <a:srgbClr val="CC0000"/>
                </a:solidFill>
              </a:rPr>
              <a:t>Get bread, butter, </a:t>
            </a:r>
          </a:p>
          <a:p>
            <a:pPr algn="ctr"/>
            <a:r>
              <a:rPr lang="en-US" sz="2000" b="1">
                <a:solidFill>
                  <a:srgbClr val="CC0000"/>
                </a:solidFill>
              </a:rPr>
              <a:t>jam, knife, and plate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447800" y="1143000"/>
            <a:ext cx="3810000" cy="1295400"/>
            <a:chOff x="1536" y="720"/>
            <a:chExt cx="2400" cy="816"/>
          </a:xfrm>
        </p:grpSpPr>
        <p:sp>
          <p:nvSpPr>
            <p:cNvPr id="29723" name="Line 4"/>
            <p:cNvSpPr>
              <a:spLocks noChangeShapeType="1"/>
            </p:cNvSpPr>
            <p:nvPr/>
          </p:nvSpPr>
          <p:spPr bwMode="auto">
            <a:xfrm>
              <a:off x="2736" y="720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4" name="AutoShape 5"/>
            <p:cNvSpPr>
              <a:spLocks noChangeArrowheads="1"/>
            </p:cNvSpPr>
            <p:nvPr/>
          </p:nvSpPr>
          <p:spPr bwMode="auto">
            <a:xfrm>
              <a:off x="1536" y="1104"/>
              <a:ext cx="2400" cy="432"/>
            </a:xfrm>
            <a:prstGeom prst="flowChartProces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Put two slices of </a:t>
              </a:r>
            </a:p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bread on the plate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447800" y="2438400"/>
            <a:ext cx="3810000" cy="838200"/>
            <a:chOff x="1536" y="1536"/>
            <a:chExt cx="2400" cy="528"/>
          </a:xfrm>
        </p:grpSpPr>
        <p:sp>
          <p:nvSpPr>
            <p:cNvPr id="29721" name="Line 7"/>
            <p:cNvSpPr>
              <a:spLocks noChangeShapeType="1"/>
            </p:cNvSpPr>
            <p:nvPr/>
          </p:nvSpPr>
          <p:spPr bwMode="auto">
            <a:xfrm>
              <a:off x="2736" y="153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AutoShape 8"/>
            <p:cNvSpPr>
              <a:spLocks noChangeArrowheads="1"/>
            </p:cNvSpPr>
            <p:nvPr/>
          </p:nvSpPr>
          <p:spPr bwMode="auto">
            <a:xfrm>
              <a:off x="1536" y="1776"/>
              <a:ext cx="2400" cy="288"/>
            </a:xfrm>
            <a:prstGeom prst="flowChartProces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Spread butter on one slice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447800" y="3276600"/>
            <a:ext cx="3810000" cy="914400"/>
            <a:chOff x="1536" y="2064"/>
            <a:chExt cx="2400" cy="576"/>
          </a:xfrm>
        </p:grpSpPr>
        <p:sp>
          <p:nvSpPr>
            <p:cNvPr id="29719" name="Line 10"/>
            <p:cNvSpPr>
              <a:spLocks noChangeShapeType="1"/>
            </p:cNvSpPr>
            <p:nvPr/>
          </p:nvSpPr>
          <p:spPr bwMode="auto">
            <a:xfrm>
              <a:off x="2736" y="206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0" name="AutoShape 11"/>
            <p:cNvSpPr>
              <a:spLocks noChangeArrowheads="1"/>
            </p:cNvSpPr>
            <p:nvPr/>
          </p:nvSpPr>
          <p:spPr bwMode="auto">
            <a:xfrm>
              <a:off x="1536" y="2304"/>
              <a:ext cx="2400" cy="336"/>
            </a:xfrm>
            <a:prstGeom prst="flowChartProces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Spread Jam on the other slice</a:t>
              </a:r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447800" y="4191000"/>
            <a:ext cx="3810000" cy="990600"/>
            <a:chOff x="1536" y="2640"/>
            <a:chExt cx="2400" cy="624"/>
          </a:xfrm>
        </p:grpSpPr>
        <p:sp>
          <p:nvSpPr>
            <p:cNvPr id="29717" name="Line 13"/>
            <p:cNvSpPr>
              <a:spLocks noChangeShapeType="1"/>
            </p:cNvSpPr>
            <p:nvPr/>
          </p:nvSpPr>
          <p:spPr bwMode="auto">
            <a:xfrm>
              <a:off x="2736" y="2640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8" name="AutoShape 14"/>
            <p:cNvSpPr>
              <a:spLocks noChangeArrowheads="1"/>
            </p:cNvSpPr>
            <p:nvPr/>
          </p:nvSpPr>
          <p:spPr bwMode="auto">
            <a:xfrm>
              <a:off x="1536" y="2880"/>
              <a:ext cx="2400" cy="384"/>
            </a:xfrm>
            <a:prstGeom prst="flowChartProces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Put the two slices together, </a:t>
              </a:r>
            </a:p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sticky side in</a:t>
              </a:r>
            </a:p>
          </p:txBody>
        </p: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1905000" y="5181600"/>
            <a:ext cx="2895600" cy="1295400"/>
            <a:chOff x="1824" y="3264"/>
            <a:chExt cx="1824" cy="816"/>
          </a:xfrm>
        </p:grpSpPr>
        <p:sp>
          <p:nvSpPr>
            <p:cNvPr id="29715" name="Line 16"/>
            <p:cNvSpPr>
              <a:spLocks noChangeShapeType="1"/>
            </p:cNvSpPr>
            <p:nvPr/>
          </p:nvSpPr>
          <p:spPr bwMode="auto">
            <a:xfrm>
              <a:off x="2736" y="326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6" name="AutoShape 17"/>
            <p:cNvSpPr>
              <a:spLocks noChangeArrowheads="1"/>
            </p:cNvSpPr>
            <p:nvPr/>
          </p:nvSpPr>
          <p:spPr bwMode="auto">
            <a:xfrm>
              <a:off x="1824" y="3504"/>
              <a:ext cx="1824" cy="576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Want another?</a:t>
              </a:r>
            </a:p>
          </p:txBody>
        </p:sp>
      </p:grpSp>
      <p:grpSp>
        <p:nvGrpSpPr>
          <p:cNvPr id="7" name="Group 18"/>
          <p:cNvGrpSpPr>
            <a:grpSpLocks/>
          </p:cNvGrpSpPr>
          <p:nvPr/>
        </p:nvGrpSpPr>
        <p:grpSpPr bwMode="auto">
          <a:xfrm>
            <a:off x="457200" y="1524000"/>
            <a:ext cx="2895600" cy="4495800"/>
            <a:chOff x="912" y="960"/>
            <a:chExt cx="1824" cy="2832"/>
          </a:xfrm>
        </p:grpSpPr>
        <p:sp>
          <p:nvSpPr>
            <p:cNvPr id="29711" name="Line 19"/>
            <p:cNvSpPr>
              <a:spLocks noChangeShapeType="1"/>
            </p:cNvSpPr>
            <p:nvPr/>
          </p:nvSpPr>
          <p:spPr bwMode="auto">
            <a:xfrm flipH="1">
              <a:off x="912" y="379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2" name="Line 20"/>
            <p:cNvSpPr>
              <a:spLocks noChangeShapeType="1"/>
            </p:cNvSpPr>
            <p:nvPr/>
          </p:nvSpPr>
          <p:spPr bwMode="auto">
            <a:xfrm flipV="1">
              <a:off x="912" y="960"/>
              <a:ext cx="0" cy="28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3" name="Line 21"/>
            <p:cNvSpPr>
              <a:spLocks noChangeShapeType="1"/>
            </p:cNvSpPr>
            <p:nvPr/>
          </p:nvSpPr>
          <p:spPr bwMode="auto">
            <a:xfrm>
              <a:off x="912" y="960"/>
              <a:ext cx="18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14" name="Text Box 22"/>
            <p:cNvSpPr txBox="1">
              <a:spLocks noChangeArrowheads="1"/>
            </p:cNvSpPr>
            <p:nvPr/>
          </p:nvSpPr>
          <p:spPr bwMode="auto">
            <a:xfrm>
              <a:off x="1296" y="3542"/>
              <a:ext cx="62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Yes</a:t>
              </a: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4800600" y="5638800"/>
            <a:ext cx="2209800" cy="685800"/>
            <a:chOff x="3648" y="3552"/>
            <a:chExt cx="1392" cy="432"/>
          </a:xfrm>
        </p:grpSpPr>
        <p:sp>
          <p:nvSpPr>
            <p:cNvPr id="29707" name="Line 24"/>
            <p:cNvSpPr>
              <a:spLocks noChangeShapeType="1"/>
            </p:cNvSpPr>
            <p:nvPr/>
          </p:nvSpPr>
          <p:spPr bwMode="auto">
            <a:xfrm>
              <a:off x="3648" y="379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25"/>
            <p:cNvGrpSpPr>
              <a:grpSpLocks/>
            </p:cNvGrpSpPr>
            <p:nvPr/>
          </p:nvGrpSpPr>
          <p:grpSpPr bwMode="auto">
            <a:xfrm>
              <a:off x="3744" y="3552"/>
              <a:ext cx="1296" cy="432"/>
              <a:chOff x="3744" y="3552"/>
              <a:chExt cx="1296" cy="432"/>
            </a:xfrm>
          </p:grpSpPr>
          <p:sp>
            <p:nvSpPr>
              <p:cNvPr id="29709" name="AutoShape 26"/>
              <p:cNvSpPr>
                <a:spLocks noChangeArrowheads="1"/>
              </p:cNvSpPr>
              <p:nvPr/>
            </p:nvSpPr>
            <p:spPr bwMode="auto">
              <a:xfrm>
                <a:off x="4320" y="3600"/>
                <a:ext cx="720" cy="384"/>
              </a:xfrm>
              <a:prstGeom prst="flowChartTerminator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b="1">
                    <a:solidFill>
                      <a:srgbClr val="CC0000"/>
                    </a:solidFill>
                  </a:rPr>
                  <a:t>Stop</a:t>
                </a:r>
              </a:p>
            </p:txBody>
          </p:sp>
          <p:sp>
            <p:nvSpPr>
              <p:cNvPr id="29710" name="Text Box 27"/>
              <p:cNvSpPr txBox="1">
                <a:spLocks noChangeArrowheads="1"/>
              </p:cNvSpPr>
              <p:nvPr/>
            </p:nvSpPr>
            <p:spPr bwMode="auto">
              <a:xfrm>
                <a:off x="3744" y="3552"/>
                <a:ext cx="62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1"/>
                  <a:t>No</a:t>
                </a:r>
              </a:p>
            </p:txBody>
          </p:sp>
        </p:grpSp>
      </p:grpSp>
      <p:sp>
        <p:nvSpPr>
          <p:cNvPr id="29706" name="Text Box 28"/>
          <p:cNvSpPr txBox="1">
            <a:spLocks noChangeArrowheads="1"/>
          </p:cNvSpPr>
          <p:nvPr/>
        </p:nvSpPr>
        <p:spPr bwMode="auto">
          <a:xfrm>
            <a:off x="5410200" y="304800"/>
            <a:ext cx="3429000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>
                <a:solidFill>
                  <a:schemeClr val="tx2"/>
                </a:solidFill>
              </a:rPr>
              <a:t>Flow chart for preparing a butter and jam sandwich</a:t>
            </a:r>
          </a:p>
        </p:txBody>
      </p:sp>
      <p:pic>
        <p:nvPicPr>
          <p:cNvPr id="29" name="~PP1336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4268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39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  <p:bldLst>
      <p:bldP spid="430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447800" y="1295400"/>
            <a:ext cx="3810000" cy="838200"/>
            <a:chOff x="1536" y="1536"/>
            <a:chExt cx="2400" cy="528"/>
          </a:xfrm>
        </p:grpSpPr>
        <p:sp>
          <p:nvSpPr>
            <p:cNvPr id="30746" name="Line 3"/>
            <p:cNvSpPr>
              <a:spLocks noChangeShapeType="1"/>
            </p:cNvSpPr>
            <p:nvPr/>
          </p:nvSpPr>
          <p:spPr bwMode="auto">
            <a:xfrm>
              <a:off x="2736" y="1536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7" name="AutoShape 4"/>
            <p:cNvSpPr>
              <a:spLocks noChangeArrowheads="1"/>
            </p:cNvSpPr>
            <p:nvPr/>
          </p:nvSpPr>
          <p:spPr bwMode="auto">
            <a:xfrm>
              <a:off x="1536" y="1776"/>
              <a:ext cx="2400" cy="288"/>
            </a:xfrm>
            <a:prstGeom prst="flowChartProces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Add them together</a:t>
              </a:r>
            </a:p>
          </p:txBody>
        </p:sp>
      </p:grp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1447800" y="2057400"/>
            <a:ext cx="3810000" cy="914400"/>
            <a:chOff x="1536" y="2064"/>
            <a:chExt cx="2400" cy="576"/>
          </a:xfrm>
        </p:grpSpPr>
        <p:sp>
          <p:nvSpPr>
            <p:cNvPr id="30744" name="Line 6"/>
            <p:cNvSpPr>
              <a:spLocks noChangeShapeType="1"/>
            </p:cNvSpPr>
            <p:nvPr/>
          </p:nvSpPr>
          <p:spPr bwMode="auto">
            <a:xfrm>
              <a:off x="2736" y="206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5" name="AutoShape 7"/>
            <p:cNvSpPr>
              <a:spLocks noChangeArrowheads="1"/>
            </p:cNvSpPr>
            <p:nvPr/>
          </p:nvSpPr>
          <p:spPr bwMode="auto">
            <a:xfrm>
              <a:off x="1536" y="2304"/>
              <a:ext cx="2400" cy="336"/>
            </a:xfrm>
            <a:prstGeom prst="flowChartProces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Divide the result by three</a:t>
              </a:r>
            </a:p>
          </p:txBody>
        </p:sp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1905000" y="3657600"/>
            <a:ext cx="2895600" cy="2209800"/>
            <a:chOff x="1824" y="3264"/>
            <a:chExt cx="1824" cy="816"/>
          </a:xfrm>
        </p:grpSpPr>
        <p:sp>
          <p:nvSpPr>
            <p:cNvPr id="30742" name="Line 9"/>
            <p:cNvSpPr>
              <a:spLocks noChangeShapeType="1"/>
            </p:cNvSpPr>
            <p:nvPr/>
          </p:nvSpPr>
          <p:spPr bwMode="auto">
            <a:xfrm>
              <a:off x="2736" y="326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3" name="AutoShape 10"/>
            <p:cNvSpPr>
              <a:spLocks noChangeArrowheads="1"/>
            </p:cNvSpPr>
            <p:nvPr/>
          </p:nvSpPr>
          <p:spPr bwMode="auto">
            <a:xfrm>
              <a:off x="1824" y="3504"/>
              <a:ext cx="1824" cy="576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More students?</a:t>
              </a:r>
            </a:p>
          </p:txBody>
        </p:sp>
      </p:grp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457200" y="609600"/>
            <a:ext cx="2895600" cy="4495800"/>
            <a:chOff x="912" y="960"/>
            <a:chExt cx="1824" cy="2832"/>
          </a:xfrm>
        </p:grpSpPr>
        <p:sp>
          <p:nvSpPr>
            <p:cNvPr id="30738" name="Line 12"/>
            <p:cNvSpPr>
              <a:spLocks noChangeShapeType="1"/>
            </p:cNvSpPr>
            <p:nvPr/>
          </p:nvSpPr>
          <p:spPr bwMode="auto">
            <a:xfrm flipH="1">
              <a:off x="912" y="3792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9" name="Line 13"/>
            <p:cNvSpPr>
              <a:spLocks noChangeShapeType="1"/>
            </p:cNvSpPr>
            <p:nvPr/>
          </p:nvSpPr>
          <p:spPr bwMode="auto">
            <a:xfrm flipV="1">
              <a:off x="912" y="960"/>
              <a:ext cx="0" cy="28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0" name="Line 14"/>
            <p:cNvSpPr>
              <a:spLocks noChangeShapeType="1"/>
            </p:cNvSpPr>
            <p:nvPr/>
          </p:nvSpPr>
          <p:spPr bwMode="auto">
            <a:xfrm>
              <a:off x="912" y="960"/>
              <a:ext cx="18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Text Box 15"/>
            <p:cNvSpPr txBox="1">
              <a:spLocks noChangeArrowheads="1"/>
            </p:cNvSpPr>
            <p:nvPr/>
          </p:nvSpPr>
          <p:spPr bwMode="auto">
            <a:xfrm>
              <a:off x="1296" y="3542"/>
              <a:ext cx="62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/>
                <a:t>Yes</a:t>
              </a:r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4800600" y="4724400"/>
            <a:ext cx="2209800" cy="685800"/>
            <a:chOff x="3648" y="3552"/>
            <a:chExt cx="1392" cy="432"/>
          </a:xfrm>
        </p:grpSpPr>
        <p:sp>
          <p:nvSpPr>
            <p:cNvPr id="30734" name="Line 17"/>
            <p:cNvSpPr>
              <a:spLocks noChangeShapeType="1"/>
            </p:cNvSpPr>
            <p:nvPr/>
          </p:nvSpPr>
          <p:spPr bwMode="auto">
            <a:xfrm>
              <a:off x="3648" y="3792"/>
              <a:ext cx="6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3744" y="3552"/>
              <a:ext cx="1296" cy="432"/>
              <a:chOff x="3744" y="3552"/>
              <a:chExt cx="1296" cy="432"/>
            </a:xfrm>
          </p:grpSpPr>
          <p:sp>
            <p:nvSpPr>
              <p:cNvPr id="30736" name="AutoShape 19"/>
              <p:cNvSpPr>
                <a:spLocks noChangeArrowheads="1"/>
              </p:cNvSpPr>
              <p:nvPr/>
            </p:nvSpPr>
            <p:spPr bwMode="auto">
              <a:xfrm>
                <a:off x="4320" y="3600"/>
                <a:ext cx="720" cy="384"/>
              </a:xfrm>
              <a:prstGeom prst="flowChartTerminator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00" b="1">
                    <a:solidFill>
                      <a:srgbClr val="CC0000"/>
                    </a:solidFill>
                  </a:rPr>
                  <a:t>Stop</a:t>
                </a:r>
              </a:p>
            </p:txBody>
          </p:sp>
          <p:sp>
            <p:nvSpPr>
              <p:cNvPr id="30737" name="Text Box 20"/>
              <p:cNvSpPr txBox="1">
                <a:spLocks noChangeArrowheads="1"/>
              </p:cNvSpPr>
              <p:nvPr/>
            </p:nvSpPr>
            <p:spPr bwMode="auto">
              <a:xfrm>
                <a:off x="3744" y="3552"/>
                <a:ext cx="624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000" b="1"/>
                  <a:t>No</a:t>
                </a:r>
              </a:p>
            </p:txBody>
          </p:sp>
        </p:grpSp>
      </p:grpSp>
      <p:sp>
        <p:nvSpPr>
          <p:cNvPr id="30727" name="Text Box 21"/>
          <p:cNvSpPr txBox="1">
            <a:spLocks noChangeArrowheads="1"/>
          </p:cNvSpPr>
          <p:nvPr/>
        </p:nvSpPr>
        <p:spPr bwMode="auto">
          <a:xfrm>
            <a:off x="5562600" y="304800"/>
            <a:ext cx="3429000" cy="228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>
                <a:solidFill>
                  <a:schemeClr val="tx2"/>
                </a:solidFill>
              </a:rPr>
              <a:t>Flow chart for calculating average of three scores</a:t>
            </a: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1600200" y="228600"/>
            <a:ext cx="3505200" cy="1143000"/>
            <a:chOff x="1008" y="144"/>
            <a:chExt cx="2208" cy="720"/>
          </a:xfrm>
        </p:grpSpPr>
        <p:sp>
          <p:nvSpPr>
            <p:cNvPr id="30732" name="Line 23"/>
            <p:cNvSpPr>
              <a:spLocks noChangeShapeType="1"/>
            </p:cNvSpPr>
            <p:nvPr/>
          </p:nvSpPr>
          <p:spPr bwMode="auto">
            <a:xfrm>
              <a:off x="2112" y="144"/>
              <a:ext cx="0" cy="38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3" name="AutoShape 24"/>
            <p:cNvSpPr>
              <a:spLocks noChangeArrowheads="1"/>
            </p:cNvSpPr>
            <p:nvPr/>
          </p:nvSpPr>
          <p:spPr bwMode="auto">
            <a:xfrm>
              <a:off x="1008" y="528"/>
              <a:ext cx="2208" cy="336"/>
            </a:xfrm>
            <a:prstGeom prst="flowChartInputOutpu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Get three scores</a:t>
              </a:r>
            </a:p>
          </p:txBody>
        </p:sp>
      </p:grpSp>
      <p:grpSp>
        <p:nvGrpSpPr>
          <p:cNvPr id="9" name="Group 25"/>
          <p:cNvGrpSpPr>
            <a:grpSpLocks/>
          </p:cNvGrpSpPr>
          <p:nvPr/>
        </p:nvGrpSpPr>
        <p:grpSpPr bwMode="auto">
          <a:xfrm>
            <a:off x="1447800" y="2971800"/>
            <a:ext cx="3505200" cy="914400"/>
            <a:chOff x="912" y="1872"/>
            <a:chExt cx="2208" cy="576"/>
          </a:xfrm>
        </p:grpSpPr>
        <p:sp>
          <p:nvSpPr>
            <p:cNvPr id="30730" name="Line 26"/>
            <p:cNvSpPr>
              <a:spLocks noChangeShapeType="1"/>
            </p:cNvSpPr>
            <p:nvPr/>
          </p:nvSpPr>
          <p:spPr bwMode="auto">
            <a:xfrm>
              <a:off x="2112" y="1872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31" name="AutoShape 27"/>
            <p:cNvSpPr>
              <a:spLocks noChangeArrowheads="1"/>
            </p:cNvSpPr>
            <p:nvPr/>
          </p:nvSpPr>
          <p:spPr bwMode="auto">
            <a:xfrm>
              <a:off x="912" y="2112"/>
              <a:ext cx="2208" cy="336"/>
            </a:xfrm>
            <a:prstGeom prst="flowChartInputOutpu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rgbClr val="CC0000"/>
                  </a:solidFill>
                </a:rPr>
                <a:t>Print the average</a:t>
              </a:r>
            </a:p>
          </p:txBody>
        </p:sp>
      </p:grpSp>
      <p:pic>
        <p:nvPicPr>
          <p:cNvPr id="28" name="~PP3778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2284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35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AutoShape 2"/>
          <p:cNvSpPr>
            <a:spLocks noChangeArrowheads="1"/>
          </p:cNvSpPr>
          <p:nvPr/>
        </p:nvSpPr>
        <p:spPr bwMode="auto">
          <a:xfrm>
            <a:off x="969963" y="909638"/>
            <a:ext cx="3476625" cy="495300"/>
          </a:xfrm>
          <a:prstGeom prst="flowChartInputOutpu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CC0000"/>
                </a:solidFill>
              </a:rPr>
              <a:t>Get Password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179513" y="1333500"/>
            <a:ext cx="2641600" cy="1557338"/>
            <a:chOff x="1824" y="3264"/>
            <a:chExt cx="1824" cy="816"/>
          </a:xfrm>
        </p:grpSpPr>
        <p:sp>
          <p:nvSpPr>
            <p:cNvPr id="31786" name="Line 4"/>
            <p:cNvSpPr>
              <a:spLocks noChangeShapeType="1"/>
            </p:cNvSpPr>
            <p:nvPr/>
          </p:nvSpPr>
          <p:spPr bwMode="auto">
            <a:xfrm>
              <a:off x="2736" y="326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7" name="AutoShape 5"/>
            <p:cNvSpPr>
              <a:spLocks noChangeArrowheads="1"/>
            </p:cNvSpPr>
            <p:nvPr/>
          </p:nvSpPr>
          <p:spPr bwMode="auto">
            <a:xfrm>
              <a:off x="1824" y="3504"/>
              <a:ext cx="1824" cy="576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00"/>
                  </a:solidFill>
                </a:rPr>
                <a:t>Is Password</a:t>
              </a:r>
            </a:p>
            <a:p>
              <a:pPr algn="ctr"/>
              <a:r>
                <a:rPr lang="en-US" b="1">
                  <a:solidFill>
                    <a:srgbClr val="CC0000"/>
                  </a:solidFill>
                </a:rPr>
                <a:t>Correct?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762000" y="2805113"/>
            <a:ext cx="3475038" cy="933450"/>
            <a:chOff x="480" y="1767"/>
            <a:chExt cx="2189" cy="588"/>
          </a:xfrm>
        </p:grpSpPr>
        <p:sp>
          <p:nvSpPr>
            <p:cNvPr id="31783" name="AutoShape 7"/>
            <p:cNvSpPr>
              <a:spLocks noChangeArrowheads="1"/>
            </p:cNvSpPr>
            <p:nvPr/>
          </p:nvSpPr>
          <p:spPr bwMode="auto">
            <a:xfrm>
              <a:off x="480" y="2043"/>
              <a:ext cx="2189" cy="312"/>
            </a:xfrm>
            <a:prstGeom prst="flowChartInputOutpu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00"/>
                  </a:solidFill>
                </a:rPr>
                <a:t>Get amount</a:t>
              </a:r>
            </a:p>
          </p:txBody>
        </p:sp>
        <p:sp>
          <p:nvSpPr>
            <p:cNvPr id="31784" name="Line 8"/>
            <p:cNvSpPr>
              <a:spLocks noChangeShapeType="1"/>
            </p:cNvSpPr>
            <p:nvPr/>
          </p:nvSpPr>
          <p:spPr bwMode="auto">
            <a:xfrm>
              <a:off x="1575" y="1821"/>
              <a:ext cx="0" cy="22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5" name="Text Box 9"/>
            <p:cNvSpPr txBox="1">
              <a:spLocks noChangeArrowheads="1"/>
            </p:cNvSpPr>
            <p:nvPr/>
          </p:nvSpPr>
          <p:spPr bwMode="auto">
            <a:xfrm>
              <a:off x="1662" y="1767"/>
              <a:ext cx="57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Yes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179513" y="3668713"/>
            <a:ext cx="2641600" cy="1555750"/>
            <a:chOff x="1824" y="3264"/>
            <a:chExt cx="1824" cy="816"/>
          </a:xfrm>
        </p:grpSpPr>
        <p:sp>
          <p:nvSpPr>
            <p:cNvPr id="31781" name="Line 11"/>
            <p:cNvSpPr>
              <a:spLocks noChangeShapeType="1"/>
            </p:cNvSpPr>
            <p:nvPr/>
          </p:nvSpPr>
          <p:spPr bwMode="auto">
            <a:xfrm>
              <a:off x="2736" y="326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2" name="AutoShape 12"/>
            <p:cNvSpPr>
              <a:spLocks noChangeArrowheads="1"/>
            </p:cNvSpPr>
            <p:nvPr/>
          </p:nvSpPr>
          <p:spPr bwMode="auto">
            <a:xfrm>
              <a:off x="1824" y="3504"/>
              <a:ext cx="1824" cy="576"/>
            </a:xfrm>
            <a:prstGeom prst="flowChartDecision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00"/>
                  </a:solidFill>
                </a:rPr>
                <a:t>Is amount &lt;</a:t>
              </a:r>
            </a:p>
            <a:p>
              <a:pPr algn="ctr"/>
              <a:r>
                <a:rPr lang="en-US" b="1">
                  <a:solidFill>
                    <a:srgbClr val="CC0000"/>
                  </a:solidFill>
                </a:rPr>
                <a:t>Balance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3751263" y="1900238"/>
            <a:ext cx="2849562" cy="777875"/>
            <a:chOff x="2363" y="1197"/>
            <a:chExt cx="1795" cy="490"/>
          </a:xfrm>
        </p:grpSpPr>
        <p:sp>
          <p:nvSpPr>
            <p:cNvPr id="31778" name="Line 14"/>
            <p:cNvSpPr>
              <a:spLocks noChangeShapeType="1"/>
            </p:cNvSpPr>
            <p:nvPr/>
          </p:nvSpPr>
          <p:spPr bwMode="auto">
            <a:xfrm>
              <a:off x="2363" y="1464"/>
              <a:ext cx="39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9" name="Text Box 15"/>
            <p:cNvSpPr txBox="1">
              <a:spLocks noChangeArrowheads="1"/>
            </p:cNvSpPr>
            <p:nvPr/>
          </p:nvSpPr>
          <p:spPr bwMode="auto">
            <a:xfrm>
              <a:off x="2451" y="1197"/>
              <a:ext cx="56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No</a:t>
              </a:r>
            </a:p>
          </p:txBody>
        </p:sp>
        <p:sp>
          <p:nvSpPr>
            <p:cNvPr id="31780" name="AutoShape 16"/>
            <p:cNvSpPr>
              <a:spLocks noChangeArrowheads="1"/>
            </p:cNvSpPr>
            <p:nvPr/>
          </p:nvSpPr>
          <p:spPr bwMode="auto">
            <a:xfrm>
              <a:off x="2582" y="1286"/>
              <a:ext cx="1576" cy="401"/>
            </a:xfrm>
            <a:prstGeom prst="flowChartInputOutpu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00"/>
                  </a:solidFill>
                </a:rPr>
                <a:t>Generate </a:t>
              </a:r>
            </a:p>
            <a:p>
              <a:pPr algn="ctr"/>
              <a:r>
                <a:rPr lang="en-US" b="1">
                  <a:solidFill>
                    <a:srgbClr val="CC0000"/>
                  </a:solidFill>
                </a:rPr>
                <a:t>Error Message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3751263" y="4233863"/>
            <a:ext cx="2919412" cy="779462"/>
            <a:chOff x="2363" y="2667"/>
            <a:chExt cx="1839" cy="491"/>
          </a:xfrm>
        </p:grpSpPr>
        <p:sp>
          <p:nvSpPr>
            <p:cNvPr id="31775" name="Line 18"/>
            <p:cNvSpPr>
              <a:spLocks noChangeShapeType="1"/>
            </p:cNvSpPr>
            <p:nvPr/>
          </p:nvSpPr>
          <p:spPr bwMode="auto">
            <a:xfrm>
              <a:off x="2363" y="2935"/>
              <a:ext cx="4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6" name="Text Box 19"/>
            <p:cNvSpPr txBox="1">
              <a:spLocks noChangeArrowheads="1"/>
            </p:cNvSpPr>
            <p:nvPr/>
          </p:nvSpPr>
          <p:spPr bwMode="auto">
            <a:xfrm>
              <a:off x="2451" y="2667"/>
              <a:ext cx="56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No</a:t>
              </a:r>
            </a:p>
          </p:txBody>
        </p:sp>
        <p:sp>
          <p:nvSpPr>
            <p:cNvPr id="31777" name="AutoShape 20"/>
            <p:cNvSpPr>
              <a:spLocks noChangeArrowheads="1"/>
            </p:cNvSpPr>
            <p:nvPr/>
          </p:nvSpPr>
          <p:spPr bwMode="auto">
            <a:xfrm>
              <a:off x="2626" y="2757"/>
              <a:ext cx="1576" cy="401"/>
            </a:xfrm>
            <a:prstGeom prst="flowChartInputOutpu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00"/>
                  </a:solidFill>
                </a:rPr>
                <a:t>Generate </a:t>
              </a:r>
            </a:p>
            <a:p>
              <a:pPr algn="ctr"/>
              <a:r>
                <a:rPr lang="en-US" b="1">
                  <a:solidFill>
                    <a:srgbClr val="CC0000"/>
                  </a:solidFill>
                </a:rPr>
                <a:t>Error Message</a:t>
              </a: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1219200" y="5105400"/>
            <a:ext cx="2514600" cy="1289050"/>
            <a:chOff x="768" y="3216"/>
            <a:chExt cx="1584" cy="812"/>
          </a:xfrm>
        </p:grpSpPr>
        <p:sp>
          <p:nvSpPr>
            <p:cNvPr id="31772" name="Line 22"/>
            <p:cNvSpPr>
              <a:spLocks noChangeShapeType="1"/>
            </p:cNvSpPr>
            <p:nvPr/>
          </p:nvSpPr>
          <p:spPr bwMode="auto">
            <a:xfrm>
              <a:off x="1575" y="3216"/>
              <a:ext cx="0" cy="31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3" name="AutoShape 23"/>
            <p:cNvSpPr>
              <a:spLocks noChangeArrowheads="1"/>
            </p:cNvSpPr>
            <p:nvPr/>
          </p:nvSpPr>
          <p:spPr bwMode="auto">
            <a:xfrm>
              <a:off x="768" y="3552"/>
              <a:ext cx="1584" cy="476"/>
            </a:xfrm>
            <a:prstGeom prst="flowChartProcess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00"/>
                  </a:solidFill>
                </a:rPr>
                <a:t>Subtract amount </a:t>
              </a:r>
            </a:p>
            <a:p>
              <a:pPr algn="ctr"/>
              <a:r>
                <a:rPr lang="en-US" b="1">
                  <a:solidFill>
                    <a:srgbClr val="CC0000"/>
                  </a:solidFill>
                </a:rPr>
                <a:t>from balance</a:t>
              </a:r>
            </a:p>
          </p:txBody>
        </p:sp>
        <p:sp>
          <p:nvSpPr>
            <p:cNvPr id="31774" name="Text Box 24"/>
            <p:cNvSpPr txBox="1">
              <a:spLocks noChangeArrowheads="1"/>
            </p:cNvSpPr>
            <p:nvPr/>
          </p:nvSpPr>
          <p:spPr bwMode="auto">
            <a:xfrm>
              <a:off x="1662" y="3238"/>
              <a:ext cx="57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/>
                <a:t>Yes</a:t>
              </a:r>
            </a:p>
          </p:txBody>
        </p:sp>
      </p:grpSp>
      <p:grpSp>
        <p:nvGrpSpPr>
          <p:cNvPr id="8" name="Group 25"/>
          <p:cNvGrpSpPr>
            <a:grpSpLocks/>
          </p:cNvGrpSpPr>
          <p:nvPr/>
        </p:nvGrpSpPr>
        <p:grpSpPr bwMode="auto">
          <a:xfrm>
            <a:off x="5280025" y="2678113"/>
            <a:ext cx="2851150" cy="3433762"/>
            <a:chOff x="3326" y="1687"/>
            <a:chExt cx="1796" cy="2163"/>
          </a:xfrm>
        </p:grpSpPr>
        <p:sp>
          <p:nvSpPr>
            <p:cNvPr id="31764" name="AutoShape 26"/>
            <p:cNvSpPr>
              <a:spLocks noChangeArrowheads="1"/>
            </p:cNvSpPr>
            <p:nvPr/>
          </p:nvSpPr>
          <p:spPr bwMode="auto">
            <a:xfrm>
              <a:off x="4859" y="2043"/>
              <a:ext cx="263" cy="268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9" name="Group 27"/>
            <p:cNvGrpSpPr>
              <a:grpSpLocks/>
            </p:cNvGrpSpPr>
            <p:nvPr/>
          </p:nvGrpSpPr>
          <p:grpSpPr bwMode="auto">
            <a:xfrm>
              <a:off x="3326" y="1687"/>
              <a:ext cx="1666" cy="2163"/>
              <a:chOff x="3326" y="1687"/>
              <a:chExt cx="1666" cy="2163"/>
            </a:xfrm>
          </p:grpSpPr>
          <p:sp>
            <p:nvSpPr>
              <p:cNvPr id="31766" name="Line 28"/>
              <p:cNvSpPr>
                <a:spLocks noChangeShapeType="1"/>
              </p:cNvSpPr>
              <p:nvPr/>
            </p:nvSpPr>
            <p:spPr bwMode="auto">
              <a:xfrm>
                <a:off x="3326" y="1687"/>
                <a:ext cx="0" cy="53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7" name="Line 29"/>
              <p:cNvSpPr>
                <a:spLocks noChangeShapeType="1"/>
              </p:cNvSpPr>
              <p:nvPr/>
            </p:nvSpPr>
            <p:spPr bwMode="auto">
              <a:xfrm flipV="1">
                <a:off x="3326" y="2177"/>
                <a:ext cx="1533" cy="4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8" name="Line 30"/>
              <p:cNvSpPr>
                <a:spLocks noChangeShapeType="1"/>
              </p:cNvSpPr>
              <p:nvPr/>
            </p:nvSpPr>
            <p:spPr bwMode="auto">
              <a:xfrm>
                <a:off x="4027" y="2979"/>
                <a:ext cx="48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9" name="Line 31"/>
              <p:cNvSpPr>
                <a:spLocks noChangeShapeType="1"/>
              </p:cNvSpPr>
              <p:nvPr/>
            </p:nvSpPr>
            <p:spPr bwMode="auto">
              <a:xfrm flipV="1">
                <a:off x="4509" y="2266"/>
                <a:ext cx="438" cy="713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0" name="Line 32"/>
              <p:cNvSpPr>
                <a:spLocks noChangeShapeType="1"/>
              </p:cNvSpPr>
              <p:nvPr/>
            </p:nvSpPr>
            <p:spPr bwMode="auto">
              <a:xfrm>
                <a:off x="4512" y="3840"/>
                <a:ext cx="478" cy="1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71" name="Line 33"/>
              <p:cNvSpPr>
                <a:spLocks noChangeShapeType="1"/>
              </p:cNvSpPr>
              <p:nvPr/>
            </p:nvSpPr>
            <p:spPr bwMode="auto">
              <a:xfrm flipH="1" flipV="1">
                <a:off x="4990" y="2311"/>
                <a:ext cx="2" cy="152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7366000" y="838200"/>
            <a:ext cx="1042988" cy="1131888"/>
            <a:chOff x="4640" y="528"/>
            <a:chExt cx="657" cy="713"/>
          </a:xfrm>
        </p:grpSpPr>
        <p:sp>
          <p:nvSpPr>
            <p:cNvPr id="31762" name="AutoShape 35"/>
            <p:cNvSpPr>
              <a:spLocks noChangeArrowheads="1"/>
            </p:cNvSpPr>
            <p:nvPr/>
          </p:nvSpPr>
          <p:spPr bwMode="auto">
            <a:xfrm>
              <a:off x="4640" y="528"/>
              <a:ext cx="657" cy="357"/>
            </a:xfrm>
            <a:prstGeom prst="flowChartTerminator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00"/>
                  </a:solidFill>
                </a:rPr>
                <a:t>Stop</a:t>
              </a:r>
            </a:p>
          </p:txBody>
        </p:sp>
        <p:sp>
          <p:nvSpPr>
            <p:cNvPr id="31763" name="Line 36"/>
            <p:cNvSpPr>
              <a:spLocks noChangeShapeType="1"/>
            </p:cNvSpPr>
            <p:nvPr/>
          </p:nvSpPr>
          <p:spPr bwMode="auto">
            <a:xfrm flipV="1">
              <a:off x="4990" y="885"/>
              <a:ext cx="0" cy="3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37"/>
          <p:cNvGrpSpPr>
            <a:grpSpLocks/>
          </p:cNvGrpSpPr>
          <p:nvPr/>
        </p:nvGrpSpPr>
        <p:grpSpPr bwMode="auto">
          <a:xfrm>
            <a:off x="7088188" y="1970088"/>
            <a:ext cx="1598612" cy="1273175"/>
            <a:chOff x="4465" y="1241"/>
            <a:chExt cx="1007" cy="802"/>
          </a:xfrm>
        </p:grpSpPr>
        <p:sp>
          <p:nvSpPr>
            <p:cNvPr id="31760" name="Line 38"/>
            <p:cNvSpPr>
              <a:spLocks noChangeShapeType="1"/>
            </p:cNvSpPr>
            <p:nvPr/>
          </p:nvSpPr>
          <p:spPr bwMode="auto">
            <a:xfrm flipV="1">
              <a:off x="4990" y="1642"/>
              <a:ext cx="0" cy="40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1" name="AutoShape 39"/>
            <p:cNvSpPr>
              <a:spLocks noChangeArrowheads="1"/>
            </p:cNvSpPr>
            <p:nvPr/>
          </p:nvSpPr>
          <p:spPr bwMode="auto">
            <a:xfrm>
              <a:off x="4465" y="1241"/>
              <a:ext cx="1007" cy="401"/>
            </a:xfrm>
            <a:prstGeom prst="flowChartInputOutpu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>
                  <a:solidFill>
                    <a:srgbClr val="CC0000"/>
                  </a:solidFill>
                </a:rPr>
                <a:t>Return </a:t>
              </a:r>
            </a:p>
            <a:p>
              <a:pPr algn="ctr"/>
              <a:r>
                <a:rPr lang="en-US" sz="1600" b="1">
                  <a:solidFill>
                    <a:srgbClr val="CC0000"/>
                  </a:solidFill>
                </a:rPr>
                <a:t>ATM card</a:t>
              </a:r>
            </a:p>
          </p:txBody>
        </p:sp>
      </p:grpSp>
      <p:sp>
        <p:nvSpPr>
          <p:cNvPr id="31756" name="Rectangle 40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762000"/>
          </a:xfrm>
          <a:noFill/>
        </p:spPr>
        <p:txBody>
          <a:bodyPr/>
          <a:lstStyle/>
          <a:p>
            <a:pPr eaLnBrk="1" hangingPunct="1"/>
            <a:r>
              <a:rPr lang="en-US" smtClean="0"/>
              <a:t>ATM cash withdrawal process</a:t>
            </a:r>
          </a:p>
        </p:txBody>
      </p:sp>
      <p:grpSp>
        <p:nvGrpSpPr>
          <p:cNvPr id="12" name="Group 41"/>
          <p:cNvGrpSpPr>
            <a:grpSpLocks/>
          </p:cNvGrpSpPr>
          <p:nvPr/>
        </p:nvGrpSpPr>
        <p:grpSpPr bwMode="auto">
          <a:xfrm>
            <a:off x="3581400" y="5829300"/>
            <a:ext cx="4008438" cy="495300"/>
            <a:chOff x="2256" y="3672"/>
            <a:chExt cx="2525" cy="312"/>
          </a:xfrm>
        </p:grpSpPr>
        <p:sp>
          <p:nvSpPr>
            <p:cNvPr id="31758" name="AutoShape 42"/>
            <p:cNvSpPr>
              <a:spLocks noChangeArrowheads="1"/>
            </p:cNvSpPr>
            <p:nvPr/>
          </p:nvSpPr>
          <p:spPr bwMode="auto">
            <a:xfrm>
              <a:off x="2592" y="3672"/>
              <a:ext cx="2189" cy="312"/>
            </a:xfrm>
            <a:prstGeom prst="flowChartInputOutpu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CC0000"/>
                  </a:solidFill>
                </a:rPr>
                <a:t>Dispense cash</a:t>
              </a:r>
            </a:p>
          </p:txBody>
        </p:sp>
        <p:sp>
          <p:nvSpPr>
            <p:cNvPr id="31759" name="Line 43"/>
            <p:cNvSpPr>
              <a:spLocks noChangeShapeType="1"/>
            </p:cNvSpPr>
            <p:nvPr/>
          </p:nvSpPr>
          <p:spPr bwMode="auto">
            <a:xfrm>
              <a:off x="2256" y="3792"/>
              <a:ext cx="5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4" name="~PP1209.WAV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advTm="3832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51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</p:childTnLst>
        </p:cTn>
      </p:par>
    </p:tnLst>
    <p:bldLst>
      <p:bldP spid="4505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114800" y="990600"/>
            <a:ext cx="2362200" cy="4800600"/>
            <a:chOff x="2352" y="912"/>
            <a:chExt cx="1488" cy="3024"/>
          </a:xfrm>
        </p:grpSpPr>
        <p:sp>
          <p:nvSpPr>
            <p:cNvPr id="46083" name="AutoShape 3"/>
            <p:cNvSpPr>
              <a:spLocks noChangeArrowheads="1"/>
            </p:cNvSpPr>
            <p:nvPr/>
          </p:nvSpPr>
          <p:spPr bwMode="auto">
            <a:xfrm>
              <a:off x="2592" y="912"/>
              <a:ext cx="912" cy="33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Trebuchet MS" pitchFamily="34" charset="0"/>
                </a:rPr>
                <a:t>START</a:t>
              </a:r>
            </a:p>
          </p:txBody>
        </p:sp>
        <p:sp>
          <p:nvSpPr>
            <p:cNvPr id="46084" name="AutoShape 4"/>
            <p:cNvSpPr>
              <a:spLocks noChangeArrowheads="1"/>
            </p:cNvSpPr>
            <p:nvPr/>
          </p:nvSpPr>
          <p:spPr bwMode="auto">
            <a:xfrm>
              <a:off x="2400" y="1488"/>
              <a:ext cx="1248" cy="432"/>
            </a:xfrm>
            <a:prstGeom prst="parallelogram">
              <a:avLst>
                <a:gd name="adj" fmla="val 41207"/>
              </a:avLst>
            </a:prstGeom>
            <a:solidFill>
              <a:srgbClr val="00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Trebuchet MS" pitchFamily="34" charset="0"/>
                </a:rPr>
                <a:t>INPUT</a:t>
              </a:r>
              <a:r>
                <a:rPr lang="en-US" b="1">
                  <a:effectLst>
                    <a:outerShdw blurRad="38100" dist="38100" dir="2700000" algn="tl">
                      <a:srgbClr val="FFFFFF"/>
                    </a:outerShdw>
                  </a:effectLst>
                  <a:latin typeface="Trebuchet MS" pitchFamily="34" charset="0"/>
                </a:rPr>
                <a:t> </a:t>
              </a:r>
            </a:p>
            <a:p>
              <a:pPr algn="ctr" eaLnBrk="0" hangingPunct="0">
                <a:defRPr/>
              </a:pPr>
              <a:r>
                <a: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Trebuchet MS" pitchFamily="34" charset="0"/>
                </a:rPr>
                <a:t>A, B</a:t>
              </a:r>
            </a:p>
          </p:txBody>
        </p:sp>
        <p:sp>
          <p:nvSpPr>
            <p:cNvPr id="46085" name="Rectangle 5"/>
            <p:cNvSpPr>
              <a:spLocks noChangeArrowheads="1"/>
            </p:cNvSpPr>
            <p:nvPr/>
          </p:nvSpPr>
          <p:spPr bwMode="auto">
            <a:xfrm>
              <a:off x="2352" y="2208"/>
              <a:ext cx="1488" cy="480"/>
            </a:xfrm>
            <a:prstGeom prst="rect">
              <a:avLst/>
            </a:prstGeom>
            <a:solidFill>
              <a:srgbClr val="00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Trebuchet MS" pitchFamily="34" charset="0"/>
                </a:rPr>
                <a:t>Add A to B </a:t>
              </a:r>
            </a:p>
            <a:p>
              <a:pPr algn="ctr" eaLnBrk="0" hangingPunct="0">
                <a:defRPr/>
              </a:pPr>
              <a:r>
                <a: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Trebuchet MS" pitchFamily="34" charset="0"/>
                </a:rPr>
                <a:t>and store in C</a:t>
              </a:r>
            </a:p>
          </p:txBody>
        </p:sp>
        <p:sp>
          <p:nvSpPr>
            <p:cNvPr id="46086" name="AutoShape 6"/>
            <p:cNvSpPr>
              <a:spLocks noChangeArrowheads="1"/>
            </p:cNvSpPr>
            <p:nvPr/>
          </p:nvSpPr>
          <p:spPr bwMode="auto">
            <a:xfrm>
              <a:off x="2496" y="2928"/>
              <a:ext cx="1104" cy="432"/>
            </a:xfrm>
            <a:prstGeom prst="parallelogram">
              <a:avLst>
                <a:gd name="adj" fmla="val 28170"/>
              </a:avLst>
            </a:prstGeom>
            <a:solidFill>
              <a:srgbClr val="0000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Trebuchet MS" pitchFamily="34" charset="0"/>
                </a:rPr>
                <a:t>OUTPUT</a:t>
              </a:r>
            </a:p>
            <a:p>
              <a:pPr algn="ctr" eaLnBrk="0" hangingPunct="0">
                <a:defRPr/>
              </a:pPr>
              <a:r>
                <a: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Trebuchet MS" pitchFamily="34" charset="0"/>
                </a:rPr>
                <a:t> C</a:t>
              </a:r>
            </a:p>
          </p:txBody>
        </p:sp>
        <p:sp>
          <p:nvSpPr>
            <p:cNvPr id="46087" name="AutoShape 7"/>
            <p:cNvSpPr>
              <a:spLocks noChangeArrowheads="1"/>
            </p:cNvSpPr>
            <p:nvPr/>
          </p:nvSpPr>
          <p:spPr bwMode="auto">
            <a:xfrm>
              <a:off x="2592" y="3600"/>
              <a:ext cx="912" cy="336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defRPr/>
              </a:pPr>
              <a:r>
                <a:rPr lang="en-US" b="1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  <a:latin typeface="Trebuchet MS" pitchFamily="34" charset="0"/>
                </a:rPr>
                <a:t>END</a:t>
              </a:r>
            </a:p>
          </p:txBody>
        </p:sp>
        <p:sp>
          <p:nvSpPr>
            <p:cNvPr id="32782" name="Line 8"/>
            <p:cNvSpPr>
              <a:spLocks noChangeShapeType="1"/>
            </p:cNvSpPr>
            <p:nvPr/>
          </p:nvSpPr>
          <p:spPr bwMode="auto">
            <a:xfrm>
              <a:off x="3024" y="1248"/>
              <a:ext cx="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3" name="Line 9"/>
            <p:cNvSpPr>
              <a:spLocks noChangeShapeType="1"/>
            </p:cNvSpPr>
            <p:nvPr/>
          </p:nvSpPr>
          <p:spPr bwMode="auto">
            <a:xfrm>
              <a:off x="3024" y="1920"/>
              <a:ext cx="0" cy="28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4" name="Line 10"/>
            <p:cNvSpPr>
              <a:spLocks noChangeShapeType="1"/>
            </p:cNvSpPr>
            <p:nvPr/>
          </p:nvSpPr>
          <p:spPr bwMode="auto">
            <a:xfrm>
              <a:off x="3024" y="3360"/>
              <a:ext cx="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785" name="Line 11"/>
            <p:cNvSpPr>
              <a:spLocks noChangeShapeType="1"/>
            </p:cNvSpPr>
            <p:nvPr/>
          </p:nvSpPr>
          <p:spPr bwMode="auto">
            <a:xfrm>
              <a:off x="3024" y="2688"/>
              <a:ext cx="0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771" name="Rectangle 12" descr="White marble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762000"/>
          </a:xfrm>
          <a:noFill/>
        </p:spPr>
        <p:txBody>
          <a:bodyPr/>
          <a:lstStyle/>
          <a:p>
            <a:pPr eaLnBrk="1" hangingPunct="1"/>
            <a:r>
              <a:rPr lang="en-US" sz="2800" smtClean="0">
                <a:solidFill>
                  <a:schemeClr val="tx1"/>
                </a:solidFill>
                <a:latin typeface="Trebuchet MS" pitchFamily="34" charset="0"/>
              </a:rPr>
              <a:t>Comparison of Algorithm, flowchart and Pseudo-code</a:t>
            </a:r>
          </a:p>
        </p:txBody>
      </p:sp>
      <p:sp>
        <p:nvSpPr>
          <p:cNvPr id="32772" name="Text Box 13"/>
          <p:cNvSpPr txBox="1">
            <a:spLocks noChangeArrowheads="1"/>
          </p:cNvSpPr>
          <p:nvPr/>
        </p:nvSpPr>
        <p:spPr bwMode="auto">
          <a:xfrm>
            <a:off x="228600" y="1054100"/>
            <a:ext cx="3359150" cy="4760913"/>
          </a:xfrm>
          <a:prstGeom prst="rect">
            <a:avLst/>
          </a:prstGeom>
          <a:solidFill>
            <a:srgbClr val="666633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bg1"/>
                </a:solidFill>
                <a:latin typeface="Trebuchet MS" pitchFamily="34" charset="0"/>
              </a:rPr>
              <a:t>Step 1: Begin the calculations</a:t>
            </a: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r>
              <a:rPr lang="en-US" b="1">
                <a:solidFill>
                  <a:schemeClr val="bg1"/>
                </a:solidFill>
                <a:latin typeface="Trebuchet MS" pitchFamily="34" charset="0"/>
              </a:rPr>
              <a:t>Step 2: Input values for the </a:t>
            </a:r>
          </a:p>
          <a:p>
            <a:pPr eaLnBrk="0" hangingPunct="0"/>
            <a:r>
              <a:rPr lang="en-US" b="1">
                <a:solidFill>
                  <a:schemeClr val="bg1"/>
                </a:solidFill>
                <a:latin typeface="Trebuchet MS" pitchFamily="34" charset="0"/>
              </a:rPr>
              <a:t>	variables A and B.</a:t>
            </a: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r>
              <a:rPr lang="en-US" b="1">
                <a:solidFill>
                  <a:schemeClr val="bg1"/>
                </a:solidFill>
                <a:latin typeface="Trebuchet MS" pitchFamily="34" charset="0"/>
              </a:rPr>
              <a:t>Step 3: Add the variables</a:t>
            </a: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r>
              <a:rPr lang="en-US" b="1">
                <a:solidFill>
                  <a:schemeClr val="bg1"/>
                </a:solidFill>
                <a:latin typeface="Trebuchet MS" pitchFamily="34" charset="0"/>
              </a:rPr>
              <a:t>Step 4: Output the results</a:t>
            </a: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endParaRPr lang="en-US" b="1">
              <a:solidFill>
                <a:schemeClr val="bg1"/>
              </a:solidFill>
              <a:latin typeface="Trebuchet MS" pitchFamily="34" charset="0"/>
            </a:endParaRPr>
          </a:p>
          <a:p>
            <a:pPr eaLnBrk="0" hangingPunct="0"/>
            <a:r>
              <a:rPr lang="en-US" b="1">
                <a:solidFill>
                  <a:schemeClr val="bg1"/>
                </a:solidFill>
                <a:latin typeface="Trebuchet MS" pitchFamily="34" charset="0"/>
              </a:rPr>
              <a:t>Step 6: End the calculation.</a:t>
            </a:r>
          </a:p>
        </p:txBody>
      </p:sp>
      <p:sp>
        <p:nvSpPr>
          <p:cNvPr id="32773" name="Text Box 14"/>
          <p:cNvSpPr txBox="1">
            <a:spLocks noChangeArrowheads="1"/>
          </p:cNvSpPr>
          <p:nvPr/>
        </p:nvSpPr>
        <p:spPr bwMode="auto">
          <a:xfrm>
            <a:off x="6781800" y="2438400"/>
            <a:ext cx="2168525" cy="1474788"/>
          </a:xfrm>
          <a:prstGeom prst="rect">
            <a:avLst/>
          </a:prstGeom>
          <a:solidFill>
            <a:schemeClr val="hlink"/>
          </a:solidFill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>
                <a:solidFill>
                  <a:schemeClr val="bg1"/>
                </a:solidFill>
                <a:latin typeface="Comic Sans MS" pitchFamily="66" charset="0"/>
              </a:rPr>
              <a:t>BEGIN Adder</a:t>
            </a:r>
          </a:p>
          <a:p>
            <a:pPr eaLnBrk="0" hangingPunct="0"/>
            <a:r>
              <a:rPr lang="en-US" b="1">
                <a:solidFill>
                  <a:schemeClr val="bg1"/>
                </a:solidFill>
                <a:latin typeface="Comic Sans MS" pitchFamily="66" charset="0"/>
              </a:rPr>
              <a:t>    Input A and B</a:t>
            </a:r>
          </a:p>
          <a:p>
            <a:pPr eaLnBrk="0" hangingPunct="0"/>
            <a:r>
              <a:rPr lang="en-US" b="1">
                <a:solidFill>
                  <a:schemeClr val="bg1"/>
                </a:solidFill>
                <a:latin typeface="Comic Sans MS" pitchFamily="66" charset="0"/>
              </a:rPr>
              <a:t>    C = A + B</a:t>
            </a:r>
          </a:p>
          <a:p>
            <a:pPr eaLnBrk="0" hangingPunct="0"/>
            <a:r>
              <a:rPr lang="en-US" b="1">
                <a:solidFill>
                  <a:schemeClr val="bg1"/>
                </a:solidFill>
                <a:latin typeface="Comic Sans MS" pitchFamily="66" charset="0"/>
              </a:rPr>
              <a:t>    PRINT C</a:t>
            </a:r>
          </a:p>
          <a:p>
            <a:pPr eaLnBrk="0" hangingPunct="0"/>
            <a:r>
              <a:rPr lang="en-US" b="1">
                <a:solidFill>
                  <a:schemeClr val="bg1"/>
                </a:solidFill>
                <a:latin typeface="Comic Sans MS" pitchFamily="66" charset="0"/>
              </a:rPr>
              <a:t>END Adder</a:t>
            </a:r>
          </a:p>
        </p:txBody>
      </p:sp>
      <p:sp>
        <p:nvSpPr>
          <p:cNvPr id="46095" name="Text Box 15"/>
          <p:cNvSpPr txBox="1">
            <a:spLocks noChangeArrowheads="1"/>
          </p:cNvSpPr>
          <p:nvPr/>
        </p:nvSpPr>
        <p:spPr bwMode="auto">
          <a:xfrm>
            <a:off x="838200" y="6019800"/>
            <a:ext cx="170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</a:rPr>
              <a:t>Algorithm</a:t>
            </a:r>
          </a:p>
        </p:txBody>
      </p:sp>
      <p:sp>
        <p:nvSpPr>
          <p:cNvPr id="46096" name="Text Box 16"/>
          <p:cNvSpPr txBox="1">
            <a:spLocks noChangeArrowheads="1"/>
          </p:cNvSpPr>
          <p:nvPr/>
        </p:nvSpPr>
        <p:spPr bwMode="auto">
          <a:xfrm>
            <a:off x="4165600" y="6019800"/>
            <a:ext cx="17113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</a:rPr>
              <a:t>Flowchart</a:t>
            </a:r>
          </a:p>
        </p:txBody>
      </p:sp>
      <p:sp>
        <p:nvSpPr>
          <p:cNvPr id="46097" name="Text Box 17"/>
          <p:cNvSpPr txBox="1">
            <a:spLocks noChangeArrowheads="1"/>
          </p:cNvSpPr>
          <p:nvPr/>
        </p:nvSpPr>
        <p:spPr bwMode="auto">
          <a:xfrm>
            <a:off x="6908800" y="6019800"/>
            <a:ext cx="2152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en-US" sz="2400" b="1"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</a:rPr>
              <a:t>Pseudo-code</a:t>
            </a:r>
          </a:p>
        </p:txBody>
      </p:sp>
      <p:pic>
        <p:nvPicPr>
          <p:cNvPr id="18" name="~PP2119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696325" y="6410325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advTm="7868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5|0.5|45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0.5|0.3|0.3|0.4|0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0.3|0.3|0.3|1.9|1.3|1|0.3|0.3|0.4|7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8|0.3|0.4|0.4|0.2|0.7|0.6|1.7|0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8|0.2|0.1|0.1|0.1|0.4|0.4|0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5|1.1|0.9|1.2|0.6|0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.2|0.4|0.4|0.4|0.4|7.2|29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5|0.5|1|0.6|1.5|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5|1.2|0.7|0.3|0.4|0.4|0.3|0.5|1|31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622</Words>
  <Application>Microsoft Office PowerPoint</Application>
  <PresentationFormat>On-screen Show (4:3)</PresentationFormat>
  <Paragraphs>199</Paragraphs>
  <Slides>16</Slides>
  <Notes>15</Notes>
  <HiddenSlides>0</HiddenSlides>
  <MMClips>16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Comic Sans MS</vt:lpstr>
      <vt:lpstr>Garamond</vt:lpstr>
      <vt:lpstr>Tahoma</vt:lpstr>
      <vt:lpstr>Trebuchet MS</vt:lpstr>
      <vt:lpstr>Wingdings</vt:lpstr>
      <vt:lpstr>Office Theme</vt:lpstr>
      <vt:lpstr>Equation</vt:lpstr>
      <vt:lpstr>Problem solving techniques and logic</vt:lpstr>
      <vt:lpstr>Problem Solving Techniques</vt:lpstr>
      <vt:lpstr>Conversion from Fahrenheit to Celsius</vt:lpstr>
      <vt:lpstr>Calculate and print the average grade of 3 tests for the entire class</vt:lpstr>
      <vt:lpstr>Algorithm Make a Jam and Butter Sandwich</vt:lpstr>
      <vt:lpstr>Algorithm  ATM for withdrawal</vt:lpstr>
      <vt:lpstr>ATM for withdrawal - Process</vt:lpstr>
      <vt:lpstr>Flow Charts</vt:lpstr>
      <vt:lpstr>Flowcharts – Most Common Symbols</vt:lpstr>
      <vt:lpstr>Flowcharts – An Example </vt:lpstr>
      <vt:lpstr>Flow Charting</vt:lpstr>
      <vt:lpstr>PowerPoint Presentation</vt:lpstr>
      <vt:lpstr>PowerPoint Presentation</vt:lpstr>
      <vt:lpstr>PowerPoint Presentation</vt:lpstr>
      <vt:lpstr>ATM cash withdrawal process</vt:lpstr>
      <vt:lpstr>Comparison of Algorithm, flowchart and Pseudo-code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techniques and logic</dc:title>
  <dc:creator>sadia tariq</dc:creator>
  <cp:lastModifiedBy>Microsoft account</cp:lastModifiedBy>
  <cp:revision>3</cp:revision>
  <dcterms:created xsi:type="dcterms:W3CDTF">2020-05-30T13:17:14Z</dcterms:created>
  <dcterms:modified xsi:type="dcterms:W3CDTF">2025-10-13T13:01:37Z</dcterms:modified>
</cp:coreProperties>
</file>