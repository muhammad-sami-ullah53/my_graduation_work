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06CFB-1896-4515-AB96-626512A7DE3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76EB-0F7F-4C7E-A7A8-9F6725226D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5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Remember flow charts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7085E9-2551-4796-A753-C08DE491ABA6}" type="slidenum">
              <a:rPr lang="en-US" smtClean="0"/>
              <a:pPr/>
              <a:t>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4079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6176EB-0F7F-4C7E-A7A8-9F6725226DA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64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CA458-1A71-4AC3-A6BB-7C68E93CDDFF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93686-1643-4283-AAF4-1A2E731D1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Control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Zainab Shahzadi</a:t>
            </a:r>
            <a:endParaRPr lang="en-US" dirty="0"/>
          </a:p>
        </p:txBody>
      </p:sp>
    </p:spTree>
  </p:cSld>
  <p:clrMapOvr>
    <a:masterClrMapping/>
  </p:clrMapOvr>
  <p:transition advTm="177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Control Structures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computer can proceed:</a:t>
            </a:r>
          </a:p>
          <a:p>
            <a:pPr lvl="1" eaLnBrk="1" hangingPunct="1"/>
            <a:r>
              <a:rPr lang="en-US" smtClean="0"/>
              <a:t>In sequence</a:t>
            </a:r>
          </a:p>
          <a:p>
            <a:pPr lvl="1" eaLnBrk="1" hangingPunct="1"/>
            <a:r>
              <a:rPr lang="en-US" smtClean="0"/>
              <a:t>Selectively (branch): making a choice</a:t>
            </a:r>
          </a:p>
          <a:p>
            <a:pPr lvl="1" eaLnBrk="1" hangingPunct="1"/>
            <a:r>
              <a:rPr lang="en-US" smtClean="0"/>
              <a:t>Repetitively (iteratively): looping</a:t>
            </a:r>
          </a:p>
          <a:p>
            <a:pPr eaLnBrk="1" hangingPunct="1"/>
            <a:r>
              <a:rPr lang="en-US" smtClean="0"/>
              <a:t>Some statements are executed only if certain conditions are met </a:t>
            </a:r>
          </a:p>
          <a:p>
            <a:pPr eaLnBrk="1" hangingPunct="1"/>
            <a:r>
              <a:rPr lang="en-US" smtClean="0"/>
              <a:t>A condition is met if it evaluates to </a:t>
            </a:r>
            <a:r>
              <a:rPr lang="en-US" smtClean="0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12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6CF3FE-73CC-4878-8B00-F0D1398225FB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6138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Control Structures (cont'd.)</a:t>
            </a:r>
          </a:p>
        </p:txBody>
      </p:sp>
      <p:sp>
        <p:nvSpPr>
          <p:cNvPr id="717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614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5D4FFF-0956-402C-9E32-5EEF10D92B84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57400"/>
            <a:ext cx="7010400" cy="416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4495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One-Way Selection (cont'd.)</a:t>
            </a:r>
          </a:p>
        </p:txBody>
      </p:sp>
      <p:sp>
        <p:nvSpPr>
          <p:cNvPr id="296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4B2DB5-C179-4FEA-A5FD-3110832836A9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7010400" cy="312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9252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One-Way Selection (cont'd.)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05B8AD-664A-474D-9396-F49F3E02343F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30725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752600"/>
            <a:ext cx="90995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345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One-Way Selection (cont'd.)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05D4BC-48F0-4406-BC00-25163090C577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32773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249363"/>
            <a:ext cx="7859712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3714750"/>
            <a:ext cx="8154988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2597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Two-Way Selection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76400"/>
            <a:ext cx="7772400" cy="4302125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Two-way selection takes the form: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</a:t>
            </a:r>
            <a:r>
              <a:rPr lang="en-US" sz="2400" dirty="0" smtClean="0">
                <a:latin typeface="Courier New" pitchFamily="49" charset="0"/>
              </a:rPr>
              <a:t>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latin typeface="Courier New" pitchFamily="49" charset="0"/>
              </a:rPr>
              <a:t>	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latin typeface="Courier New" pitchFamily="49" charset="0"/>
              </a:rPr>
              <a:t> 	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If expression is </a:t>
            </a:r>
            <a:r>
              <a:rPr lang="en-US" dirty="0" smtClean="0">
                <a:latin typeface="Courier New" pitchFamily="49" charset="0"/>
              </a:rPr>
              <a:t>true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statement1</a:t>
            </a:r>
            <a:r>
              <a:rPr lang="en-US" dirty="0" smtClean="0"/>
              <a:t> is executed; otherwise,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statement2</a:t>
            </a:r>
            <a:r>
              <a:rPr lang="en-US" dirty="0" smtClean="0"/>
              <a:t> is executed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statement1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statement2</a:t>
            </a:r>
            <a:r>
              <a:rPr lang="en-US" dirty="0" smtClean="0"/>
              <a:t> are any C++ statements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else</a:t>
            </a:r>
            <a:r>
              <a:rPr lang="en-US" dirty="0" smtClean="0"/>
              <a:t> is a reserved word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C++ Programming: Program Design Including Data Structures, Fifth Edition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174F27-0D6A-4132-9AD2-C82F3F96C4C5}" type="slidenum">
              <a:rPr lang="en-US" sz="120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sz="1200" smtClean="0">
              <a:solidFill>
                <a:srgbClr val="7F7F7F"/>
              </a:solidFill>
            </a:endParaRPr>
          </a:p>
        </p:txBody>
      </p:sp>
      <p:pic>
        <p:nvPicPr>
          <p:cNvPr id="33798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093913"/>
            <a:ext cx="2362200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0553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Two-Way Selection (cont'd.)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76FD9D-D142-42FC-96B1-D11A33528F78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09813"/>
            <a:ext cx="701040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8531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Two-Way Selection (cont'd.)</a:t>
            </a:r>
          </a:p>
        </p:txBody>
      </p:sp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3584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A4DF36-6B32-417B-B281-EA8C7FCF9459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35845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11288"/>
            <a:ext cx="821531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53067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924800" cy="1143000"/>
          </a:xfrm>
        </p:spPr>
        <p:txBody>
          <a:bodyPr/>
          <a:lstStyle/>
          <a:p>
            <a:pPr eaLnBrk="1" hangingPunct="1"/>
            <a:r>
              <a:rPr lang="en-US" smtClean="0"/>
              <a:t>Compound (Block of) Statements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Compound statement (block of statements):</a:t>
            </a:r>
          </a:p>
          <a:p>
            <a:pPr eaLnBrk="1" hangingPunct="1"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Tx/>
              <a:buNone/>
            </a:pPr>
            <a:endParaRPr lang="en-US" sz="240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240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240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2400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smtClean="0"/>
              <a:t>A compound statement is a single statement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42AC30-D9E0-4EB6-9C66-73092C943A64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3789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2286000"/>
            <a:ext cx="180022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2056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Compound (Block of) Statements (cont'd.)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solidFill>
                  <a:srgbClr val="0000FF"/>
                </a:solidFill>
                <a:latin typeface="Courier New" panose="02070309020205020404" pitchFamily="49" charset="0"/>
              </a:rPr>
              <a:t>if </a:t>
            </a:r>
            <a:r>
              <a:rPr lang="en-US" sz="2400" smtClean="0">
                <a:latin typeface="Courier New" panose="02070309020205020404" pitchFamily="49" charset="0"/>
              </a:rPr>
              <a:t>(age &gt; 18)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	cout &lt;&lt; "Eligible to vote." &lt;&lt; endl;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	cout &lt;&lt; "No longer a minor." &lt;&lt; endl;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endParaRPr lang="en-US" sz="24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	cout &lt;&lt; "Not eligible to vote." &lt;&lt; endl;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	cout &lt;&lt; "Still a minor." &lt;&lt; endl;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smtClean="0">
              <a:latin typeface="Courier New" panose="02070309020205020404" pitchFamily="49" charset="0"/>
            </a:endParaRPr>
          </a:p>
        </p:txBody>
      </p:sp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68B360-00C3-4052-8080-E83B0E3A04AB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31459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Selections: Nested </a:t>
            </a:r>
            <a:r>
              <a:rPr lang="en-US" smtClean="0">
                <a:latin typeface="Courier New" panose="02070309020205020404" pitchFamily="49" charset="0"/>
              </a:rPr>
              <a:t>if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752600"/>
            <a:ext cx="7772400" cy="4378325"/>
          </a:xfrm>
        </p:spPr>
        <p:txBody>
          <a:bodyPr/>
          <a:lstStyle/>
          <a:p>
            <a:pPr eaLnBrk="1" hangingPunct="1">
              <a:tabLst>
                <a:tab pos="635000" algn="l"/>
              </a:tabLst>
            </a:pPr>
            <a:r>
              <a:rPr lang="en-US" b="1" u="sng" smtClean="0"/>
              <a:t>Nesting</a:t>
            </a:r>
            <a:r>
              <a:rPr lang="en-US" smtClean="0"/>
              <a:t>: one control statement in another</a:t>
            </a:r>
          </a:p>
          <a:p>
            <a:pPr eaLnBrk="1" hangingPunct="1">
              <a:tabLst>
                <a:tab pos="635000" algn="l"/>
              </a:tabLst>
            </a:pPr>
            <a:r>
              <a:rPr lang="en-US" smtClean="0"/>
              <a:t>An </a:t>
            </a:r>
            <a:r>
              <a:rPr lang="en-US" smtClean="0">
                <a:latin typeface="Courier New" panose="02070309020205020404" pitchFamily="49" charset="0"/>
              </a:rPr>
              <a:t>else</a:t>
            </a:r>
            <a:r>
              <a:rPr lang="en-US" smtClean="0"/>
              <a:t> is associated with the most recent </a:t>
            </a:r>
            <a:r>
              <a:rPr lang="en-US" smtClean="0">
                <a:latin typeface="Courier New" panose="02070309020205020404" pitchFamily="49" charset="0"/>
              </a:rPr>
              <a:t>if</a:t>
            </a:r>
            <a:r>
              <a:rPr lang="en-US" smtClean="0"/>
              <a:t> that has not been paired with an </a:t>
            </a:r>
            <a:r>
              <a:rPr lang="en-US" smtClean="0">
                <a:latin typeface="Courier New" panose="02070309020205020404" pitchFamily="49" charset="0"/>
              </a:rPr>
              <a:t>else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C++ Programming: Program Design Including Data Structures, Fifth Edition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513C60-AFB0-4A3A-B577-65C466E75166}" type="slidenum">
              <a:rPr lang="en-US" sz="120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sz="1200" smtClean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 advTm="7993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C++ Programming: Program Design Including Data Structures, Fifth Edition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8614F9-187E-4451-8B91-43A6388FCAE5}" type="slidenum">
              <a:rPr lang="en-US" sz="120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sz="1200" smtClean="0">
              <a:solidFill>
                <a:srgbClr val="7F7F7F"/>
              </a:solidFill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609600" y="304800"/>
            <a:ext cx="8229600" cy="1143000"/>
          </a:xfrm>
          <a:prstGeom prst="rect">
            <a:avLst/>
          </a:prstGeom>
        </p:spPr>
        <p:txBody>
          <a:bodyPr anchor="ctr">
            <a:normAutofit fontScale="90000" lnSpcReduction="2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Multiple Selections: Nested </a:t>
            </a:r>
            <a:r>
              <a:rPr lang="en-US" sz="4400" dirty="0">
                <a:latin typeface="Courier New" pitchFamily="49" charset="0"/>
                <a:ea typeface="+mj-ea"/>
                <a:cs typeface="+mj-cs"/>
              </a:rPr>
              <a:t>if</a:t>
            </a:r>
            <a:r>
              <a:rPr lang="en-US" sz="4400" dirty="0">
                <a:latin typeface="+mj-lt"/>
                <a:ea typeface="+mj-ea"/>
                <a:cs typeface="+mj-cs"/>
              </a:rPr>
              <a:t> (cont'd.)</a:t>
            </a:r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63675"/>
            <a:ext cx="86582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1727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Comparing </a:t>
            </a:r>
            <a:r>
              <a:rPr lang="en-US" smtClean="0">
                <a:latin typeface="Courier New" pitchFamily="49" charset="0"/>
              </a:rPr>
              <a:t>if…else</a:t>
            </a:r>
            <a:r>
              <a:rPr lang="en-US" smtClean="0"/>
              <a:t> Statements with a Series of </a:t>
            </a:r>
            <a:r>
              <a:rPr lang="en-US" smtClean="0">
                <a:latin typeface="Courier New" pitchFamily="49" charset="0"/>
              </a:rPr>
              <a:t>if</a:t>
            </a:r>
            <a:r>
              <a:rPr lang="en-US" smtClean="0"/>
              <a:t> Statements</a:t>
            </a:r>
          </a:p>
        </p:txBody>
      </p:sp>
      <p:sp>
        <p:nvSpPr>
          <p:cNvPr id="430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44036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166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7E0436-C3DF-4AC9-ACBF-DD086432D73C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44037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4325"/>
            <a:ext cx="5562600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088" y="3729038"/>
            <a:ext cx="42672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588" y="4914900"/>
            <a:ext cx="2819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3986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Confusion Between the Equality (==) and Assignment (=) Operators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C++ allows you to use any expression that can be evaluated to either </a:t>
            </a:r>
            <a:r>
              <a:rPr lang="en-US" smtClean="0">
                <a:latin typeface="Courier New" panose="02070309020205020404" pitchFamily="49" charset="0"/>
              </a:rPr>
              <a:t>true</a:t>
            </a:r>
            <a:r>
              <a:rPr lang="en-US" smtClean="0"/>
              <a:t> or </a:t>
            </a:r>
            <a:r>
              <a:rPr lang="en-US" smtClean="0">
                <a:latin typeface="Courier New" panose="02070309020205020404" pitchFamily="49" charset="0"/>
              </a:rPr>
              <a:t>false</a:t>
            </a:r>
            <a:r>
              <a:rPr lang="en-US" smtClean="0"/>
              <a:t> as an expression in the </a:t>
            </a:r>
            <a:r>
              <a:rPr lang="en-US" smtClean="0">
                <a:latin typeface="Courier New" panose="02070309020205020404" pitchFamily="49" charset="0"/>
              </a:rPr>
              <a:t>if</a:t>
            </a:r>
            <a:r>
              <a:rPr lang="en-US" smtClean="0"/>
              <a:t> statement: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sz="2200" smtClean="0">
                <a:latin typeface="Courier New" panose="02070309020205020404" pitchFamily="49" charset="0"/>
              </a:rPr>
              <a:t>if (x = 5)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sz="2200" smtClean="0">
                <a:latin typeface="Courier New" panose="02070309020205020404" pitchFamily="49" charset="0"/>
              </a:rPr>
              <a:t>    cout &lt;&lt; "The value is five." &lt;&lt; endl;</a:t>
            </a:r>
          </a:p>
          <a:p>
            <a:pPr eaLnBrk="1" hangingPunct="1"/>
            <a:r>
              <a:rPr lang="en-US" smtClean="0"/>
              <a:t>The appearance of = in place of == resembles a </a:t>
            </a:r>
            <a:r>
              <a:rPr lang="en-US" i="1" smtClean="0"/>
              <a:t>silent killer</a:t>
            </a:r>
          </a:p>
          <a:p>
            <a:pPr lvl="1" eaLnBrk="1" hangingPunct="1"/>
            <a:r>
              <a:rPr lang="en-US" smtClean="0"/>
              <a:t>It is not a syntax error</a:t>
            </a:r>
          </a:p>
          <a:p>
            <a:pPr lvl="1" eaLnBrk="1" hangingPunct="1"/>
            <a:r>
              <a:rPr lang="en-US" smtClean="0"/>
              <a:t>It is a logical error</a:t>
            </a:r>
          </a:p>
        </p:txBody>
      </p:sp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120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D25EBD-1AD3-4F08-BC7F-9A1D22294B58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35015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Conditional Operator (?:)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8229600" cy="4302125"/>
          </a:xfrm>
        </p:spPr>
        <p:txBody>
          <a:bodyPr/>
          <a:lstStyle/>
          <a:p>
            <a:pPr eaLnBrk="1" hangingPunct="1">
              <a:tabLst>
                <a:tab pos="635000" algn="l"/>
              </a:tabLst>
            </a:pPr>
            <a:r>
              <a:rPr lang="en-US" smtClean="0"/>
              <a:t>Conditional operator (</a:t>
            </a:r>
            <a:r>
              <a:rPr lang="en-US" smtClean="0">
                <a:latin typeface="Courier New" panose="02070309020205020404" pitchFamily="49" charset="0"/>
              </a:rPr>
              <a:t>?:</a:t>
            </a:r>
            <a:r>
              <a:rPr lang="en-US" smtClean="0"/>
              <a:t>) takes three arguments</a:t>
            </a:r>
          </a:p>
          <a:p>
            <a:pPr lvl="1" eaLnBrk="1" hangingPunct="1">
              <a:tabLst>
                <a:tab pos="635000" algn="l"/>
              </a:tabLst>
            </a:pPr>
            <a:r>
              <a:rPr lang="en-US" smtClean="0"/>
              <a:t>Ternary operator</a:t>
            </a:r>
          </a:p>
          <a:p>
            <a:pPr eaLnBrk="1" hangingPunct="1">
              <a:tabLst>
                <a:tab pos="635000" algn="l"/>
              </a:tabLst>
            </a:pPr>
            <a:r>
              <a:rPr lang="en-US" smtClean="0"/>
              <a:t>Syntax for using the conditional operator:</a:t>
            </a:r>
          </a:p>
          <a:p>
            <a:pPr eaLnBrk="1" hangingPunct="1">
              <a:buFontTx/>
              <a:buNone/>
              <a:tabLst>
                <a:tab pos="635000" algn="l"/>
              </a:tabLst>
            </a:pPr>
            <a:r>
              <a:rPr lang="en-US" sz="2400" smtClean="0">
                <a:latin typeface="Courier New" panose="02070309020205020404" pitchFamily="49" charset="0"/>
              </a:rPr>
              <a:t>	expression1 ? expression2 : expression3</a:t>
            </a:r>
          </a:p>
          <a:p>
            <a:pPr eaLnBrk="1" hangingPunct="1">
              <a:tabLst>
                <a:tab pos="635000" algn="l"/>
              </a:tabLst>
            </a:pPr>
            <a:r>
              <a:rPr lang="en-US" smtClean="0"/>
              <a:t>If </a:t>
            </a:r>
            <a:r>
              <a:rPr lang="en-US" smtClean="0">
                <a:latin typeface="Courier New" panose="02070309020205020404" pitchFamily="49" charset="0"/>
              </a:rPr>
              <a:t>expression1</a:t>
            </a:r>
            <a:r>
              <a:rPr lang="en-US" smtClean="0"/>
              <a:t> is </a:t>
            </a:r>
            <a:r>
              <a:rPr lang="en-US" smtClean="0">
                <a:latin typeface="Courier New" panose="02070309020205020404" pitchFamily="49" charset="0"/>
              </a:rPr>
              <a:t>true</a:t>
            </a:r>
            <a:r>
              <a:rPr lang="en-US" smtClean="0"/>
              <a:t>, the result of the conditional expression is </a:t>
            </a:r>
            <a:r>
              <a:rPr lang="en-US" smtClean="0">
                <a:latin typeface="Courier New" panose="02070309020205020404" pitchFamily="49" charset="0"/>
              </a:rPr>
              <a:t>expression2</a:t>
            </a:r>
            <a:endParaRPr lang="en-US" smtClean="0"/>
          </a:p>
          <a:p>
            <a:pPr lvl="1" eaLnBrk="1" hangingPunct="1">
              <a:tabLst>
                <a:tab pos="635000" algn="l"/>
              </a:tabLst>
            </a:pPr>
            <a:r>
              <a:rPr lang="en-US" smtClean="0"/>
              <a:t>Otherwise, the result is </a:t>
            </a:r>
            <a:r>
              <a:rPr lang="en-US" smtClean="0">
                <a:latin typeface="Courier New" panose="02070309020205020404" pitchFamily="49" charset="0"/>
              </a:rPr>
              <a:t>expression3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222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36F6E7-259F-403E-A346-4923ECFE2D01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51066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switch</a:t>
            </a:r>
            <a:r>
              <a:rPr lang="en-US" smtClean="0"/>
              <a:t> Structures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5105400" cy="430212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u="sng" dirty="0" smtClean="0">
                <a:latin typeface="Courier New" pitchFamily="49" charset="0"/>
              </a:rPr>
              <a:t>switch</a:t>
            </a:r>
            <a:r>
              <a:rPr lang="en-US" u="sng" dirty="0" smtClean="0"/>
              <a:t> structure</a:t>
            </a:r>
            <a:r>
              <a:rPr lang="en-US" dirty="0" smtClean="0"/>
              <a:t>: alternate to if-else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switch</a:t>
            </a:r>
            <a:r>
              <a:rPr lang="en-US" dirty="0" smtClean="0"/>
              <a:t> (integral) expression is evaluated first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/>
              <a:t>Value of the expression determines which corresponding action is taken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/>
              <a:t>Expression is sometimes called the selector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530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DB8928-E923-4465-8811-9AC46F507F62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5530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1676400"/>
            <a:ext cx="3162300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8967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switch</a:t>
            </a:r>
            <a:r>
              <a:rPr lang="en-US" smtClean="0"/>
              <a:t> Structures (cont'd.)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B5B682-D6FC-4E72-9B00-2DBD3B4F8BD9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5632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58888"/>
            <a:ext cx="5181600" cy="498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2296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switch</a:t>
            </a:r>
            <a:r>
              <a:rPr lang="en-US" smtClean="0"/>
              <a:t> Structures (cont'd.)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8001000" cy="4302125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One or more statements may follow a case label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Braces are not needed to turn multiple statements into a single compound statement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</a:rPr>
              <a:t>break</a:t>
            </a:r>
            <a:r>
              <a:rPr lang="en-US" dirty="0" smtClean="0"/>
              <a:t> statement may or may not appear after each statement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Courier New" pitchFamily="49" charset="0"/>
              </a:rPr>
              <a:t>switch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49" charset="0"/>
              </a:rPr>
              <a:t>case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49" charset="0"/>
              </a:rPr>
              <a:t>break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49" charset="0"/>
              </a:rPr>
              <a:t>default</a:t>
            </a:r>
            <a:r>
              <a:rPr lang="en-US" dirty="0" smtClean="0"/>
              <a:t> are reserved words</a:t>
            </a:r>
          </a:p>
        </p:txBody>
      </p:sp>
      <p:sp>
        <p:nvSpPr>
          <p:cNvPr id="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734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C62BD6-4495-4001-A98E-8A2A233D3C3A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advTm="5727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urier New" panose="02070309020205020404" pitchFamily="49" charset="0"/>
              </a:rPr>
              <a:t>switch</a:t>
            </a:r>
            <a:r>
              <a:rPr lang="en-US" smtClean="0"/>
              <a:t> Structures (cont'd.)</a:t>
            </a:r>
          </a:p>
        </p:txBody>
      </p:sp>
      <p:sp>
        <p:nvSpPr>
          <p:cNvPr id="563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C++ Programming: Program Design Including Data Structures, Fifth Edition</a:t>
            </a:r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0515D7-B2F4-4F6F-880B-0CBDEA0D3F5D}" type="slidenum">
              <a:rPr 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sz="1200" smtClean="0">
              <a:solidFill>
                <a:srgbClr val="898989"/>
              </a:solidFill>
            </a:endParaRPr>
          </a:p>
        </p:txBody>
      </p:sp>
      <p:pic>
        <p:nvPicPr>
          <p:cNvPr id="5837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9700"/>
            <a:ext cx="7237413" cy="658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878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593</Words>
  <Application>Microsoft Office PowerPoint</Application>
  <PresentationFormat>On-screen Show (4:3)</PresentationFormat>
  <Paragraphs>114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Control structures</vt:lpstr>
      <vt:lpstr>Control Structures</vt:lpstr>
      <vt:lpstr>Control Structures (cont'd.)</vt:lpstr>
      <vt:lpstr>One-Way Selection (cont'd.)</vt:lpstr>
      <vt:lpstr>One-Way Selection (cont'd.)</vt:lpstr>
      <vt:lpstr>One-Way Selection (cont'd.)</vt:lpstr>
      <vt:lpstr>Two-Way Selection</vt:lpstr>
      <vt:lpstr>Two-Way Selection (cont'd.)</vt:lpstr>
      <vt:lpstr>Two-Way Selection (cont'd.)</vt:lpstr>
      <vt:lpstr>Compound (Block of) Statements</vt:lpstr>
      <vt:lpstr>Compound (Block of) Statements (cont'd.)</vt:lpstr>
      <vt:lpstr>Multiple Selections: Nested if</vt:lpstr>
      <vt:lpstr>PowerPoint Presentation</vt:lpstr>
      <vt:lpstr>Comparing if…else Statements with a Series of if Statements</vt:lpstr>
      <vt:lpstr>Confusion Between the Equality (==) and Assignment (=) Operators</vt:lpstr>
      <vt:lpstr>Conditional Operator (?:)</vt:lpstr>
      <vt:lpstr>switch Structures</vt:lpstr>
      <vt:lpstr>switch Structures (cont'd.)</vt:lpstr>
      <vt:lpstr>switch Structures (cont'd.)</vt:lpstr>
      <vt:lpstr>switch Structures (cont'd.)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structures</dc:title>
  <dc:creator>sadia tariq</dc:creator>
  <cp:lastModifiedBy>Microsoft account</cp:lastModifiedBy>
  <cp:revision>4</cp:revision>
  <dcterms:created xsi:type="dcterms:W3CDTF">2020-05-30T13:57:23Z</dcterms:created>
  <dcterms:modified xsi:type="dcterms:W3CDTF">2025-11-02T15:40:39Z</dcterms:modified>
</cp:coreProperties>
</file>