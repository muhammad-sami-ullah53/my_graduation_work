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A0060-ACFD-4C17-A2D9-98F983D831C7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4010E-5FF9-47EA-9004-3F0A2A5809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40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Sample Run:</a:t>
            </a:r>
          </a:p>
          <a:p>
            <a:r>
              <a:rPr kumimoji="1"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num1 = 4</a:t>
            </a:r>
          </a:p>
          <a:p>
            <a:r>
              <a:rPr kumimoji="1"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num2 = 9</a:t>
            </a:r>
          </a:p>
          <a:p>
            <a:r>
              <a:rPr kumimoji="1"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sale = 20</a:t>
            </a:r>
          </a:p>
          <a:p>
            <a:r>
              <a:rPr kumimoji="1"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first = D</a:t>
            </a:r>
          </a:p>
          <a:p>
            <a:r>
              <a:rPr kumimoji="1" lang="en-US" sz="1200" b="0" i="0" u="none" strike="noStrike" kern="1200" baseline="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str</a:t>
            </a:r>
            <a:r>
              <a:rPr kumimoji="1"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= It is a sunny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BBC9C-D98C-406C-860F-73351075EF6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0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Write a program to</a:t>
            </a:r>
            <a:r>
              <a:rPr lang="en-US" baseline="0" dirty="0" smtClean="0"/>
              <a:t> find the difference between post &amp; </a:t>
            </a:r>
            <a:r>
              <a:rPr lang="en-US" baseline="0" dirty="0" err="1" smtClean="0"/>
              <a:t>pree</a:t>
            </a:r>
            <a:r>
              <a:rPr lang="en-US" baseline="0" dirty="0" smtClean="0"/>
              <a:t> operators.</a:t>
            </a:r>
          </a:p>
          <a:p>
            <a:endParaRPr lang="en-US" baseline="0" dirty="0" smtClean="0"/>
          </a:p>
          <a:p>
            <a:r>
              <a:rPr kumimoji="1" lang="es-ES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 y = ++x; // y==6, x==6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kumimoji="1" lang="es-ES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 y = x++; // y==5, x==6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BBC9C-D98C-406C-860F-73351075EF6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06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mtClean="0">
              <a:latin typeface="Arial" panose="020B0604020202020204" pitchFamily="34" charset="0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CE839FB-3EDB-49A6-B638-6D4E1572C7EA}" type="slidenum">
              <a:rPr lang="en-US"/>
              <a:pPr eaLnBrk="1" hangingPunct="1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90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mtClean="0">
              <a:latin typeface="Arial" panose="020B0604020202020204" pitchFamily="34" charset="0"/>
            </a:endParaRP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0F2C117-C88C-4BE0-AE7C-C1FFB3D7E92B}" type="slidenum">
              <a:rPr lang="en-US"/>
              <a:pPr eaLnBrk="1" hangingPunct="1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56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mtClean="0">
              <a:latin typeface="Arial" panose="020B0604020202020204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B0F4A1E-1C7B-4752-859F-1692C33D67AE}" type="slidenum">
              <a:rPr lang="en-US"/>
              <a:pPr eaLnBrk="1" hangingPunct="1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2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</a:endParaRPr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227C069-306D-488F-8CC0-496714B5468D}" type="slidenum">
              <a:rPr lang="en-US"/>
              <a:pPr eaLnBrk="1" hangingPunct="1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56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A978F01-43CA-4814-A693-95F6F8FD0E9C}" type="slidenum">
              <a:rPr lang="en-US"/>
              <a:pPr eaLnBrk="1" hangingPunct="1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00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</a:endParaRPr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38742C-25BC-461E-BB04-035645BC0F01}" type="slidenum">
              <a:rPr lang="en-US"/>
              <a:pPr eaLnBrk="1" hangingPunct="1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31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</a:endParaRP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86853BC-4D7D-4FD5-808D-2858D6D7AD3B}" type="slidenum">
              <a:rPr lang="en-US"/>
              <a:pPr eaLnBrk="1" hangingPunct="1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527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</a:endParaRPr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00EAED-7851-4FA9-ADD9-9148AA5608FD}" type="slidenum">
              <a:rPr lang="en-US"/>
              <a:pPr eaLnBrk="1" hangingPunct="1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031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A4848-FC97-4658-AD1A-C9D1E8472C31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4152E-F3FB-44D9-BAD2-26B5FCED45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A4848-FC97-4658-AD1A-C9D1E8472C31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4152E-F3FB-44D9-BAD2-26B5FCED45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A4848-FC97-4658-AD1A-C9D1E8472C31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4152E-F3FB-44D9-BAD2-26B5FCED45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A4848-FC97-4658-AD1A-C9D1E8472C31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4152E-F3FB-44D9-BAD2-26B5FCED45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A4848-FC97-4658-AD1A-C9D1E8472C31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4152E-F3FB-44D9-BAD2-26B5FCED45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A4848-FC97-4658-AD1A-C9D1E8472C31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4152E-F3FB-44D9-BAD2-26B5FCED45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A4848-FC97-4658-AD1A-C9D1E8472C31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4152E-F3FB-44D9-BAD2-26B5FCED45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A4848-FC97-4658-AD1A-C9D1E8472C31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4152E-F3FB-44D9-BAD2-26B5FCED45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A4848-FC97-4658-AD1A-C9D1E8472C31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4152E-F3FB-44D9-BAD2-26B5FCED45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A4848-FC97-4658-AD1A-C9D1E8472C31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4152E-F3FB-44D9-BAD2-26B5FCED45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A4848-FC97-4658-AD1A-C9D1E8472C31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4152E-F3FB-44D9-BAD2-26B5FCED45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A4848-FC97-4658-AD1A-C9D1E8472C31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4152E-F3FB-44D9-BAD2-26B5FCED45E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2.emf"/><Relationship Id="rId4" Type="http://schemas.openxmlformats.org/officeDocument/2006/relationships/oleObject" Target="../embeddings/Microsoft_Word_97_-_2003_Document1.doc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More on operators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Zainab Shahzadi</a:t>
            </a:r>
            <a:endParaRPr lang="en-US" dirty="0"/>
          </a:p>
        </p:txBody>
      </p:sp>
    </p:spTree>
  </p:cSld>
  <p:clrMapOvr>
    <a:masterClrMapping/>
  </p:clrMapOvr>
  <p:transition advTm="2426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857250"/>
          </a:xfrm>
        </p:spPr>
        <p:txBody>
          <a:bodyPr/>
          <a:lstStyle/>
          <a:p>
            <a:pPr eaLnBrk="1" hangingPunct="1"/>
            <a:r>
              <a:rPr lang="en-US" smtClean="0"/>
              <a:t>Assignment Statement</a:t>
            </a:r>
          </a:p>
        </p:txBody>
      </p:sp>
      <p:sp>
        <p:nvSpPr>
          <p:cNvPr id="3379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assignment statement takes the form: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Expression is evaluated and its value is assigned to the variable on the left side</a:t>
            </a:r>
          </a:p>
          <a:p>
            <a:pPr eaLnBrk="1" hangingPunct="1"/>
            <a:r>
              <a:rPr lang="en-US" smtClean="0"/>
              <a:t>In C++, = is called the assignment operator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7288" y="6408738"/>
            <a:ext cx="366712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F4D73CA-75A9-43A3-A474-5552F038DAB9}" type="slidenum">
              <a:rPr lang="en-US">
                <a:solidFill>
                  <a:srgbClr val="045C75"/>
                </a:solidFill>
              </a:rPr>
              <a:pPr eaLnBrk="1" hangingPunct="1"/>
              <a:t>2</a:t>
            </a:fld>
            <a:endParaRPr lang="en-US">
              <a:solidFill>
                <a:srgbClr val="045C75"/>
              </a:solidFill>
            </a:endParaRPr>
          </a:p>
        </p:txBody>
      </p:sp>
      <p:pic>
        <p:nvPicPr>
          <p:cNvPr id="33797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557463"/>
            <a:ext cx="3519488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3153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305800" cy="856488"/>
          </a:xfrm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Assignment Statement (cont'd.)</a:t>
            </a:r>
          </a:p>
        </p:txBody>
      </p:sp>
      <p:sp>
        <p:nvSpPr>
          <p:cNvPr id="4096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C5F1777-AFE1-40AB-B3FE-A9135FBD8956}" type="slidenum">
              <a:rPr lang="en-US">
                <a:solidFill>
                  <a:srgbClr val="045C75"/>
                </a:solidFill>
              </a:rPr>
              <a:pPr eaLnBrk="1" hangingPunct="1"/>
              <a:t>3</a:t>
            </a:fld>
            <a:endParaRPr lang="en-US">
              <a:solidFill>
                <a:srgbClr val="045C75"/>
              </a:solidFill>
            </a:endParaRP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04800" y="1600200"/>
            <a:ext cx="8547100" cy="4891088"/>
            <a:chOff x="480" y="1008"/>
            <a:chExt cx="5096" cy="3081"/>
          </a:xfrm>
        </p:grpSpPr>
        <p:pic>
          <p:nvPicPr>
            <p:cNvPr id="34821" name="Picture 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1008"/>
              <a:ext cx="5077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822" name="Picture 1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" y="1384"/>
              <a:ext cx="1115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823" name="Picture 1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2000"/>
              <a:ext cx="1975" cy="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824" name="Picture 1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2784"/>
              <a:ext cx="5096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825" name="Picture 14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3120"/>
              <a:ext cx="1434" cy="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advTm="42156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62012" y="1100137"/>
            <a:ext cx="7419975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74238"/>
      </p:ext>
    </p:extLst>
  </p:cSld>
  <p:clrMapOvr>
    <a:masterClrMapping/>
  </p:clrMapOvr>
  <p:transition advTm="74928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2296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Declaring &amp; Initializing Variables</a:t>
            </a:r>
          </a:p>
        </p:txBody>
      </p:sp>
      <p:sp>
        <p:nvSpPr>
          <p:cNvPr id="3686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Variables can be initialized when declared: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dirty="0" smtClean="0"/>
              <a:t>	</a:t>
            </a:r>
            <a:r>
              <a:rPr lang="en-US" dirty="0" smtClean="0">
                <a:latin typeface="Courier New" panose="02070309020205020404" pitchFamily="49" charset="0"/>
              </a:rPr>
              <a:t>int first=13, second=10;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dirty="0" smtClean="0">
                <a:latin typeface="Courier New" panose="02070309020205020404" pitchFamily="49" charset="0"/>
              </a:rPr>
              <a:t>	char </a:t>
            </a:r>
            <a:r>
              <a:rPr lang="en-US" dirty="0" err="1" smtClean="0">
                <a:latin typeface="Courier New" panose="02070309020205020404" pitchFamily="49" charset="0"/>
              </a:rPr>
              <a:t>ch</a:t>
            </a:r>
            <a:r>
              <a:rPr lang="en-US" dirty="0" smtClean="0">
                <a:latin typeface="Courier New" panose="02070309020205020404" pitchFamily="49" charset="0"/>
              </a:rPr>
              <a:t>=' ';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dirty="0" smtClean="0">
                <a:latin typeface="Courier New" panose="02070309020205020404" pitchFamily="49" charset="0"/>
              </a:rPr>
              <a:t>	double x=12.6;</a:t>
            </a:r>
          </a:p>
          <a:p>
            <a:pPr eaLnBrk="1" hangingPunct="1"/>
            <a:r>
              <a:rPr lang="en-US" dirty="0" smtClean="0"/>
              <a:t>All variables must be initialized before they are used</a:t>
            </a:r>
          </a:p>
          <a:p>
            <a:pPr eaLnBrk="1" hangingPunct="1"/>
            <a:r>
              <a:rPr lang="en-US" dirty="0" smtClean="0"/>
              <a:t>But not necessarily during declaration</a:t>
            </a:r>
          </a:p>
          <a:p>
            <a:pPr lvl="1" eaLnBrk="1" hangingPunct="1"/>
            <a:endParaRPr lang="en-US" dirty="0" smtClean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7288" y="6408738"/>
            <a:ext cx="366712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9403FBB-96BA-4EC6-A28F-DF05D0D5FCBB}" type="slidenum">
              <a:rPr lang="en-US">
                <a:solidFill>
                  <a:srgbClr val="045C75"/>
                </a:solidFill>
              </a:rPr>
              <a:pPr eaLnBrk="1" hangingPunct="1"/>
              <a:t>5</a:t>
            </a:fld>
            <a:endParaRPr lang="en-US">
              <a:solidFill>
                <a:srgbClr val="045C75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advTm="3214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 Statement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1807" y="1981200"/>
            <a:ext cx="9165807" cy="22764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" y="4352272"/>
            <a:ext cx="8980202" cy="212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746288"/>
      </p:ext>
    </p:extLst>
  </p:cSld>
  <p:clrMapOvr>
    <a:masterClrMapping/>
  </p:clrMapOvr>
  <p:transition advTm="1999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" y="2514600"/>
            <a:ext cx="7924800" cy="60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5143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1"/>
            <a:ext cx="8229600" cy="51054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In C++, output on the standard output device is accomplished via the use of cout </a:t>
            </a:r>
            <a:r>
              <a:rPr lang="en-US" dirty="0" smtClean="0"/>
              <a:t>and the </a:t>
            </a:r>
            <a:r>
              <a:rPr lang="en-US" dirty="0"/>
              <a:t>operator </a:t>
            </a:r>
            <a:r>
              <a:rPr lang="en-US" dirty="0" smtClean="0"/>
              <a:t>&lt;&lt;.</a:t>
            </a:r>
          </a:p>
          <a:p>
            <a:r>
              <a:rPr lang="en-US" dirty="0" smtClean="0"/>
              <a:t>The </a:t>
            </a:r>
            <a:r>
              <a:rPr lang="en-US" dirty="0"/>
              <a:t>general syntax of cout together with &lt;&lt; is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is called an output statement. In C++, &lt;&lt; is called the stream </a:t>
            </a:r>
            <a:r>
              <a:rPr lang="en-US" dirty="0" smtClean="0"/>
              <a:t>insertion operator</a:t>
            </a:r>
            <a:r>
              <a:rPr lang="en-US" dirty="0"/>
              <a:t>. Generating output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/>
              <a:t> follows two rules:</a:t>
            </a:r>
          </a:p>
          <a:p>
            <a:r>
              <a:rPr lang="en-US" dirty="0"/>
              <a:t>1. The expression is evaluated, and its value is printed at the </a:t>
            </a:r>
            <a:r>
              <a:rPr lang="en-US" dirty="0" smtClean="0"/>
              <a:t>current insertion </a:t>
            </a:r>
            <a:r>
              <a:rPr lang="en-US" dirty="0"/>
              <a:t>point on the output device.</a:t>
            </a:r>
          </a:p>
          <a:p>
            <a:r>
              <a:rPr lang="en-US" dirty="0"/>
              <a:t>2. A manipulator is used to format the output. </a:t>
            </a:r>
            <a:r>
              <a:rPr lang="en-US" dirty="0" smtClean="0"/>
              <a:t>The simplest manipulator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</a:p>
        </p:txBody>
      </p:sp>
    </p:spTree>
    <p:extLst>
      <p:ext uri="{BB962C8B-B14F-4D97-AF65-F5344CB8AC3E}">
        <p14:creationId xmlns:p14="http://schemas.microsoft.com/office/powerpoint/2010/main" val="2264117201"/>
      </p:ext>
    </p:extLst>
  </p:cSld>
  <p:clrMapOvr>
    <a:masterClrMapping/>
  </p:clrMapOvr>
  <p:transition advTm="11121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7630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Increment and Decrement Operators</a:t>
            </a:r>
          </a:p>
        </p:txBody>
      </p:sp>
      <p:sp>
        <p:nvSpPr>
          <p:cNvPr id="37891" name="Rectangle 5"/>
          <p:cNvSpPr>
            <a:spLocks noGrp="1" noChangeArrowheads="1"/>
          </p:cNvSpPr>
          <p:nvPr>
            <p:ph idx="1"/>
          </p:nvPr>
        </p:nvSpPr>
        <p:spPr>
          <a:xfrm>
            <a:off x="456724" y="1219200"/>
            <a:ext cx="8534400" cy="4572000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sz="3000" dirty="0" smtClean="0"/>
              <a:t>Increment operator(</a:t>
            </a:r>
            <a:r>
              <a:rPr lang="en-US" sz="3000" dirty="0" smtClean="0">
                <a:solidFill>
                  <a:srgbClr val="FF0000"/>
                </a:solidFill>
              </a:rPr>
              <a:t>++</a:t>
            </a:r>
            <a:r>
              <a:rPr lang="en-US" sz="3000" dirty="0" smtClean="0"/>
              <a:t>): increment variable by 1</a:t>
            </a:r>
          </a:p>
          <a:p>
            <a:pPr lvl="1" eaLnBrk="1" hangingPunct="1"/>
            <a:r>
              <a:rPr lang="en-US" dirty="0" smtClean="0">
                <a:solidFill>
                  <a:srgbClr val="FF0000"/>
                </a:solidFill>
              </a:rPr>
              <a:t>Pre</a:t>
            </a:r>
            <a:r>
              <a:rPr lang="en-US" dirty="0" smtClean="0"/>
              <a:t>-increment: </a:t>
            </a:r>
            <a:r>
              <a:rPr lang="en-US" dirty="0" smtClean="0">
                <a:latin typeface="Courier New" panose="02070309020205020404" pitchFamily="49" charset="0"/>
              </a:rPr>
              <a:t>++variable</a:t>
            </a:r>
          </a:p>
          <a:p>
            <a:pPr lvl="1" eaLnBrk="1" hangingPunct="1"/>
            <a:r>
              <a:rPr lang="en-US" dirty="0" smtClean="0">
                <a:solidFill>
                  <a:srgbClr val="FF0000"/>
                </a:solidFill>
              </a:rPr>
              <a:t>Post</a:t>
            </a:r>
            <a:r>
              <a:rPr lang="en-US" dirty="0" smtClean="0"/>
              <a:t>-increment: </a:t>
            </a:r>
            <a:r>
              <a:rPr lang="en-US" dirty="0" smtClean="0">
                <a:latin typeface="Courier New" panose="02070309020205020404" pitchFamily="49" charset="0"/>
              </a:rPr>
              <a:t>variable++</a:t>
            </a:r>
            <a:r>
              <a:rPr lang="en-US" dirty="0" smtClean="0"/>
              <a:t> </a:t>
            </a:r>
          </a:p>
          <a:p>
            <a:pPr lvl="1" eaLnBrk="1" hangingPunct="1"/>
            <a:r>
              <a:rPr lang="en-US" dirty="0"/>
              <a:t>int j = </a:t>
            </a:r>
            <a:r>
              <a:rPr lang="en-US" dirty="0" err="1"/>
              <a:t>i</a:t>
            </a:r>
            <a:r>
              <a:rPr lang="en-US" dirty="0"/>
              <a:t>++; // j will contain </a:t>
            </a:r>
            <a:r>
              <a:rPr lang="en-US" dirty="0" err="1"/>
              <a:t>i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will be incremented</a:t>
            </a:r>
            <a:r>
              <a:rPr lang="en-US" dirty="0" smtClean="0"/>
              <a:t>.</a:t>
            </a:r>
          </a:p>
          <a:p>
            <a:pPr lvl="1" eaLnBrk="1" hangingPunct="1"/>
            <a:r>
              <a:rPr lang="en-US" dirty="0"/>
              <a:t>int j = ++</a:t>
            </a:r>
            <a:r>
              <a:rPr lang="en-US" dirty="0" err="1"/>
              <a:t>i</a:t>
            </a:r>
            <a:r>
              <a:rPr lang="en-US" dirty="0"/>
              <a:t>; // </a:t>
            </a:r>
            <a:r>
              <a:rPr lang="en-US" dirty="0" err="1"/>
              <a:t>i</a:t>
            </a:r>
            <a:r>
              <a:rPr lang="en-US" dirty="0"/>
              <a:t> will be incremented, and j will contain i+1.</a:t>
            </a:r>
            <a:endParaRPr lang="en-US" dirty="0" smtClean="0"/>
          </a:p>
          <a:p>
            <a:pPr eaLnBrk="1" hangingPunct="1"/>
            <a:r>
              <a:rPr lang="en-US" sz="3000" dirty="0" smtClean="0"/>
              <a:t>Decrement operator (</a:t>
            </a:r>
            <a:r>
              <a:rPr lang="en-US" sz="3000" dirty="0" smtClean="0">
                <a:solidFill>
                  <a:srgbClr val="FF0000"/>
                </a:solidFill>
              </a:rPr>
              <a:t>--</a:t>
            </a:r>
            <a:r>
              <a:rPr lang="en-US" sz="3000" dirty="0" smtClean="0"/>
              <a:t>): decrement variable by 1</a:t>
            </a:r>
          </a:p>
          <a:p>
            <a:pPr lvl="1" eaLnBrk="1" hangingPunct="1"/>
            <a:r>
              <a:rPr lang="en-US" dirty="0" smtClean="0">
                <a:solidFill>
                  <a:srgbClr val="FF0000"/>
                </a:solidFill>
              </a:rPr>
              <a:t>Pre</a:t>
            </a:r>
            <a:r>
              <a:rPr lang="en-US" dirty="0" smtClean="0"/>
              <a:t>-decrement: </a:t>
            </a:r>
            <a:r>
              <a:rPr lang="en-US" dirty="0" smtClean="0">
                <a:latin typeface="Courier New" panose="02070309020205020404" pitchFamily="49" charset="0"/>
              </a:rPr>
              <a:t>--variable</a:t>
            </a:r>
          </a:p>
          <a:p>
            <a:pPr lvl="1" eaLnBrk="1" hangingPunct="1"/>
            <a:r>
              <a:rPr lang="en-US" dirty="0" smtClean="0">
                <a:solidFill>
                  <a:srgbClr val="FF0000"/>
                </a:solidFill>
              </a:rPr>
              <a:t>Post</a:t>
            </a:r>
            <a:r>
              <a:rPr lang="en-US" dirty="0" smtClean="0"/>
              <a:t>-decrement: </a:t>
            </a:r>
            <a:r>
              <a:rPr lang="en-US" dirty="0" smtClean="0">
                <a:latin typeface="Courier New" panose="02070309020205020404" pitchFamily="49" charset="0"/>
              </a:rPr>
              <a:t>variable—</a:t>
            </a:r>
          </a:p>
          <a:p>
            <a:pPr eaLnBrk="1" hangingPunct="1"/>
            <a:r>
              <a:rPr lang="en-US" sz="3000" dirty="0" smtClean="0"/>
              <a:t>What is the difference between the following?</a:t>
            </a:r>
          </a:p>
          <a:p>
            <a:pPr lvl="1" eaLnBrk="1" hangingPunct="1"/>
            <a:endParaRPr lang="en-US" dirty="0" smtClean="0">
              <a:latin typeface="Courier New" panose="02070309020205020404" pitchFamily="49" charset="0"/>
            </a:endParaRP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7288" y="6408738"/>
            <a:ext cx="366712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1A7FF7B-F109-49E2-BDC0-CABA0BC602A0}" type="slidenum">
              <a:rPr lang="en-US">
                <a:solidFill>
                  <a:srgbClr val="045C75"/>
                </a:solidFill>
              </a:rPr>
              <a:pPr eaLnBrk="1" hangingPunct="1"/>
              <a:t>8</a:t>
            </a:fld>
            <a:endParaRPr lang="en-US">
              <a:solidFill>
                <a:srgbClr val="045C75"/>
              </a:solidFill>
            </a:endParaRPr>
          </a:p>
        </p:txBody>
      </p:sp>
      <p:sp>
        <p:nvSpPr>
          <p:cNvPr id="37893" name="Rectangle 6"/>
          <p:cNvSpPr>
            <a:spLocks noChangeArrowheads="1"/>
          </p:cNvSpPr>
          <p:nvPr/>
        </p:nvSpPr>
        <p:spPr bwMode="auto">
          <a:xfrm>
            <a:off x="2514600" y="5690394"/>
            <a:ext cx="18288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dirty="0">
                <a:latin typeface="Courier New" panose="02070309020205020404" pitchFamily="49" charset="0"/>
              </a:rPr>
              <a:t>x = 5;</a:t>
            </a:r>
          </a:p>
          <a:p>
            <a:pPr eaLnBrk="1" hangingPunct="1"/>
            <a:r>
              <a:rPr lang="en-US" sz="2400" dirty="0">
                <a:latin typeface="Courier New" panose="02070309020205020404" pitchFamily="49" charset="0"/>
              </a:rPr>
              <a:t>y = ++x;</a:t>
            </a:r>
          </a:p>
        </p:txBody>
      </p:sp>
      <p:sp>
        <p:nvSpPr>
          <p:cNvPr id="37894" name="Rectangle 7"/>
          <p:cNvSpPr>
            <a:spLocks noChangeArrowheads="1"/>
          </p:cNvSpPr>
          <p:nvPr/>
        </p:nvSpPr>
        <p:spPr bwMode="auto">
          <a:xfrm>
            <a:off x="4838462" y="5740797"/>
            <a:ext cx="18288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dirty="0">
                <a:latin typeface="Courier New" panose="02070309020205020404" pitchFamily="49" charset="0"/>
              </a:rPr>
              <a:t>x = 5;</a:t>
            </a:r>
          </a:p>
          <a:p>
            <a:pPr eaLnBrk="1" hangingPunct="1"/>
            <a:r>
              <a:rPr lang="en-US" sz="2400" dirty="0">
                <a:latin typeface="Courier New" panose="02070309020205020404" pitchFamily="49" charset="0"/>
              </a:rPr>
              <a:t>y = x++;</a:t>
            </a:r>
          </a:p>
        </p:txBody>
      </p:sp>
    </p:spTree>
  </p:cSld>
  <p:clrMapOvr>
    <a:masterClrMapping/>
  </p:clrMapOvr>
  <p:transition advTm="113735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2296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More on Assignment Statements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C++ has special assignment statements called compound assignments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dirty="0" smtClean="0">
                <a:latin typeface="Courier New" panose="02070309020205020404" pitchFamily="49" charset="0"/>
              </a:rPr>
              <a:t>+=</a:t>
            </a:r>
            <a:r>
              <a:rPr lang="en-US" dirty="0" smtClean="0"/>
              <a:t>, </a:t>
            </a:r>
            <a:r>
              <a:rPr lang="en-US" dirty="0" smtClean="0">
                <a:latin typeface="Courier New" panose="02070309020205020404" pitchFamily="49" charset="0"/>
              </a:rPr>
              <a:t>-=</a:t>
            </a:r>
            <a:r>
              <a:rPr lang="en-US" dirty="0" smtClean="0"/>
              <a:t>, </a:t>
            </a:r>
            <a:r>
              <a:rPr lang="en-US" dirty="0" smtClean="0">
                <a:latin typeface="Courier New" panose="02070309020205020404" pitchFamily="49" charset="0"/>
              </a:rPr>
              <a:t>*=</a:t>
            </a:r>
            <a:r>
              <a:rPr lang="en-US" dirty="0" smtClean="0"/>
              <a:t>, </a:t>
            </a:r>
            <a:r>
              <a:rPr lang="en-US" dirty="0" smtClean="0">
                <a:latin typeface="Courier New" panose="02070309020205020404" pitchFamily="49" charset="0"/>
              </a:rPr>
              <a:t>/=</a:t>
            </a:r>
            <a:r>
              <a:rPr lang="en-US" dirty="0" smtClean="0"/>
              <a:t>, and </a:t>
            </a:r>
            <a:r>
              <a:rPr lang="en-US" dirty="0" smtClean="0">
                <a:latin typeface="Courier New" panose="02070309020205020404" pitchFamily="49" charset="0"/>
              </a:rPr>
              <a:t>%=</a:t>
            </a:r>
          </a:p>
          <a:p>
            <a:pPr eaLnBrk="1" hangingPunct="1"/>
            <a:r>
              <a:rPr lang="en-US" dirty="0" smtClean="0"/>
              <a:t>Example:</a:t>
            </a:r>
          </a:p>
          <a:p>
            <a:pPr eaLnBrk="1" hangingPunct="1">
              <a:buFontTx/>
              <a:buNone/>
            </a:pPr>
            <a:r>
              <a:rPr lang="en-US" dirty="0" smtClean="0"/>
              <a:t>	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x=x*y;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</a:p>
          <a:p>
            <a:pPr eaLnBrk="1" hangingPunct="1">
              <a:buFontTx/>
              <a:buNone/>
            </a:pPr>
            <a:r>
              <a:rPr lang="en-US" dirty="0" smtClean="0">
                <a:latin typeface="Courier New" panose="02070309020205020404" pitchFamily="49" charset="0"/>
              </a:rPr>
              <a:t>  x *= y;</a:t>
            </a:r>
          </a:p>
          <a:p>
            <a:pPr eaLnBrk="1" hangingPunct="1">
              <a:buFontTx/>
              <a:buNone/>
            </a:pPr>
            <a:endParaRPr lang="en-US" dirty="0" smtClean="0">
              <a:latin typeface="Courier New" panose="02070309020205020404" pitchFamily="49" charset="0"/>
            </a:endParaRPr>
          </a:p>
          <a:p>
            <a:pPr eaLnBrk="1" hangingPunct="1"/>
            <a:endParaRPr lang="en-US" dirty="0" smtClean="0">
              <a:latin typeface="Courier New" panose="02070309020205020404" pitchFamily="49" charset="0"/>
            </a:endParaRP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7288" y="6408738"/>
            <a:ext cx="366712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A5772CE-1542-4B08-9DA0-456981FE6D0F}" type="slidenum">
              <a:rPr lang="en-US">
                <a:solidFill>
                  <a:srgbClr val="045C75"/>
                </a:solidFill>
              </a:rPr>
              <a:pPr eaLnBrk="1" hangingPunct="1"/>
              <a:t>9</a:t>
            </a:fld>
            <a:endParaRPr 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ransition advTm="27751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203" y="2057400"/>
            <a:ext cx="9079593" cy="353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42970"/>
      </p:ext>
    </p:extLst>
  </p:cSld>
  <p:clrMapOvr>
    <a:masterClrMapping/>
  </p:clrMapOvr>
  <p:transition advTm="12005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b="1" dirty="0" smtClean="0">
                <a:solidFill>
                  <a:srgbClr val="009999"/>
                </a:solidFill>
                <a:latin typeface="Courier New" panose="02070309020205020404" pitchFamily="49" charset="0"/>
              </a:rPr>
              <a:t>if</a:t>
            </a:r>
            <a:r>
              <a:rPr lang="en-US" dirty="0" smtClean="0"/>
              <a:t> structure</a:t>
            </a:r>
          </a:p>
          <a:p>
            <a:pPr lvl="1" eaLnBrk="1" hangingPunct="1"/>
            <a:r>
              <a:rPr lang="en-US" dirty="0" smtClean="0"/>
              <a:t>Decision based on truth or false of condition</a:t>
            </a:r>
          </a:p>
          <a:p>
            <a:pPr lvl="2" eaLnBrk="1" hangingPunct="1"/>
            <a:r>
              <a:rPr lang="en-US" dirty="0" smtClean="0"/>
              <a:t>If condition met, body executed</a:t>
            </a:r>
          </a:p>
          <a:p>
            <a:pPr lvl="2" eaLnBrk="1" hangingPunct="1"/>
            <a:r>
              <a:rPr lang="en-US" dirty="0" smtClean="0"/>
              <a:t>Else, body not executed</a:t>
            </a:r>
          </a:p>
          <a:p>
            <a:pPr eaLnBrk="1" hangingPunct="1"/>
            <a:r>
              <a:rPr lang="en-US" dirty="0" smtClean="0"/>
              <a:t>Equality and relational operators</a:t>
            </a:r>
          </a:p>
          <a:p>
            <a:pPr lvl="1" eaLnBrk="1" hangingPunct="1"/>
            <a:r>
              <a:rPr lang="en-US" dirty="0" smtClean="0"/>
              <a:t>Equality operators</a:t>
            </a:r>
          </a:p>
          <a:p>
            <a:pPr lvl="2" eaLnBrk="1" hangingPunct="1"/>
            <a:r>
              <a:rPr lang="en-US" dirty="0" smtClean="0"/>
              <a:t>Same level of precedence</a:t>
            </a:r>
          </a:p>
          <a:p>
            <a:pPr lvl="1" eaLnBrk="1" hangingPunct="1"/>
            <a:r>
              <a:rPr lang="en-US" dirty="0" smtClean="0"/>
              <a:t>Relational operators</a:t>
            </a:r>
          </a:p>
          <a:p>
            <a:pPr lvl="2" eaLnBrk="1" hangingPunct="1"/>
            <a:r>
              <a:rPr lang="en-US" dirty="0" smtClean="0"/>
              <a:t>Same level of precedence</a:t>
            </a:r>
          </a:p>
          <a:p>
            <a:pPr lvl="1" eaLnBrk="1" hangingPunct="1"/>
            <a:r>
              <a:rPr lang="en-US" dirty="0" smtClean="0"/>
              <a:t>Associate left to right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868363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smtClean="0"/>
              <a:t>Decision Making: Equality and Relational Operators</a:t>
            </a:r>
          </a:p>
        </p:txBody>
      </p:sp>
    </p:spTree>
    <p:custDataLst>
      <p:tags r:id="rId1"/>
    </p:custDataLst>
  </p:cSld>
  <p:clrMapOvr>
    <a:masterClrMapping/>
  </p:clrMapOvr>
  <p:transition advTm="2596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9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9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1757115"/>
              </p:ext>
            </p:extLst>
          </p:nvPr>
        </p:nvGraphicFramePr>
        <p:xfrm>
          <a:off x="-1293813" y="2051050"/>
          <a:ext cx="11693526" cy="442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Document" r:id="rId4" imgW="6283792" imgH="2377479" progId="Word.Document.8">
                  <p:embed/>
                </p:oleObj>
              </mc:Choice>
              <mc:Fallback>
                <p:oleObj name="Document" r:id="rId4" imgW="6283792" imgH="2377479" progId="Word.Document.8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293813" y="2051050"/>
                        <a:ext cx="11693526" cy="442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Decision Making: Equality and Relational Operators</a:t>
            </a:r>
          </a:p>
        </p:txBody>
      </p:sp>
    </p:spTree>
  </p:cSld>
  <p:clrMapOvr>
    <a:masterClrMapping/>
  </p:clrMapOvr>
  <p:transition advTm="14342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Relational Operators and Simple Data </a:t>
            </a:r>
            <a:r>
              <a:rPr lang="en-US" dirty="0" smtClean="0"/>
              <a:t>Types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" y="1920081"/>
            <a:ext cx="7510609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631702"/>
      </p:ext>
    </p:extLst>
  </p:cSld>
  <p:clrMapOvr>
    <a:masterClrMapping/>
  </p:clrMapOvr>
  <p:transition advTm="11833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7826375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u="sng" smtClean="0"/>
              <a:t>Operators			Precedence</a:t>
            </a:r>
            <a:endParaRPr lang="en-US" smtClean="0"/>
          </a:p>
          <a:p>
            <a:pPr eaLnBrk="1" hangingPunct="1">
              <a:buFontTx/>
              <a:buNone/>
            </a:pPr>
            <a:r>
              <a:rPr lang="en-US" b="1" smtClean="0">
                <a:latin typeface="Courier New" panose="02070309020205020404" pitchFamily="49" charset="0"/>
              </a:rPr>
              <a:t>()				</a:t>
            </a:r>
            <a:r>
              <a:rPr lang="en-US" smtClean="0"/>
              <a:t>highest (applied first)</a:t>
            </a:r>
            <a:endParaRPr lang="en-US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b="1" smtClean="0">
                <a:latin typeface="Courier New" panose="02070309020205020404" pitchFamily="49" charset="0"/>
              </a:rPr>
              <a:t>* / %			</a:t>
            </a:r>
            <a:endParaRPr lang="en-US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b="1" smtClean="0">
                <a:latin typeface="Courier New" panose="02070309020205020404" pitchFamily="49" charset="0"/>
              </a:rPr>
              <a:t>+ -				</a:t>
            </a:r>
            <a:endParaRPr lang="en-US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b="1" smtClean="0">
                <a:latin typeface="Courier New" panose="02070309020205020404" pitchFamily="49" charset="0"/>
              </a:rPr>
              <a:t>&lt; &lt;= &gt; &gt;=		</a:t>
            </a:r>
          </a:p>
          <a:p>
            <a:pPr eaLnBrk="1" hangingPunct="1">
              <a:buFontTx/>
              <a:buNone/>
            </a:pPr>
            <a:r>
              <a:rPr lang="en-US" b="1" smtClean="0">
                <a:latin typeface="Courier New" panose="02070309020205020404" pitchFamily="49" charset="0"/>
              </a:rPr>
              <a:t>== !=			</a:t>
            </a:r>
          </a:p>
          <a:p>
            <a:pPr eaLnBrk="1" hangingPunct="1">
              <a:buFontTx/>
              <a:buNone/>
            </a:pPr>
            <a:r>
              <a:rPr lang="en-US" b="1" smtClean="0">
                <a:latin typeface="Courier New" panose="02070309020205020404" pitchFamily="49" charset="0"/>
              </a:rPr>
              <a:t>=					</a:t>
            </a:r>
            <a:r>
              <a:rPr lang="en-US" smtClean="0"/>
              <a:t>lowest (applied last)</a:t>
            </a:r>
            <a:endParaRPr lang="en-US" b="1" smtClean="0">
              <a:latin typeface="Courier New" panose="02070309020205020404" pitchFamily="49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Precedence</a:t>
            </a:r>
          </a:p>
        </p:txBody>
      </p:sp>
      <p:sp>
        <p:nvSpPr>
          <p:cNvPr id="25604" name="Line 4"/>
          <p:cNvSpPr>
            <a:spLocks noChangeShapeType="1"/>
          </p:cNvSpPr>
          <p:nvPr/>
        </p:nvSpPr>
        <p:spPr bwMode="auto">
          <a:xfrm>
            <a:off x="5105400" y="2438400"/>
            <a:ext cx="0" cy="2209800"/>
          </a:xfrm>
          <a:prstGeom prst="line">
            <a:avLst/>
          </a:prstGeom>
          <a:noFill/>
          <a:ln w="76200">
            <a:solidFill>
              <a:schemeClr val="bg2">
                <a:lumMod val="50000"/>
              </a:schemeClr>
            </a:solidFill>
            <a:prstDash val="sysDot"/>
            <a:round/>
            <a:headEnd/>
            <a:tailEnd type="triangle" w="med" len="med"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</p:spTree>
  </p:cSld>
  <p:clrMapOvr>
    <a:masterClrMapping/>
  </p:clrMapOvr>
  <p:transition advTm="24805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Logical (Boolean) Operators and Logical </a:t>
            </a:r>
            <a:r>
              <a:rPr lang="en-US" sz="4400" dirty="0" smtClean="0"/>
              <a:t>Expressions</a:t>
            </a:r>
            <a:endParaRPr lang="en-US" sz="4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5249510"/>
              </p:ext>
            </p:extLst>
          </p:nvPr>
        </p:nvGraphicFramePr>
        <p:xfrm>
          <a:off x="457200" y="1981200"/>
          <a:ext cx="8229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Operator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&amp;&amp;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AND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||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OR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4038600"/>
            <a:ext cx="8568875" cy="164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753113"/>
      </p:ext>
    </p:extLst>
  </p:cSld>
  <p:clrMapOvr>
    <a:masterClrMapping/>
  </p:clrMapOvr>
  <p:transition advTm="13661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Conti…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sz="2000" dirty="0" smtClean="0"/>
              <a:t>AND &amp; OR operators work just like AND/OR-Gate as you studied in Physics in intermediate.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AND</a:t>
            </a:r>
            <a:r>
              <a:rPr lang="en-US" sz="2000" dirty="0" smtClean="0"/>
              <a:t> = True </a:t>
            </a:r>
            <a:r>
              <a:rPr lang="en-US" sz="2000" dirty="0" err="1" smtClean="0"/>
              <a:t>iff</a:t>
            </a:r>
            <a:r>
              <a:rPr lang="en-US" sz="2000" dirty="0" smtClean="0"/>
              <a:t> </a:t>
            </a:r>
            <a:r>
              <a:rPr lang="en-US" sz="2000" dirty="0">
                <a:solidFill>
                  <a:srgbClr val="FF0000"/>
                </a:solidFill>
              </a:rPr>
              <a:t>all</a:t>
            </a:r>
            <a:r>
              <a:rPr lang="en-US" sz="2000" dirty="0" smtClean="0"/>
              <a:t> conditions are </a:t>
            </a:r>
            <a:r>
              <a:rPr lang="en-US" sz="2000" dirty="0" smtClean="0">
                <a:solidFill>
                  <a:srgbClr val="FF0000"/>
                </a:solidFill>
              </a:rPr>
              <a:t>TRUE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OR</a:t>
            </a:r>
            <a:r>
              <a:rPr lang="en-US" sz="2000" dirty="0" smtClean="0"/>
              <a:t>  	 = False </a:t>
            </a:r>
            <a:r>
              <a:rPr lang="en-US" sz="2000" dirty="0" err="1" smtClean="0"/>
              <a:t>iff</a:t>
            </a:r>
            <a:r>
              <a:rPr lang="en-US" sz="2000" dirty="0" smtClean="0"/>
              <a:t> </a:t>
            </a:r>
            <a:r>
              <a:rPr lang="en-US" sz="2000" dirty="0">
                <a:solidFill>
                  <a:srgbClr val="FF0000"/>
                </a:solidFill>
              </a:rPr>
              <a:t>all</a:t>
            </a:r>
            <a:r>
              <a:rPr lang="en-US" sz="2000" dirty="0" smtClean="0"/>
              <a:t> results are </a:t>
            </a:r>
            <a:r>
              <a:rPr lang="en-US" sz="2000" dirty="0">
                <a:solidFill>
                  <a:srgbClr val="FF0000"/>
                </a:solidFill>
              </a:rPr>
              <a:t>FASLE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" y="1828800"/>
            <a:ext cx="7942075" cy="10239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24000" y="4724400"/>
            <a:ext cx="5800725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184906"/>
      </p:ext>
    </p:extLst>
  </p:cSld>
  <p:clrMapOvr>
    <a:masterClrMapping/>
  </p:clrMapOvr>
  <p:transition advTm="8094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Order of precedence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81000" y="1981200"/>
            <a:ext cx="7721870" cy="365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107940"/>
      </p:ext>
    </p:extLst>
  </p:cSld>
  <p:clrMapOvr>
    <a:masterClrMapping/>
  </p:clrMapOvr>
  <p:transition advTm="9953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/>
          <p:cNvSpPr>
            <a:spLocks noGrp="1" noChangeArrowheads="1"/>
          </p:cNvSpPr>
          <p:nvPr>
            <p:ph idx="1"/>
          </p:nvPr>
        </p:nvSpPr>
        <p:spPr>
          <a:xfrm>
            <a:off x="457200" y="884238"/>
            <a:ext cx="8229600" cy="5897562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2      // Using if statements, relational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3      // operators, and equality operators.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4      #include &lt;</a:t>
            </a:r>
            <a:r>
              <a:rPr lang="en-US" sz="2000" dirty="0" err="1" smtClean="0">
                <a:latin typeface="Times New Roman" panose="02020603050405020304" pitchFamily="18" charset="0"/>
              </a:rPr>
              <a:t>iostream</a:t>
            </a:r>
            <a:r>
              <a:rPr lang="en-US" sz="2000" dirty="0" smtClean="0">
                <a:latin typeface="Times New Roman" panose="02020603050405020304" pitchFamily="18" charset="0"/>
              </a:rPr>
              <a:t>&gt;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5      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6      using </a:t>
            </a:r>
            <a:r>
              <a:rPr lang="en-US" sz="2000" dirty="0" err="1" smtClean="0">
                <a:latin typeface="Times New Roman" panose="02020603050405020304" pitchFamily="18" charset="0"/>
              </a:rPr>
              <a:t>std</a:t>
            </a:r>
            <a:r>
              <a:rPr lang="en-US" sz="2000" dirty="0" smtClean="0">
                <a:latin typeface="Times New Roman" panose="02020603050405020304" pitchFamily="18" charset="0"/>
              </a:rPr>
              <a:t>::cout;  // program uses cout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7      using </a:t>
            </a:r>
            <a:r>
              <a:rPr lang="en-US" sz="2000" dirty="0" err="1" smtClean="0">
                <a:latin typeface="Times New Roman" panose="02020603050405020304" pitchFamily="18" charset="0"/>
              </a:rPr>
              <a:t>std</a:t>
            </a:r>
            <a:r>
              <a:rPr lang="en-US" sz="2000" dirty="0" smtClean="0">
                <a:latin typeface="Times New Roman" panose="02020603050405020304" pitchFamily="18" charset="0"/>
              </a:rPr>
              <a:t>::</a:t>
            </a:r>
            <a:r>
              <a:rPr lang="en-US" sz="2000" dirty="0" err="1" smtClean="0">
                <a:latin typeface="Times New Roman" panose="02020603050405020304" pitchFamily="18" charset="0"/>
              </a:rPr>
              <a:t>cin</a:t>
            </a:r>
            <a:r>
              <a:rPr lang="en-US" sz="2000" dirty="0" smtClean="0">
                <a:latin typeface="Times New Roman" panose="02020603050405020304" pitchFamily="18" charset="0"/>
              </a:rPr>
              <a:t>;   // program uses </a:t>
            </a:r>
            <a:r>
              <a:rPr lang="en-US" sz="2000" dirty="0" err="1" smtClean="0">
                <a:latin typeface="Times New Roman" panose="02020603050405020304" pitchFamily="18" charset="0"/>
              </a:rPr>
              <a:t>cin</a:t>
            </a:r>
            <a:r>
              <a:rPr lang="en-US" sz="2000" dirty="0" smtClean="0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8      using </a:t>
            </a:r>
            <a:r>
              <a:rPr lang="en-US" sz="2000" dirty="0" err="1" smtClean="0">
                <a:latin typeface="Times New Roman" panose="02020603050405020304" pitchFamily="18" charset="0"/>
              </a:rPr>
              <a:t>std</a:t>
            </a:r>
            <a:r>
              <a:rPr lang="en-US" sz="2000" dirty="0" smtClean="0">
                <a:latin typeface="Times New Roman" panose="02020603050405020304" pitchFamily="18" charset="0"/>
              </a:rPr>
              <a:t>::endl;  // program uses endl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9      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10    // function main begins program execution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11    int main()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12    {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13       int num1;  // first number to be read from user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14       int num2;  // second number to be read from user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15    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16       cout &lt;&lt; "Enter two integers, and I will tell you\n"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17            &lt;&lt; "the relationships they satisfy: ";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229600" cy="5524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 smtClean="0"/>
              <a:t>Another Programming Example</a:t>
            </a:r>
          </a:p>
        </p:txBody>
      </p:sp>
    </p:spTree>
  </p:cSld>
  <p:clrMapOvr>
    <a:masterClrMapping/>
  </p:clrMapOvr>
  <p:transition advTm="6641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4"/>
          <p:cNvSpPr>
            <a:spLocks noGrp="1" noChangeArrowheads="1"/>
          </p:cNvSpPr>
          <p:nvPr>
            <p:ph idx="1"/>
          </p:nvPr>
        </p:nvSpPr>
        <p:spPr>
          <a:xfrm>
            <a:off x="457200" y="808038"/>
            <a:ext cx="8229600" cy="5897562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18</a:t>
            </a:r>
            <a:r>
              <a:rPr lang="en-US" sz="2400" dirty="0" smtClean="0">
                <a:latin typeface="Times New Roman" panose="02020603050405020304" pitchFamily="18" charset="0"/>
              </a:rPr>
              <a:t>       </a:t>
            </a:r>
            <a:r>
              <a:rPr lang="en-US" sz="2000" dirty="0" err="1" smtClean="0">
                <a:latin typeface="Times New Roman" panose="02020603050405020304" pitchFamily="18" charset="0"/>
              </a:rPr>
              <a:t>cin</a:t>
            </a:r>
            <a:r>
              <a:rPr lang="en-US" sz="2000" dirty="0" smtClean="0">
                <a:latin typeface="Times New Roman" panose="02020603050405020304" pitchFamily="18" charset="0"/>
              </a:rPr>
              <a:t> &gt;&gt; num1 &gt;&gt; num2;   // read two integers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19    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20       if ( num1 == num2 )                                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21          cout &lt;&lt; num1 &lt;&lt; " is equal to " &lt;&lt; num2 &lt;&lt; endl;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22    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23       if ( num1 != num2 )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24          cout &lt;&lt; num1 &lt;&lt; " is not equal to " &lt;&lt; num2 &lt;&lt; endl;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25    </a:t>
            </a:r>
          </a:p>
        </p:txBody>
      </p:sp>
    </p:spTree>
  </p:cSld>
  <p:clrMapOvr>
    <a:masterClrMapping/>
  </p:clrMapOvr>
  <p:transition advTm="43508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/>
          <p:cNvSpPr>
            <a:spLocks noGrp="1" noChangeArrowheads="1"/>
          </p:cNvSpPr>
          <p:nvPr>
            <p:ph idx="1"/>
          </p:nvPr>
        </p:nvSpPr>
        <p:spPr>
          <a:xfrm>
            <a:off x="457200" y="960438"/>
            <a:ext cx="8229600" cy="5592762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2000" dirty="0" smtClean="0"/>
              <a:t>26      </a:t>
            </a:r>
            <a:r>
              <a:rPr lang="en-US" dirty="0" smtClean="0"/>
              <a:t> </a:t>
            </a:r>
            <a:r>
              <a:rPr lang="en-US" sz="2000" dirty="0" smtClean="0">
                <a:latin typeface="Times New Roman" panose="02020603050405020304" pitchFamily="18" charset="0"/>
              </a:rPr>
              <a:t>if ( num1 &lt; num2 )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27          cout &lt;&lt; num1 &lt;&lt; " is less than " &lt;&lt; num2 &lt;&lt; endl;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28    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29       if ( num1 &gt; num2 )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30          cout &lt;&lt; num1 &lt;&lt; " is greater than " &lt;&lt; num2 &lt;&lt; endl;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31    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32       if ( num1 &lt;= num2 )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33          cout &lt;&lt; num1 &lt;&lt; " is less than or equal to "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34               &lt;&lt; num2 &lt;&lt; endl;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35    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36       if ( num1 &gt;= num2 )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37          cout &lt;&lt; num1 &lt;&lt; " is greater than or equal to "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38               &lt;&lt; num2 &lt;&lt; endl;</a:t>
            </a:r>
          </a:p>
          <a:p>
            <a:pPr eaLnBrk="1" hangingPunct="1"/>
            <a:r>
              <a:rPr lang="en-US" sz="2000" dirty="0" smtClean="0">
                <a:latin typeface="Times New Roman" panose="02020603050405020304" pitchFamily="18" charset="0"/>
              </a:rPr>
              <a:t>39    </a:t>
            </a:r>
          </a:p>
          <a:p>
            <a:pPr eaLnBrk="1" hangingPunct="1"/>
            <a:endParaRPr lang="en-US" sz="2000" dirty="0" smtClean="0">
              <a:latin typeface="Times New Roman" panose="02020603050405020304" pitchFamily="18" charset="0"/>
            </a:endParaRPr>
          </a:p>
          <a:p>
            <a:pPr eaLnBrk="1" hangingPunct="1"/>
            <a:endParaRPr lang="en-US" sz="2000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advTm="11477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4"/>
          <p:cNvSpPr>
            <a:spLocks noGrp="1" noChangeArrowheads="1"/>
          </p:cNvSpPr>
          <p:nvPr>
            <p:ph idx="1"/>
          </p:nvPr>
        </p:nvSpPr>
        <p:spPr>
          <a:xfrm>
            <a:off x="457200" y="960438"/>
            <a:ext cx="8229600" cy="5745162"/>
          </a:xfrm>
          <a:solidFill>
            <a:schemeClr val="accent1"/>
          </a:solidFill>
        </p:spPr>
        <p:txBody>
          <a:bodyPr/>
          <a:lstStyle/>
          <a:p>
            <a:pPr eaLnBrk="1" hangingPunct="1">
              <a:buFontTx/>
              <a:buNone/>
            </a:pPr>
            <a:r>
              <a:rPr lang="en-US" smtClean="0"/>
              <a:t>   </a:t>
            </a:r>
          </a:p>
          <a:p>
            <a:pPr eaLnBrk="1" hangingPunct="1"/>
            <a:r>
              <a:rPr lang="en-US" sz="2000" smtClean="0">
                <a:latin typeface="Times New Roman" panose="02020603050405020304" pitchFamily="18" charset="0"/>
              </a:rPr>
              <a:t>40       return 0;   // indicate that program ended successfully</a:t>
            </a:r>
          </a:p>
          <a:p>
            <a:pPr eaLnBrk="1" hangingPunct="1"/>
            <a:r>
              <a:rPr lang="en-US" sz="2000" smtClean="0">
                <a:latin typeface="Times New Roman" panose="02020603050405020304" pitchFamily="18" charset="0"/>
              </a:rPr>
              <a:t>41    </a:t>
            </a:r>
          </a:p>
          <a:p>
            <a:pPr eaLnBrk="1" hangingPunct="1"/>
            <a:r>
              <a:rPr lang="en-US" sz="2000" smtClean="0">
                <a:latin typeface="Times New Roman" panose="02020603050405020304" pitchFamily="18" charset="0"/>
              </a:rPr>
              <a:t>42    } // end function main</a:t>
            </a:r>
          </a:p>
          <a:p>
            <a:pPr eaLnBrk="1" hangingPunct="1"/>
            <a:endParaRPr lang="en-US" sz="20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advTm="4782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4"/>
          <p:cNvSpPr>
            <a:spLocks noGrp="1" noChangeArrowheads="1"/>
          </p:cNvSpPr>
          <p:nvPr>
            <p:ph idx="1"/>
          </p:nvPr>
        </p:nvSpPr>
        <p:spPr>
          <a:xfrm>
            <a:off x="457200" y="808038"/>
            <a:ext cx="8229600" cy="5745162"/>
          </a:xfrm>
          <a:solidFill>
            <a:schemeClr val="hlink"/>
          </a:solidFill>
        </p:spPr>
        <p:txBody>
          <a:bodyPr/>
          <a:lstStyle/>
          <a:p>
            <a:pPr eaLnBrk="1" hangingPunct="1"/>
            <a:r>
              <a:rPr lang="en-US" b="1" smtClean="0"/>
              <a:t>Enter two integers, and I will tell you </a:t>
            </a:r>
          </a:p>
          <a:p>
            <a:pPr eaLnBrk="1" hangingPunct="1"/>
            <a:r>
              <a:rPr lang="en-US" b="1" smtClean="0"/>
              <a:t>the relationships they satisfy: 22 12</a:t>
            </a:r>
          </a:p>
          <a:p>
            <a:pPr eaLnBrk="1" hangingPunct="1"/>
            <a:r>
              <a:rPr lang="en-US" b="1" smtClean="0"/>
              <a:t>22 is not equal to 12</a:t>
            </a:r>
          </a:p>
          <a:p>
            <a:pPr eaLnBrk="1" hangingPunct="1"/>
            <a:r>
              <a:rPr lang="en-US" b="1" smtClean="0"/>
              <a:t>22 is greater than 12</a:t>
            </a:r>
          </a:p>
          <a:p>
            <a:pPr eaLnBrk="1" hangingPunct="1"/>
            <a:r>
              <a:rPr lang="en-US" b="1" smtClean="0"/>
              <a:t>22 is greater than or equal to 12</a:t>
            </a:r>
            <a:r>
              <a:rPr lang="en-US" smtClean="0"/>
              <a:t> </a:t>
            </a:r>
          </a:p>
        </p:txBody>
      </p:sp>
    </p:spTree>
  </p:cSld>
  <p:clrMapOvr>
    <a:masterClrMapping/>
  </p:clrMapOvr>
  <p:transition advTm="19106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7|0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761</Words>
  <Application>Microsoft Office PowerPoint</Application>
  <PresentationFormat>On-screen Show (4:3)</PresentationFormat>
  <Paragraphs>154</Paragraphs>
  <Slides>22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Courier New</vt:lpstr>
      <vt:lpstr>Times New Roman</vt:lpstr>
      <vt:lpstr>Office Theme</vt:lpstr>
      <vt:lpstr>Document</vt:lpstr>
      <vt:lpstr>More on operators</vt:lpstr>
      <vt:lpstr>Assignment Statement</vt:lpstr>
      <vt:lpstr>Assignment Statement (cont'd.)</vt:lpstr>
      <vt:lpstr>PowerPoint Presentation</vt:lpstr>
      <vt:lpstr>Declaring &amp; Initializing Variables</vt:lpstr>
      <vt:lpstr>Input Statement</vt:lpstr>
      <vt:lpstr>Output</vt:lpstr>
      <vt:lpstr>Increment and Decrement Operators</vt:lpstr>
      <vt:lpstr>More on Assignment Statements</vt:lpstr>
      <vt:lpstr>Example </vt:lpstr>
      <vt:lpstr>Decision Making: Equality and Relational Operators</vt:lpstr>
      <vt:lpstr>Decision Making: Equality and Relational Operators</vt:lpstr>
      <vt:lpstr>Relational Operators and Simple Data Types</vt:lpstr>
      <vt:lpstr>Precedence</vt:lpstr>
      <vt:lpstr>Logical (Boolean) Operators and Logical Expressions</vt:lpstr>
      <vt:lpstr>Conti… </vt:lpstr>
      <vt:lpstr>Order of precedence </vt:lpstr>
      <vt:lpstr>Another Programming Example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 on operators</dc:title>
  <dc:creator>sadia tariq</dc:creator>
  <cp:lastModifiedBy>Microsoft account</cp:lastModifiedBy>
  <cp:revision>5</cp:revision>
  <dcterms:created xsi:type="dcterms:W3CDTF">2020-05-30T13:52:24Z</dcterms:created>
  <dcterms:modified xsi:type="dcterms:W3CDTF">2025-10-26T07:53:20Z</dcterms:modified>
</cp:coreProperties>
</file>