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A79F0-5F8A-0F42-C898-317F110383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DAB727-95D0-4E7F-ADEA-A8802F97FE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5D1A37-8D45-8FEF-A848-805FC474C55B}"/>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5" name="Footer Placeholder 4">
            <a:extLst>
              <a:ext uri="{FF2B5EF4-FFF2-40B4-BE49-F238E27FC236}">
                <a16:creationId xmlns:a16="http://schemas.microsoft.com/office/drawing/2014/main" id="{5C0BCDAF-9231-8A45-4AB2-B8B8D926DC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71DF4-E9E7-7AF9-2CAD-BDADFC3BB242}"/>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3520269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83846-3585-84B2-19C5-F9545BBC2A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357F1-EDFE-F92F-6AF0-71CC904AF2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8CDCD-1F2F-059D-48B6-3A4E7BA3DEEA}"/>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5" name="Footer Placeholder 4">
            <a:extLst>
              <a:ext uri="{FF2B5EF4-FFF2-40B4-BE49-F238E27FC236}">
                <a16:creationId xmlns:a16="http://schemas.microsoft.com/office/drawing/2014/main" id="{ED1035C6-99BE-F4F5-6A1C-33508DFB65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5367A-3F04-E4D1-4A25-B9C94E62ED9B}"/>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2773422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7F68-A1FC-B8DB-37EE-82072A106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D2D5D1-A304-B373-4471-014BDC007F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288C12-C26D-3519-0C09-28C2B2F1515E}"/>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5" name="Footer Placeholder 4">
            <a:extLst>
              <a:ext uri="{FF2B5EF4-FFF2-40B4-BE49-F238E27FC236}">
                <a16:creationId xmlns:a16="http://schemas.microsoft.com/office/drawing/2014/main" id="{3E04F633-3E70-2827-3A55-1EEEE47D1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1256D6-C680-5B34-9BA1-CF919ECC753B}"/>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3049599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CB71A-DEEA-E800-024F-BA98104489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69E005-9A98-1E4E-1AF5-0523EBF104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71635B-4A37-58CB-FDF9-A92C8EC356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8D781C-BF13-E405-9BB9-33CB9632988F}"/>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6" name="Footer Placeholder 5">
            <a:extLst>
              <a:ext uri="{FF2B5EF4-FFF2-40B4-BE49-F238E27FC236}">
                <a16:creationId xmlns:a16="http://schemas.microsoft.com/office/drawing/2014/main" id="{5340DF64-B0B0-56D0-D1E9-C8233B16C4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91E508-F918-1460-25D5-A0789329C59B}"/>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157479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B2DC-D048-ABCD-343E-766764D2A6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524D29-3F43-5BDA-F536-E2B677987F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ACD875-555E-1E56-584D-852419DF22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7A9551-07E3-2EF7-CAC9-B0E0023C0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DCAD49-1EAF-1589-84BB-48560EB987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C8FD20-5F49-4D99-FEE5-6E6FE7584585}"/>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8" name="Footer Placeholder 7">
            <a:extLst>
              <a:ext uri="{FF2B5EF4-FFF2-40B4-BE49-F238E27FC236}">
                <a16:creationId xmlns:a16="http://schemas.microsoft.com/office/drawing/2014/main" id="{55E2BE2D-E226-C633-2025-1D0B7362E5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2709AD-4E3A-079D-ADE4-BE5F96AA6ECD}"/>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428256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AECD1-F63E-F610-7989-94D1947F6E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4942E1-C645-A8BE-F347-0CD094031086}"/>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4" name="Footer Placeholder 3">
            <a:extLst>
              <a:ext uri="{FF2B5EF4-FFF2-40B4-BE49-F238E27FC236}">
                <a16:creationId xmlns:a16="http://schemas.microsoft.com/office/drawing/2014/main" id="{65DF66B8-FB6A-CF87-061E-4C1E73642C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F2CFB5-3D73-4CED-EDEE-1013BF3690DF}"/>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2880178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FC2ACC-C48A-A56D-C87B-67B21B2B1D23}"/>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3" name="Footer Placeholder 2">
            <a:extLst>
              <a:ext uri="{FF2B5EF4-FFF2-40B4-BE49-F238E27FC236}">
                <a16:creationId xmlns:a16="http://schemas.microsoft.com/office/drawing/2014/main" id="{C413ED88-4BF0-C93A-9592-FC0CEFDFAA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3BD89A-3269-AF2F-E23A-FF09B6987913}"/>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922601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4AE8B-EF40-61EC-2742-FD7258236A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269316-1132-82D8-596D-C52BE78C9A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A32428-BDB2-C911-E56E-F1A3BD58AF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10220E-24C2-B2AB-B2FA-EAA7B7630E4B}"/>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6" name="Footer Placeholder 5">
            <a:extLst>
              <a:ext uri="{FF2B5EF4-FFF2-40B4-BE49-F238E27FC236}">
                <a16:creationId xmlns:a16="http://schemas.microsoft.com/office/drawing/2014/main" id="{F1E91877-556D-33A0-715E-F75C824B46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3FF116-0FED-B106-973D-9EC8A2082EF4}"/>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134952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22708-1FF7-0195-399F-6705780EB1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1C93F1-AE70-87E2-F98A-42D183AF49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4C808A-931F-0590-F3B9-765123E11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468D0-146C-0F45-AD80-881410787232}"/>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6" name="Footer Placeholder 5">
            <a:extLst>
              <a:ext uri="{FF2B5EF4-FFF2-40B4-BE49-F238E27FC236}">
                <a16:creationId xmlns:a16="http://schemas.microsoft.com/office/drawing/2014/main" id="{B91F3B46-C7CF-FBA7-F05F-22C9E8321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50E79E-FBBF-4C8B-87F0-E7E32B96646A}"/>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3260480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08C7-9AE0-2BCB-8DDA-DC06C54DF4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6F0994-D29A-7AE5-BF16-9BE27BBDB1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53995-E407-9FF4-430C-998BB0A21656}"/>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5" name="Footer Placeholder 4">
            <a:extLst>
              <a:ext uri="{FF2B5EF4-FFF2-40B4-BE49-F238E27FC236}">
                <a16:creationId xmlns:a16="http://schemas.microsoft.com/office/drawing/2014/main" id="{133CD5E3-46A0-1768-3DB9-BF4F8A004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3221D5-5095-4650-A683-F15B7F02F2EE}"/>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3352932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88808-2B63-E765-5E85-5048CE0FC6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A3804A-5F4F-6595-CEB2-E8FDD9B075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DCB646-58E8-5A7B-AAC8-EBDB9498BFDA}"/>
              </a:ext>
            </a:extLst>
          </p:cNvPr>
          <p:cNvSpPr>
            <a:spLocks noGrp="1"/>
          </p:cNvSpPr>
          <p:nvPr>
            <p:ph type="dt" sz="half" idx="10"/>
          </p:nvPr>
        </p:nvSpPr>
        <p:spPr/>
        <p:txBody>
          <a:bodyPr/>
          <a:lstStyle/>
          <a:p>
            <a:fld id="{B10FFFDA-43F6-4582-B20E-CD11CECE505D}" type="datetimeFigureOut">
              <a:rPr lang="en-US" smtClean="0"/>
              <a:t>10/13/2025</a:t>
            </a:fld>
            <a:endParaRPr lang="en-US"/>
          </a:p>
        </p:txBody>
      </p:sp>
      <p:sp>
        <p:nvSpPr>
          <p:cNvPr id="5" name="Footer Placeholder 4">
            <a:extLst>
              <a:ext uri="{FF2B5EF4-FFF2-40B4-BE49-F238E27FC236}">
                <a16:creationId xmlns:a16="http://schemas.microsoft.com/office/drawing/2014/main" id="{C7A781F6-C310-216C-5919-F45753F34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887A5-7781-86F6-22AA-A85C5134C051}"/>
              </a:ext>
            </a:extLst>
          </p:cNvPr>
          <p:cNvSpPr>
            <a:spLocks noGrp="1"/>
          </p:cNvSpPr>
          <p:nvPr>
            <p:ph type="sldNum" sz="quarter" idx="12"/>
          </p:nvPr>
        </p:nvSpPr>
        <p:spPr/>
        <p:txBody>
          <a:bodyPr/>
          <a:lstStyle/>
          <a:p>
            <a:fld id="{7DD40BAF-3C6E-40B1-A12A-5EBB9A37C38E}" type="slidenum">
              <a:rPr lang="en-US" smtClean="0"/>
              <a:t>‹#›</a:t>
            </a:fld>
            <a:endParaRPr lang="en-US"/>
          </a:p>
        </p:txBody>
      </p:sp>
    </p:spTree>
    <p:extLst>
      <p:ext uri="{BB962C8B-B14F-4D97-AF65-F5344CB8AC3E}">
        <p14:creationId xmlns:p14="http://schemas.microsoft.com/office/powerpoint/2010/main" val="1768023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FEF126-4A40-01E5-C219-1B04C491B0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85E594-F284-FA3F-8354-0EF2ACF6D3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47171-FE46-9447-FFA5-94AE24D290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0FFFDA-43F6-4582-B20E-CD11CECE505D}" type="datetimeFigureOut">
              <a:rPr lang="en-US" smtClean="0"/>
              <a:t>10/13/2025</a:t>
            </a:fld>
            <a:endParaRPr lang="en-US"/>
          </a:p>
        </p:txBody>
      </p:sp>
      <p:sp>
        <p:nvSpPr>
          <p:cNvPr id="5" name="Footer Placeholder 4">
            <a:extLst>
              <a:ext uri="{FF2B5EF4-FFF2-40B4-BE49-F238E27FC236}">
                <a16:creationId xmlns:a16="http://schemas.microsoft.com/office/drawing/2014/main" id="{2169562C-65EC-A56B-9365-4DBC24BC65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0AA5BD-D609-B516-B665-18681E4F0C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D40BAF-3C6E-40B1-A12A-5EBB9A37C38E}" type="slidenum">
              <a:rPr lang="en-US" smtClean="0"/>
              <a:t>‹#›</a:t>
            </a:fld>
            <a:endParaRPr lang="en-US"/>
          </a:p>
        </p:txBody>
      </p:sp>
    </p:spTree>
    <p:extLst>
      <p:ext uri="{BB962C8B-B14F-4D97-AF65-F5344CB8AC3E}">
        <p14:creationId xmlns:p14="http://schemas.microsoft.com/office/powerpoint/2010/main" val="2777934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73421-4139-48EF-285F-39BFC9EA1C8E}"/>
              </a:ext>
            </a:extLst>
          </p:cNvPr>
          <p:cNvSpPr>
            <a:spLocks noGrp="1"/>
          </p:cNvSpPr>
          <p:nvPr>
            <p:ph type="ctrTitle"/>
          </p:nvPr>
        </p:nvSpPr>
        <p:spPr/>
        <p:txBody>
          <a:bodyPr>
            <a:normAutofit fontScale="90000"/>
          </a:bodyPr>
          <a:lstStyle/>
          <a:p>
            <a:pPr algn="l"/>
            <a:r>
              <a:rPr lang="en-US" sz="3200" b="1" i="0" u="none" strike="noStrike" baseline="0" dirty="0">
                <a:solidFill>
                  <a:srgbClr val="D2523B"/>
                </a:solidFill>
                <a:latin typeface="Arial" panose="020B0604020202020204" pitchFamily="34" charset="0"/>
              </a:rPr>
              <a:t>LEC # </a:t>
            </a:r>
            <a:r>
              <a:rPr lang="en-US" sz="3200" b="1" i="0" u="none" strike="noStrike" baseline="0" dirty="0" smtClean="0">
                <a:solidFill>
                  <a:srgbClr val="D2523B"/>
                </a:solidFill>
                <a:latin typeface="Arial" panose="020B0604020202020204" pitchFamily="34" charset="0"/>
              </a:rPr>
              <a:t>01</a:t>
            </a:r>
            <a:br>
              <a:rPr lang="en-US" sz="3200" b="1" i="0" u="none" strike="noStrike" baseline="0" dirty="0" smtClean="0">
                <a:solidFill>
                  <a:srgbClr val="D2523B"/>
                </a:solidFill>
                <a:latin typeface="Arial" panose="020B0604020202020204" pitchFamily="34" charset="0"/>
              </a:rPr>
            </a:br>
            <a:r>
              <a:rPr lang="en-US" sz="3200" b="1" i="0" u="none" strike="noStrike" baseline="0" dirty="0" smtClean="0">
                <a:solidFill>
                  <a:srgbClr val="D2523B"/>
                </a:solidFill>
                <a:latin typeface="Arial" panose="020B0604020202020204" pitchFamily="34" charset="0"/>
              </a:rPr>
              <a:t/>
            </a:r>
            <a:br>
              <a:rPr lang="en-US" sz="3200" b="1" i="0" u="none" strike="noStrike" baseline="0" dirty="0" smtClean="0">
                <a:solidFill>
                  <a:srgbClr val="D2523B"/>
                </a:solidFill>
                <a:latin typeface="Arial" panose="020B0604020202020204" pitchFamily="34" charset="0"/>
              </a:rPr>
            </a:br>
            <a:r>
              <a:rPr lang="en-US" sz="1800" b="0" i="0" u="none" strike="noStrike" baseline="0" dirty="0" smtClean="0">
                <a:solidFill>
                  <a:srgbClr val="D2523B"/>
                </a:solidFill>
                <a:latin typeface="Arial" panose="020B0604020202020204" pitchFamily="34" charset="0"/>
              </a:rPr>
              <a:t/>
            </a:r>
            <a:br>
              <a:rPr lang="en-US" sz="1800" b="0" i="0" u="none" strike="noStrike" baseline="0" dirty="0" smtClean="0">
                <a:solidFill>
                  <a:srgbClr val="D2523B"/>
                </a:solidFill>
                <a:latin typeface="Arial" panose="020B0604020202020204" pitchFamily="34" charset="0"/>
              </a:rPr>
            </a:br>
            <a:r>
              <a:rPr lang="en-US" sz="1800" b="0" i="0" u="none" strike="noStrike" baseline="0" dirty="0" smtClean="0">
                <a:solidFill>
                  <a:srgbClr val="D2523B"/>
                </a:solidFill>
                <a:latin typeface="Arial" panose="020B0604020202020204" pitchFamily="34" charset="0"/>
              </a:rPr>
              <a:t> </a:t>
            </a:r>
            <a:br>
              <a:rPr lang="en-US" sz="1800" b="0" i="0" u="none" strike="noStrike" baseline="0" dirty="0" smtClean="0">
                <a:solidFill>
                  <a:srgbClr val="D2523B"/>
                </a:solidFill>
                <a:latin typeface="Arial" panose="020B0604020202020204" pitchFamily="34" charset="0"/>
              </a:rPr>
            </a:br>
            <a:r>
              <a:rPr lang="en-US" sz="2800" b="1" dirty="0" smtClean="0">
                <a:solidFill>
                  <a:srgbClr val="56566D"/>
                </a:solidFill>
                <a:latin typeface="Arial" panose="020B0604020202020204" pitchFamily="34" charset="0"/>
              </a:rPr>
              <a:t>Applications </a:t>
            </a:r>
            <a:r>
              <a:rPr lang="en-US" sz="2800" b="1" smtClean="0">
                <a:solidFill>
                  <a:srgbClr val="56566D"/>
                </a:solidFill>
                <a:latin typeface="Arial" panose="020B0604020202020204" pitchFamily="34" charset="0"/>
              </a:rPr>
              <a:t>of Information</a:t>
            </a:r>
            <a:r>
              <a:rPr lang="en-US" sz="2800" b="1" i="0" u="none" strike="noStrike" baseline="0" smtClean="0">
                <a:solidFill>
                  <a:srgbClr val="56566D"/>
                </a:solidFill>
                <a:latin typeface="Arial" panose="020B0604020202020204" pitchFamily="34" charset="0"/>
              </a:rPr>
              <a:t> </a:t>
            </a:r>
            <a:r>
              <a:rPr lang="en-US" sz="2800" b="1" i="0" u="none" strike="noStrike" baseline="0" dirty="0">
                <a:solidFill>
                  <a:srgbClr val="56566D"/>
                </a:solidFill>
                <a:latin typeface="Arial" panose="020B0604020202020204" pitchFamily="34" charset="0"/>
              </a:rPr>
              <a:t>and Computing Technology</a:t>
            </a:r>
            <a:r>
              <a:rPr lang="en-US" sz="1800" b="0" i="0" u="none" strike="noStrike" baseline="0" dirty="0">
                <a:solidFill>
                  <a:srgbClr val="56566D"/>
                </a:solidFill>
                <a:latin typeface="Arial" panose="020B0604020202020204" pitchFamily="34" charset="0"/>
              </a:rPr>
              <a:t/>
            </a:r>
            <a:br>
              <a:rPr lang="en-US" sz="1800" b="0" i="0" u="none" strike="noStrike" baseline="0" dirty="0">
                <a:solidFill>
                  <a:srgbClr val="56566D"/>
                </a:solidFill>
                <a:latin typeface="Arial" panose="020B0604020202020204" pitchFamily="34" charset="0"/>
              </a:rPr>
            </a:br>
            <a:endParaRPr lang="en-US" dirty="0"/>
          </a:p>
        </p:txBody>
      </p:sp>
      <p:sp>
        <p:nvSpPr>
          <p:cNvPr id="3" name="Subtitle 2">
            <a:extLst>
              <a:ext uri="{FF2B5EF4-FFF2-40B4-BE49-F238E27FC236}">
                <a16:creationId xmlns:a16="http://schemas.microsoft.com/office/drawing/2014/main" id="{67C717FD-7C86-904A-9533-F2172540563B}"/>
              </a:ext>
            </a:extLst>
          </p:cNvPr>
          <p:cNvSpPr>
            <a:spLocks noGrp="1"/>
          </p:cNvSpPr>
          <p:nvPr>
            <p:ph type="subTitle" idx="1"/>
          </p:nvPr>
        </p:nvSpPr>
        <p:spPr/>
        <p:txBody>
          <a:bodyPr/>
          <a:lstStyle/>
          <a:p>
            <a:endParaRPr lang="en-US" dirty="0"/>
          </a:p>
          <a:p>
            <a:pPr algn="l"/>
            <a:r>
              <a:rPr lang="en-US" sz="2800" dirty="0"/>
              <a:t>Ahsan Bilal Shakir</a:t>
            </a:r>
          </a:p>
        </p:txBody>
      </p:sp>
    </p:spTree>
    <p:extLst>
      <p:ext uri="{BB962C8B-B14F-4D97-AF65-F5344CB8AC3E}">
        <p14:creationId xmlns:p14="http://schemas.microsoft.com/office/powerpoint/2010/main" val="179279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C494-E8CD-95C7-239A-6FE4901BAE3C}"/>
              </a:ext>
            </a:extLst>
          </p:cNvPr>
          <p:cNvSpPr>
            <a:spLocks noGrp="1"/>
          </p:cNvSpPr>
          <p:nvPr>
            <p:ph type="title"/>
          </p:nvPr>
        </p:nvSpPr>
        <p:spPr/>
        <p:txBody>
          <a:bodyPr>
            <a:normAutofit/>
          </a:bodyPr>
          <a:lstStyle/>
          <a:p>
            <a:r>
              <a:rPr lang="en-US" sz="3200" b="1" u="none" strike="noStrike" baseline="0" dirty="0">
                <a:latin typeface="Times New Roman" panose="02020603050405020304" pitchFamily="18" charset="0"/>
                <a:cs typeface="Times New Roman" panose="02020603050405020304" pitchFamily="18" charset="0"/>
              </a:rPr>
              <a:t>Information Technology</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44F410-BD91-1941-18BA-8BDEA4F16C22}"/>
              </a:ext>
            </a:extLst>
          </p:cNvPr>
          <p:cNvSpPr>
            <a:spLocks noGrp="1"/>
          </p:cNvSpPr>
          <p:nvPr>
            <p:ph idx="1"/>
          </p:nvPr>
        </p:nvSpPr>
        <p:spPr/>
        <p:txBody>
          <a:bodyPr>
            <a:normAutofit/>
          </a:bodyPr>
          <a:lstStyle/>
          <a:p>
            <a:pPr algn="just"/>
            <a:r>
              <a:rPr lang="en-US" b="1" i="1" u="sng" strike="noStrike" baseline="0" dirty="0">
                <a:latin typeface="Times New Roman" panose="02020603050405020304" pitchFamily="18" charset="0"/>
                <a:cs typeface="Times New Roman" panose="02020603050405020304" pitchFamily="18" charset="0"/>
              </a:rPr>
              <a:t>Definition:</a:t>
            </a:r>
          </a:p>
          <a:p>
            <a:pPr algn="just"/>
            <a:r>
              <a:rPr lang="en-US" b="1" i="1" u="none" strike="noStrike" baseline="0" dirty="0">
                <a:latin typeface="Times New Roman" panose="02020603050405020304" pitchFamily="18" charset="0"/>
                <a:cs typeface="Times New Roman" panose="02020603050405020304" pitchFamily="18" charset="0"/>
              </a:rPr>
              <a:t>Information technology (IT</a:t>
            </a:r>
            <a:r>
              <a:rPr lang="en-US" i="1" u="none" strike="noStrike" baseline="0" dirty="0">
                <a:latin typeface="Times New Roman" panose="02020603050405020304" pitchFamily="18" charset="0"/>
                <a:cs typeface="Times New Roman" panose="02020603050405020304" pitchFamily="18" charset="0"/>
              </a:rPr>
              <a:t>) </a:t>
            </a:r>
            <a:r>
              <a:rPr lang="en-US" i="0" u="none" strike="noStrike" baseline="0" dirty="0">
                <a:latin typeface="Times New Roman" panose="02020603050405020304" pitchFamily="18" charset="0"/>
                <a:cs typeface="Times New Roman" panose="02020603050405020304" pitchFamily="18" charset="0"/>
              </a:rPr>
              <a:t>is a general term that describes any technology that helps to produce, manipulate, store, communicate, and/or disseminate information.</a:t>
            </a:r>
          </a:p>
          <a:p>
            <a:pPr marL="0" indent="0" algn="just">
              <a:buNone/>
            </a:pPr>
            <a:endParaRPr lang="en-US" i="0" u="none" strike="noStrike" baseline="0" dirty="0">
              <a:latin typeface="Times New Roman" panose="02020603050405020304" pitchFamily="18" charset="0"/>
              <a:cs typeface="Times New Roman" panose="02020603050405020304" pitchFamily="18" charset="0"/>
            </a:endParaRPr>
          </a:p>
          <a:p>
            <a:pPr algn="just"/>
            <a:r>
              <a:rPr lang="en-US" b="1" i="1" u="sng" strike="noStrike" baseline="0" dirty="0">
                <a:latin typeface="Times New Roman" panose="02020603050405020304" pitchFamily="18" charset="0"/>
                <a:cs typeface="Times New Roman" panose="02020603050405020304" pitchFamily="18" charset="0"/>
              </a:rPr>
              <a:t>Examples</a:t>
            </a:r>
            <a:r>
              <a:rPr lang="en-US" b="0" i="0" u="none" strike="noStrike" baseline="0" dirty="0">
                <a:latin typeface="Times New Roman" panose="02020603050405020304" pitchFamily="18" charset="0"/>
                <a:cs typeface="Times New Roman" panose="02020603050405020304" pitchFamily="18" charset="0"/>
              </a:rPr>
              <a:t> of information technology include personal computers but also new forms of telephones, televisions, appliances, and various handheld devices.</a:t>
            </a:r>
          </a:p>
          <a:p>
            <a:pPr algn="just"/>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here are two important parts to information technology—computers and communications.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712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D852A-CF07-220E-E89C-0F9B9B66FAF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1. Computer</a:t>
            </a:r>
            <a:r>
              <a:rPr lang="en-US" sz="3200" b="1" i="0" u="none" strike="noStrike" baseline="0" dirty="0">
                <a:latin typeface="Times New Roman" panose="02020603050405020304" pitchFamily="18" charset="0"/>
                <a:cs typeface="Times New Roman" panose="02020603050405020304" pitchFamily="18" charset="0"/>
              </a:rPr>
              <a:t> Technology</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FC1448-4187-3E49-ADD4-F3F8769A72BC}"/>
              </a:ext>
            </a:extLst>
          </p:cNvPr>
          <p:cNvSpPr>
            <a:spLocks noGrp="1"/>
          </p:cNvSpPr>
          <p:nvPr>
            <p:ph idx="1"/>
          </p:nvPr>
        </p:nvSpPr>
        <p:spPr/>
        <p:txBody>
          <a:bodyPr>
            <a:normAutofit/>
          </a:bodyPr>
          <a:lstStyle/>
          <a:p>
            <a:pPr algn="just"/>
            <a:r>
              <a:rPr lang="en-US" u="sng" dirty="0">
                <a:latin typeface="Times New Roman" panose="02020603050405020304" pitchFamily="18" charset="0"/>
                <a:cs typeface="Times New Roman" panose="02020603050405020304" pitchFamily="18" charset="0"/>
              </a:rPr>
              <a:t>Definition:</a:t>
            </a:r>
          </a:p>
          <a:p>
            <a:pPr algn="just"/>
            <a:r>
              <a:rPr lang="en-US" b="1" i="0" u="none" strike="noStrike" baseline="0" dirty="0">
                <a:latin typeface="Times New Roman" panose="02020603050405020304" pitchFamily="18" charset="0"/>
                <a:cs typeface="Times New Roman" panose="02020603050405020304" pitchFamily="18" charset="0"/>
              </a:rPr>
              <a:t>A </a:t>
            </a:r>
            <a:r>
              <a:rPr lang="en-US" b="1" i="1" u="none" strike="noStrike" baseline="0" dirty="0">
                <a:latin typeface="Times New Roman" panose="02020603050405020304" pitchFamily="18" charset="0"/>
                <a:cs typeface="Times New Roman" panose="02020603050405020304" pitchFamily="18" charset="0"/>
              </a:rPr>
              <a:t>computer </a:t>
            </a:r>
            <a:r>
              <a:rPr lang="en-US" i="0" u="none" strike="noStrike" baseline="0" dirty="0">
                <a:latin typeface="Times New Roman" panose="02020603050405020304" pitchFamily="18" charset="0"/>
                <a:cs typeface="Times New Roman" panose="02020603050405020304" pitchFamily="18" charset="0"/>
              </a:rPr>
              <a:t>is a programmable, multiuse machine that accepts data—raw facts and figures—and processes, or manipulates, it into information we can use, such as summaries, totals, or reports.</a:t>
            </a:r>
          </a:p>
          <a:p>
            <a:pPr marL="0" indent="0" algn="just">
              <a:buNone/>
            </a:pPr>
            <a:endParaRPr lang="en-US"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Its purpose is to speed up problem solving and increase productivity.</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835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6EDE0-F4B5-D80B-4026-9CD44B646597}"/>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2. Communications</a:t>
            </a:r>
            <a:r>
              <a:rPr lang="en-US" sz="2800" b="1" i="0" u="none" strike="noStrike" baseline="0" dirty="0">
                <a:latin typeface="Times New Roman" panose="02020603050405020304" pitchFamily="18" charset="0"/>
                <a:cs typeface="Times New Roman" panose="02020603050405020304" pitchFamily="18" charset="0"/>
              </a:rPr>
              <a:t> Technology</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AF6B0B-0C4C-4DEB-42B7-05DA414D5F65}"/>
              </a:ext>
            </a:extLst>
          </p:cNvPr>
          <p:cNvSpPr>
            <a:spLocks noGrp="1"/>
          </p:cNvSpPr>
          <p:nvPr>
            <p:ph idx="1"/>
          </p:nvPr>
        </p:nvSpPr>
        <p:spPr/>
        <p:txBody>
          <a:bodyPr>
            <a:normAutofit/>
          </a:bodyPr>
          <a:lstStyle/>
          <a:p>
            <a:pPr algn="just"/>
            <a:r>
              <a:rPr lang="en-US" b="1" i="1" u="none" strike="noStrike" baseline="0" dirty="0">
                <a:latin typeface="Times New Roman" panose="02020603050405020304" pitchFamily="18" charset="0"/>
                <a:cs typeface="Times New Roman" panose="02020603050405020304" pitchFamily="18" charset="0"/>
              </a:rPr>
              <a:t>Communications technology</a:t>
            </a:r>
            <a:r>
              <a:rPr lang="en-US" u="none" strike="noStrike" baseline="0" dirty="0">
                <a:latin typeface="Times New Roman" panose="02020603050405020304" pitchFamily="18" charset="0"/>
                <a:cs typeface="Times New Roman" panose="02020603050405020304" pitchFamily="18" charset="0"/>
              </a:rPr>
              <a:t> , also called telecommunications technology , consists of electromagnetic devices and systems for communicating over long distances.</a:t>
            </a:r>
          </a:p>
          <a:p>
            <a:pPr marL="0" indent="0" algn="just">
              <a:buNone/>
            </a:pPr>
            <a:endParaRPr lang="en-US" u="none" strike="noStrike" baseline="0" dirty="0">
              <a:latin typeface="Times New Roman" panose="02020603050405020304" pitchFamily="18" charset="0"/>
              <a:cs typeface="Times New Roman" panose="02020603050405020304" pitchFamily="18" charset="0"/>
            </a:endParaRPr>
          </a:p>
          <a:p>
            <a:pPr algn="l"/>
            <a:r>
              <a:rPr lang="en-US" b="1" i="1" u="none" strike="noStrike" baseline="0" dirty="0">
                <a:latin typeface="Times New Roman" panose="02020603050405020304" pitchFamily="18" charset="0"/>
                <a:cs typeface="Times New Roman" panose="02020603050405020304" pitchFamily="18" charset="0"/>
              </a:rPr>
              <a:t>The principal examples </a:t>
            </a:r>
            <a:r>
              <a:rPr lang="en-US" b="0" i="0" u="none" strike="noStrike" baseline="0" dirty="0">
                <a:latin typeface="Times New Roman" panose="02020603050405020304" pitchFamily="18" charset="0"/>
                <a:cs typeface="Times New Roman" panose="02020603050405020304" pitchFamily="18" charset="0"/>
              </a:rPr>
              <a:t>are telephone, radio, broadcast television, and cable TV.</a:t>
            </a:r>
          </a:p>
          <a:p>
            <a:pPr algn="l"/>
            <a:endParaRPr lang="en-US" dirty="0">
              <a:latin typeface="Times New Roman" panose="02020603050405020304" pitchFamily="18" charset="0"/>
              <a:cs typeface="Times New Roman" panose="02020603050405020304" pitchFamily="18" charset="0"/>
            </a:endParaRPr>
          </a:p>
          <a:p>
            <a:pPr algn="just"/>
            <a:r>
              <a:rPr lang="en-US" b="0" i="0" u="none" strike="noStrike" baseline="0" dirty="0">
                <a:latin typeface="Times New Roman" panose="02020603050405020304" pitchFamily="18" charset="0"/>
                <a:cs typeface="Times New Roman" panose="02020603050405020304" pitchFamily="18" charset="0"/>
              </a:rPr>
              <a:t>In more recent times there has been the addition of communication among computers—which is what happens when people “go online”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4827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A257-4A1A-DB1D-39CA-475AEB2FA66D}"/>
              </a:ext>
            </a:extLst>
          </p:cNvPr>
          <p:cNvSpPr>
            <a:spLocks noGrp="1"/>
          </p:cNvSpPr>
          <p:nvPr>
            <p:ph type="title"/>
          </p:nvPr>
        </p:nvSpPr>
        <p:spPr/>
        <p:txBody>
          <a:bodyPr>
            <a:normAutofit/>
          </a:bodyPr>
          <a:lstStyle/>
          <a:p>
            <a:r>
              <a:rPr lang="en-US" sz="3200" b="1" i="1" dirty="0">
                <a:latin typeface="Times New Roman" panose="02020603050405020304" pitchFamily="18" charset="0"/>
                <a:cs typeface="Times New Roman" panose="02020603050405020304" pitchFamily="18" charset="0"/>
              </a:rPr>
              <a:t>O</a:t>
            </a:r>
            <a:r>
              <a:rPr lang="en-US" sz="3200" b="1" i="1" u="none" strike="noStrike" baseline="0" dirty="0">
                <a:latin typeface="Times New Roman" panose="02020603050405020304" pitchFamily="18" charset="0"/>
                <a:cs typeface="Times New Roman" panose="02020603050405020304" pitchFamily="18" charset="0"/>
              </a:rPr>
              <a:t>nline</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66C947-FABC-D268-870F-FC2BFAA89B72}"/>
              </a:ext>
            </a:extLst>
          </p:cNvPr>
          <p:cNvSpPr>
            <a:spLocks noGrp="1"/>
          </p:cNvSpPr>
          <p:nvPr>
            <p:ph idx="1"/>
          </p:nvPr>
        </p:nvSpPr>
        <p:spPr/>
        <p:txBody>
          <a:bodyPr>
            <a:normAutofit/>
          </a:bodyPr>
          <a:lstStyle/>
          <a:p>
            <a:pPr algn="just"/>
            <a:r>
              <a:rPr lang="en-US" b="1" i="1" u="sng" strike="noStrike" baseline="0" dirty="0">
                <a:latin typeface="Times New Roman" panose="02020603050405020304" pitchFamily="18" charset="0"/>
                <a:cs typeface="Times New Roman" panose="02020603050405020304" pitchFamily="18" charset="0"/>
              </a:rPr>
              <a:t>Def:</a:t>
            </a:r>
            <a:r>
              <a:rPr lang="en-US" b="1" i="1" strike="noStrike" baseline="0" dirty="0">
                <a:latin typeface="Times New Roman" panose="02020603050405020304" pitchFamily="18" charset="0"/>
                <a:cs typeface="Times New Roman" panose="02020603050405020304" pitchFamily="18" charset="0"/>
              </a:rPr>
              <a:t> </a:t>
            </a:r>
            <a:r>
              <a:rPr lang="en-US" b="1" i="1" u="none" strike="noStrike" baseline="0" dirty="0">
                <a:latin typeface="Times New Roman" panose="02020603050405020304" pitchFamily="18" charset="0"/>
                <a:cs typeface="Times New Roman" panose="02020603050405020304" pitchFamily="18" charset="0"/>
              </a:rPr>
              <a:t>Online</a:t>
            </a:r>
            <a:r>
              <a:rPr lang="en-US" i="0" u="none" strike="noStrike" baseline="0" dirty="0">
                <a:latin typeface="Times New Roman" panose="02020603050405020304" pitchFamily="18" charset="0"/>
                <a:cs typeface="Times New Roman" panose="02020603050405020304" pitchFamily="18" charset="0"/>
              </a:rPr>
              <a:t> means using a computer or some other information device, connected through a network, to access information and services from another computer or information device.</a:t>
            </a:r>
          </a:p>
          <a:p>
            <a:pPr algn="just"/>
            <a:endParaRPr lang="en-US" dirty="0">
              <a:latin typeface="Times New Roman" panose="02020603050405020304" pitchFamily="18" charset="0"/>
              <a:cs typeface="Times New Roman" panose="02020603050405020304" pitchFamily="18" charset="0"/>
            </a:endParaRPr>
          </a:p>
          <a:p>
            <a:pPr algn="just"/>
            <a:r>
              <a:rPr lang="en-US" sz="3200" b="1" dirty="0">
                <a:latin typeface="Times New Roman" panose="02020603050405020304" pitchFamily="18" charset="0"/>
                <a:cs typeface="Times New Roman" panose="02020603050405020304" pitchFamily="18" charset="0"/>
              </a:rPr>
              <a:t>Network</a:t>
            </a:r>
          </a:p>
          <a:p>
            <a:pPr algn="just"/>
            <a:r>
              <a:rPr lang="en-US" b="1" i="1" u="sng" dirty="0">
                <a:latin typeface="Times New Roman" panose="02020603050405020304" pitchFamily="18" charset="0"/>
                <a:cs typeface="Times New Roman" panose="02020603050405020304" pitchFamily="18" charset="0"/>
              </a:rPr>
              <a:t>Def:</a:t>
            </a:r>
            <a:endParaRPr lang="en-US" sz="3200" b="1" i="1" u="sng" dirty="0">
              <a:latin typeface="Times New Roman" panose="02020603050405020304" pitchFamily="18" charset="0"/>
              <a:cs typeface="Times New Roman" panose="02020603050405020304" pitchFamily="18" charset="0"/>
            </a:endParaRPr>
          </a:p>
          <a:p>
            <a:pPr algn="just"/>
            <a:r>
              <a:rPr lang="en-US" b="1" i="1" u="none" strike="noStrike" baseline="0" dirty="0">
                <a:latin typeface="Times New Roman" panose="02020603050405020304" pitchFamily="18" charset="0"/>
                <a:cs typeface="Times New Roman" panose="02020603050405020304" pitchFamily="18" charset="0"/>
              </a:rPr>
              <a:t>A network </a:t>
            </a:r>
            <a:r>
              <a:rPr lang="en-US" i="0" u="none" strike="noStrike" baseline="0" dirty="0">
                <a:latin typeface="Times New Roman" panose="02020603050405020304" pitchFamily="18" charset="0"/>
                <a:cs typeface="Times New Roman" panose="02020603050405020304" pitchFamily="18" charset="0"/>
              </a:rPr>
              <a:t>is a communications system connecting two or more computers; the internet is the largest such network.</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0323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88174-9658-0E0B-ED13-FF8AA874B3BE}"/>
              </a:ext>
            </a:extLst>
          </p:cNvPr>
          <p:cNvSpPr>
            <a:spLocks noGrp="1"/>
          </p:cNvSpPr>
          <p:nvPr>
            <p:ph type="title"/>
          </p:nvPr>
        </p:nvSpPr>
        <p:spPr/>
        <p:txBody>
          <a:bodyPr>
            <a:normAutofit/>
          </a:bodyPr>
          <a:lstStyle/>
          <a:p>
            <a:pPr algn="just"/>
            <a:r>
              <a:rPr lang="en-US" sz="3200" b="1" dirty="0">
                <a:latin typeface="Times New Roman" panose="02020603050405020304" pitchFamily="18" charset="0"/>
                <a:cs typeface="Times New Roman" panose="02020603050405020304" pitchFamily="18" charset="0"/>
              </a:rPr>
              <a:t>Information Technology in the Field of Education</a:t>
            </a:r>
          </a:p>
        </p:txBody>
      </p:sp>
      <p:sp>
        <p:nvSpPr>
          <p:cNvPr id="3" name="Content Placeholder 2">
            <a:extLst>
              <a:ext uri="{FF2B5EF4-FFF2-40B4-BE49-F238E27FC236}">
                <a16:creationId xmlns:a16="http://schemas.microsoft.com/office/drawing/2014/main" id="{36754296-6EA7-8D3E-E7EB-338E7BEF927E}"/>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Display screens in class rooms and can present also.</a:t>
            </a:r>
          </a:p>
          <a:p>
            <a:pPr algn="just"/>
            <a:r>
              <a:rPr lang="en-US" dirty="0">
                <a:latin typeface="Times New Roman" panose="02020603050405020304" pitchFamily="18" charset="0"/>
                <a:cs typeface="Times New Roman" panose="02020603050405020304" pitchFamily="18" charset="0"/>
              </a:rPr>
              <a:t>Online teaching classes </a:t>
            </a:r>
          </a:p>
          <a:p>
            <a:pPr algn="just"/>
            <a:r>
              <a:rPr lang="en-US" i="1" u="none" strike="noStrike" baseline="0" dirty="0">
                <a:latin typeface="Times New Roman" panose="02020603050405020304" pitchFamily="18" charset="0"/>
                <a:cs typeface="Times New Roman" panose="02020603050405020304" pitchFamily="18" charset="0"/>
              </a:rPr>
              <a:t>They use Course-management software </a:t>
            </a:r>
            <a:r>
              <a:rPr lang="en-US" i="0" u="none" strike="noStrike" baseline="0" dirty="0">
                <a:latin typeface="Times New Roman" panose="02020603050405020304" pitchFamily="18" charset="0"/>
                <a:cs typeface="Times New Roman" panose="02020603050405020304" pitchFamily="18" charset="0"/>
              </a:rPr>
              <a:t>for administering online assignments, schedules, examinations, and grades.</a:t>
            </a:r>
          </a:p>
          <a:p>
            <a:pPr algn="just"/>
            <a:r>
              <a:rPr lang="en-US" dirty="0">
                <a:latin typeface="Times New Roman" panose="02020603050405020304" pitchFamily="18" charset="0"/>
                <a:cs typeface="Times New Roman" panose="02020603050405020304" pitchFamily="18" charset="0"/>
              </a:rPr>
              <a:t>T</a:t>
            </a:r>
            <a:r>
              <a:rPr lang="en-US" i="0" u="none" strike="noStrike" baseline="0" dirty="0">
                <a:latin typeface="Times New Roman" panose="02020603050405020304" pitchFamily="18" charset="0"/>
                <a:cs typeface="Times New Roman" panose="02020603050405020304" pitchFamily="18" charset="0"/>
              </a:rPr>
              <a:t>he rise of </a:t>
            </a:r>
            <a:r>
              <a:rPr lang="en-US" i="1" u="none" strike="noStrike" baseline="0" dirty="0">
                <a:latin typeface="Times New Roman" panose="02020603050405020304" pitchFamily="18" charset="0"/>
                <a:cs typeface="Times New Roman" panose="02020603050405020304" pitchFamily="18" charset="0"/>
              </a:rPr>
              <a:t>distance learning, </a:t>
            </a:r>
            <a:r>
              <a:rPr lang="en-US" i="0" u="none" strike="noStrike" baseline="0" dirty="0">
                <a:latin typeface="Times New Roman" panose="02020603050405020304" pitchFamily="18" charset="0"/>
                <a:cs typeface="Times New Roman" panose="02020603050405020304" pitchFamily="18" charset="0"/>
              </a:rPr>
              <a:t>or </a:t>
            </a:r>
            <a:r>
              <a:rPr lang="en-US" i="1" u="none" strike="noStrike" baseline="0" dirty="0">
                <a:latin typeface="Times New Roman" panose="02020603050405020304" pitchFamily="18" charset="0"/>
                <a:cs typeface="Times New Roman" panose="02020603050405020304" pitchFamily="18" charset="0"/>
              </a:rPr>
              <a:t>e-learning, </a:t>
            </a:r>
            <a:r>
              <a:rPr lang="en-US" i="0" u="none" strike="noStrike" baseline="0" dirty="0">
                <a:latin typeface="Times New Roman" panose="02020603050405020304" pitchFamily="18" charset="0"/>
                <a:cs typeface="Times New Roman" panose="02020603050405020304" pitchFamily="18" charset="0"/>
              </a:rPr>
              <a:t>the name given to online education programs, which has gone from under 2 million online students in 2003 to an expected nearly 5 million students in 2009.</a:t>
            </a:r>
          </a:p>
          <a:p>
            <a:pPr algn="just"/>
            <a:r>
              <a:rPr lang="en-US" dirty="0">
                <a:latin typeface="Times New Roman" panose="02020603050405020304" pitchFamily="18" charset="0"/>
                <a:cs typeface="Times New Roman" panose="02020603050405020304" pitchFamily="18" charset="0"/>
              </a:rPr>
              <a:t>Online Trainings </a:t>
            </a:r>
          </a:p>
        </p:txBody>
      </p:sp>
    </p:spTree>
    <p:extLst>
      <p:ext uri="{BB962C8B-B14F-4D97-AF65-F5344CB8AC3E}">
        <p14:creationId xmlns:p14="http://schemas.microsoft.com/office/powerpoint/2010/main" val="2594268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A95EA-3362-A490-5604-910234CAD51B}"/>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Information Technology in the Field of Health</a:t>
            </a:r>
            <a:endParaRPr lang="en-US" sz="3200" dirty="0"/>
          </a:p>
        </p:txBody>
      </p:sp>
      <p:sp>
        <p:nvSpPr>
          <p:cNvPr id="3" name="Content Placeholder 2">
            <a:extLst>
              <a:ext uri="{FF2B5EF4-FFF2-40B4-BE49-F238E27FC236}">
                <a16:creationId xmlns:a16="http://schemas.microsoft.com/office/drawing/2014/main" id="{4126D4A4-E4F6-FE20-9C1E-3D67DEBF994C}"/>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a:t>
            </a:r>
            <a:r>
              <a:rPr lang="en-US" i="0" u="none" strike="noStrike" baseline="0" dirty="0">
                <a:latin typeface="Times New Roman" panose="02020603050405020304" pitchFamily="18" charset="0"/>
                <a:cs typeface="Times New Roman" panose="02020603050405020304" pitchFamily="18" charset="0"/>
              </a:rPr>
              <a:t>n example of </a:t>
            </a:r>
            <a:r>
              <a:rPr lang="en-US" b="1" i="1" u="none" strike="noStrike" baseline="0" dirty="0">
                <a:latin typeface="Times New Roman" panose="02020603050405020304" pitchFamily="18" charset="0"/>
                <a:cs typeface="Times New Roman" panose="02020603050405020304" pitchFamily="18" charset="0"/>
              </a:rPr>
              <a:t>telemedicine</a:t>
            </a:r>
            <a:r>
              <a:rPr lang="en-US" i="1" u="none" strike="noStrike" baseline="0" dirty="0">
                <a:latin typeface="Times New Roman" panose="02020603050405020304" pitchFamily="18" charset="0"/>
                <a:cs typeface="Times New Roman" panose="02020603050405020304" pitchFamily="18" charset="0"/>
              </a:rPr>
              <a:t> </a:t>
            </a:r>
            <a:r>
              <a:rPr lang="en-US" i="0" u="none" strike="noStrike" baseline="0" dirty="0">
                <a:latin typeface="Times New Roman" panose="02020603050405020304" pitchFamily="18" charset="0"/>
                <a:cs typeface="Times New Roman" panose="02020603050405020304" pitchFamily="18" charset="0"/>
              </a:rPr>
              <a:t>—medical care delivered via telecommunications.</a:t>
            </a:r>
          </a:p>
          <a:p>
            <a:pPr algn="just"/>
            <a:r>
              <a:rPr lang="en-US" b="0" i="0" u="none" strike="noStrike" baseline="0" dirty="0">
                <a:latin typeface="Times New Roman" panose="02020603050405020304" pitchFamily="18" charset="0"/>
                <a:cs typeface="Times New Roman" panose="02020603050405020304" pitchFamily="18" charset="0"/>
              </a:rPr>
              <a:t>Computer technology is radically changing the tools of medicine. All medical information, including that generated by X ray, lab test, and pulse monitor, can now be transmitted to a doctor in digital format.</a:t>
            </a:r>
          </a:p>
          <a:p>
            <a:pPr algn="just"/>
            <a:r>
              <a:rPr lang="en-US" b="0" i="0" u="none" strike="noStrike" baseline="0" dirty="0">
                <a:latin typeface="Times New Roman" panose="02020603050405020304" pitchFamily="18" charset="0"/>
                <a:cs typeface="Times New Roman" panose="02020603050405020304" pitchFamily="18" charset="0"/>
              </a:rPr>
              <a:t>Image transfer technology allows radiologic images such as CT scans and MRIs to be immediately transmitted to electronic charts and physicians’ offices</a:t>
            </a:r>
            <a:r>
              <a:rPr lang="en-US" sz="1800" b="0" i="0" u="none" strike="noStrike" baseline="0" dirty="0">
                <a:latin typeface="NewAsterLTStd"/>
              </a:rPr>
              <a:t>.</a:t>
            </a:r>
          </a:p>
          <a:p>
            <a:pPr algn="just"/>
            <a:r>
              <a:rPr lang="en-US" b="0" i="0" u="none" strike="noStrike" baseline="0" dirty="0">
                <a:latin typeface="Times New Roman" panose="02020603050405020304" pitchFamily="18" charset="0"/>
                <a:cs typeface="Times New Roman" panose="02020603050405020304" pitchFamily="18" charset="0"/>
              </a:rPr>
              <a:t>Patients in intensive care, who are usually monitored by nurses during off-times, can also be watched over by doctors in remote “control towers” miles away.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73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90CA5-397E-9521-0F38-F9D5B1F3987F}"/>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EB3DA086-AEBF-E098-0395-BD24D877C567}"/>
              </a:ext>
            </a:extLst>
          </p:cNvPr>
          <p:cNvSpPr>
            <a:spLocks noGrp="1"/>
          </p:cNvSpPr>
          <p:nvPr>
            <p:ph idx="1"/>
          </p:nvPr>
        </p:nvSpPr>
        <p:spPr/>
        <p:txBody>
          <a:bodyPr>
            <a:normAutofit/>
          </a:bodyPr>
          <a:lstStyle/>
          <a:p>
            <a:pPr algn="just"/>
            <a:endParaRPr lang="en-US" i="0" u="none" strike="noStrike" baseline="0" dirty="0">
              <a:latin typeface="Times New Roman" panose="02020603050405020304" pitchFamily="18" charset="0"/>
              <a:cs typeface="Times New Roman" panose="02020603050405020304" pitchFamily="18" charset="0"/>
            </a:endParaRPr>
          </a:p>
          <a:p>
            <a:pPr algn="just"/>
            <a:r>
              <a:rPr lang="en-US" i="0" u="none" strike="noStrike" baseline="0" dirty="0">
                <a:latin typeface="Times New Roman" panose="02020603050405020304" pitchFamily="18" charset="0"/>
                <a:cs typeface="Times New Roman" panose="02020603050405020304" pitchFamily="18" charset="0"/>
              </a:rPr>
              <a:t>Electronic medical records and other computerized tools enable heart attack patients to get follow-up drug treatment and diabetics to have their blood sugar measured.</a:t>
            </a:r>
          </a:p>
          <a:p>
            <a:pPr algn="just"/>
            <a:r>
              <a:rPr lang="en-US" i="0" u="none" strike="noStrike" baseline="0" dirty="0">
                <a:latin typeface="Times New Roman" panose="02020603050405020304" pitchFamily="18" charset="0"/>
                <a:cs typeface="Times New Roman" panose="02020603050405020304" pitchFamily="18" charset="0"/>
              </a:rPr>
              <a:t>Software can compute a woman’s breast cancer risk. Patients can use email to query their doctors about their records.</a:t>
            </a:r>
          </a:p>
          <a:p>
            <a:pPr algn="just"/>
            <a:r>
              <a:rPr lang="en-US" i="0" u="none" strike="noStrike" baseline="0" dirty="0">
                <a:latin typeface="Times New Roman" panose="02020603050405020304" pitchFamily="18" charset="0"/>
                <a:cs typeface="Times New Roman" panose="02020603050405020304" pitchFamily="18" charset="0"/>
              </a:rPr>
              <a:t>Various </a:t>
            </a:r>
            <a:r>
              <a:rPr lang="en-US" i="1" u="none" strike="noStrike" baseline="0" dirty="0">
                <a:latin typeface="Times New Roman" panose="02020603050405020304" pitchFamily="18" charset="0"/>
                <a:cs typeface="Times New Roman" panose="02020603050405020304" pitchFamily="18" charset="0"/>
              </a:rPr>
              <a:t>robots </a:t>
            </a:r>
            <a:r>
              <a:rPr lang="en-US" i="0" u="none" strike="noStrike" baseline="0" dirty="0">
                <a:latin typeface="Times New Roman" panose="02020603050405020304" pitchFamily="18" charset="0"/>
                <a:cs typeface="Times New Roman" panose="02020603050405020304" pitchFamily="18" charset="0"/>
              </a:rPr>
              <a:t>—automatic devices that perform functions ordinarily performed by human beings.</a:t>
            </a:r>
          </a:p>
          <a:p>
            <a:pPr algn="just"/>
            <a:r>
              <a:rPr lang="en-US" dirty="0">
                <a:latin typeface="Times New Roman" panose="02020603050405020304" pitchFamily="18" charset="0"/>
                <a:cs typeface="Times New Roman" panose="02020603050405020304" pitchFamily="18" charset="0"/>
              </a:rPr>
              <a:t>Online patient’s record availability.</a:t>
            </a:r>
          </a:p>
        </p:txBody>
      </p:sp>
    </p:spTree>
    <p:extLst>
      <p:ext uri="{BB962C8B-B14F-4D97-AF65-F5344CB8AC3E}">
        <p14:creationId xmlns:p14="http://schemas.microsoft.com/office/powerpoint/2010/main" val="2124164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9D264-7F8D-D245-21CE-70248C7DB438}"/>
              </a:ext>
            </a:extLst>
          </p:cNvPr>
          <p:cNvSpPr>
            <a:spLocks noGrp="1"/>
          </p:cNvSpPr>
          <p:nvPr>
            <p:ph type="title"/>
          </p:nvPr>
        </p:nvSpPr>
        <p:spPr/>
        <p:txBody>
          <a:bodyPr>
            <a:normAutofit/>
          </a:bodyPr>
          <a:lstStyle/>
          <a:p>
            <a:r>
              <a:rPr lang="en-US" sz="3200" b="1" i="0" u="none" strike="noStrike" baseline="0" dirty="0">
                <a:latin typeface="Times New Roman" panose="02020603050405020304" pitchFamily="18" charset="0"/>
                <a:cs typeface="Times New Roman" panose="02020603050405020304" pitchFamily="18" charset="0"/>
              </a:rPr>
              <a:t>Money: Toward the Cashless Society</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93416A-52EF-6177-8304-9D4809C424FC}"/>
              </a:ext>
            </a:extLst>
          </p:cNvPr>
          <p:cNvSpPr>
            <a:spLocks noGrp="1"/>
          </p:cNvSpPr>
          <p:nvPr>
            <p:ph idx="1"/>
          </p:nvPr>
        </p:nvSpPr>
        <p:spPr/>
        <p:txBody>
          <a:bodyPr>
            <a:normAutofit/>
          </a:bodyPr>
          <a:lstStyle/>
          <a:p>
            <a:pPr algn="just"/>
            <a:r>
              <a:rPr lang="en-US" i="0" u="none" strike="noStrike" baseline="0" dirty="0">
                <a:latin typeface="Times New Roman" panose="02020603050405020304" pitchFamily="18" charset="0"/>
                <a:cs typeface="Times New Roman" panose="02020603050405020304" pitchFamily="18" charset="0"/>
              </a:rPr>
              <a:t>“The future of money is increasingly digital, likely virtual, and possibly universal,” says one writer, </a:t>
            </a:r>
            <a:r>
              <a:rPr lang="en-US" b="1" i="1" u="none" strike="noStrike" baseline="0" dirty="0">
                <a:latin typeface="Times New Roman" panose="02020603050405020304" pitchFamily="18" charset="0"/>
                <a:cs typeface="Times New Roman" panose="02020603050405020304" pitchFamily="18" charset="0"/>
              </a:rPr>
              <a:t>Virtual</a:t>
            </a:r>
            <a:r>
              <a:rPr lang="en-US" i="1" u="none" strike="noStrike" baseline="0" dirty="0">
                <a:latin typeface="Times New Roman" panose="02020603050405020304" pitchFamily="18" charset="0"/>
                <a:cs typeface="Times New Roman" panose="02020603050405020304" pitchFamily="18" charset="0"/>
              </a:rPr>
              <a:t> </a:t>
            </a:r>
            <a:r>
              <a:rPr lang="en-US" i="0" u="none" strike="noStrike" baseline="0" dirty="0">
                <a:latin typeface="Times New Roman" panose="02020603050405020304" pitchFamily="18" charset="0"/>
                <a:cs typeface="Times New Roman" panose="02020603050405020304" pitchFamily="18" charset="0"/>
              </a:rPr>
              <a:t>means that something is created, simulated, or carried on by means of a computer or a computer network, and we certainly have come a long way toward becoming a cashless society.</a:t>
            </a:r>
          </a:p>
          <a:p>
            <a:pPr algn="just"/>
            <a:r>
              <a:rPr lang="en-US" b="0" i="0" u="none" strike="noStrike" baseline="0" dirty="0">
                <a:latin typeface="Times New Roman" panose="02020603050405020304" pitchFamily="18" charset="0"/>
                <a:cs typeface="Times New Roman" panose="02020603050405020304" pitchFamily="18" charset="0"/>
              </a:rPr>
              <a:t>Many </a:t>
            </a:r>
            <a:r>
              <a:rPr lang="en-US" dirty="0">
                <a:latin typeface="Times New Roman" panose="02020603050405020304" pitchFamily="18" charset="0"/>
                <a:cs typeface="Times New Roman" panose="02020603050405020304" pitchFamily="18" charset="0"/>
              </a:rPr>
              <a:t>of you might have </a:t>
            </a:r>
            <a:r>
              <a:rPr lang="en-US" b="0" i="0" u="none" strike="noStrike" baseline="0" dirty="0">
                <a:latin typeface="Times New Roman" panose="02020603050405020304" pitchFamily="18" charset="0"/>
                <a:cs typeface="Times New Roman" panose="02020603050405020304" pitchFamily="18" charset="0"/>
              </a:rPr>
              <a:t>already have engaged in online buying and selling, purchasing DVDs, books, airline tickets, groceries, online food order etc.</a:t>
            </a:r>
            <a:endParaRPr lang="en-US" i="0" u="none" strike="noStrike" baseline="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Examples, Cr</a:t>
            </a:r>
            <a:r>
              <a:rPr lang="en-US" b="0" i="0" u="none" strike="noStrike" baseline="0" dirty="0">
                <a:latin typeface="Times New Roman" panose="02020603050405020304" pitchFamily="18" charset="0"/>
                <a:cs typeface="Times New Roman" panose="02020603050405020304" pitchFamily="18" charset="0"/>
              </a:rPr>
              <a:t>edit and </a:t>
            </a:r>
            <a:r>
              <a:rPr lang="en-US" dirty="0">
                <a:latin typeface="Times New Roman" panose="02020603050405020304" pitchFamily="18" charset="0"/>
                <a:cs typeface="Times New Roman" panose="02020603050405020304" pitchFamily="18" charset="0"/>
              </a:rPr>
              <a:t>D</a:t>
            </a:r>
            <a:r>
              <a:rPr lang="en-US" b="0" i="0" u="none" strike="noStrike" baseline="0" dirty="0">
                <a:latin typeface="Times New Roman" panose="02020603050405020304" pitchFamily="18" charset="0"/>
                <a:cs typeface="Times New Roman" panose="02020603050405020304" pitchFamily="18" charset="0"/>
              </a:rPr>
              <a:t>ebit Cards</a:t>
            </a:r>
            <a:r>
              <a:rPr lang="en-US" i="0" u="none" strike="noStrike" baseline="0" dirty="0">
                <a:latin typeface="Times New Roman" panose="02020603050405020304" pitchFamily="18" charset="0"/>
                <a:cs typeface="Times New Roman" panose="02020603050405020304" pitchFamily="18" charset="0"/>
              </a:rPr>
              <a:t>, PayPal.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507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FD55-D056-5FE7-A310-4AC96FFB9D8D}"/>
              </a:ext>
            </a:extLst>
          </p:cNvPr>
          <p:cNvSpPr>
            <a:spLocks noGrp="1"/>
          </p:cNvSpPr>
          <p:nvPr>
            <p:ph type="title"/>
          </p:nvPr>
        </p:nvSpPr>
        <p:spPr/>
        <p:txBody>
          <a:bodyPr>
            <a:normAutofit/>
          </a:bodyPr>
          <a:lstStyle/>
          <a:p>
            <a:pPr algn="just"/>
            <a:r>
              <a:rPr lang="en-US" sz="3200" b="1" i="0" u="none" strike="noStrike" baseline="0" dirty="0">
                <a:latin typeface="Times New Roman" panose="02020603050405020304" pitchFamily="18" charset="0"/>
                <a:cs typeface="Times New Roman" panose="02020603050405020304" pitchFamily="18" charset="0"/>
              </a:rPr>
              <a:t>Infotech in Entertainment &amp; the Arts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A6182C-25E3-9FE9-3041-E82560F071E4}"/>
              </a:ext>
            </a:extLst>
          </p:cNvPr>
          <p:cNvSpPr>
            <a:spLocks noGrp="1"/>
          </p:cNvSpPr>
          <p:nvPr>
            <p:ph idx="1"/>
          </p:nvPr>
        </p:nvSpPr>
        <p:spPr/>
        <p:txBody>
          <a:bodyPr>
            <a:normAutofit/>
          </a:bodyPr>
          <a:lstStyle/>
          <a:p>
            <a:pPr algn="just"/>
            <a:r>
              <a:rPr lang="en-US" b="0" i="0" u="none" strike="noStrike" baseline="0" dirty="0">
                <a:latin typeface="Times New Roman" panose="02020603050405020304" pitchFamily="18" charset="0"/>
                <a:cs typeface="Times New Roman" panose="02020603050405020304" pitchFamily="18" charset="0"/>
              </a:rPr>
              <a:t>Information technology is being used for all kinds of entertainment, ranging from videogames to telegambling. It is also being used in the arts, from painting to photography. Let’s consider just two examples, music and film.</a:t>
            </a:r>
          </a:p>
          <a:p>
            <a:pPr marL="0" indent="0" algn="just">
              <a:buNone/>
            </a:pPr>
            <a:endParaRPr lang="en-US" b="0" i="0" u="none" strike="noStrike" baseline="0"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D</a:t>
            </a:r>
            <a:r>
              <a:rPr lang="en-US" b="1" i="1" u="none" strike="noStrike" baseline="0" dirty="0">
                <a:latin typeface="Times New Roman" panose="02020603050405020304" pitchFamily="18" charset="0"/>
                <a:cs typeface="Times New Roman" panose="02020603050405020304" pitchFamily="18" charset="0"/>
              </a:rPr>
              <a:t>ownloading</a:t>
            </a:r>
            <a:r>
              <a:rPr lang="en-US" i="1" u="none" strike="noStrike" baseline="0" dirty="0">
                <a:latin typeface="Times New Roman" panose="02020603050405020304" pitchFamily="18" charset="0"/>
                <a:cs typeface="Times New Roman" panose="02020603050405020304" pitchFamily="18" charset="0"/>
              </a:rPr>
              <a:t> </a:t>
            </a:r>
            <a:r>
              <a:rPr lang="en-US" i="0" u="none" strike="noStrike" baseline="0" dirty="0">
                <a:latin typeface="Times New Roman" panose="02020603050405020304" pitchFamily="18" charset="0"/>
                <a:cs typeface="Times New Roman" panose="02020603050405020304" pitchFamily="18" charset="0"/>
              </a:rPr>
              <a:t>—transferring data from a remote computer to one’s own computer —</a:t>
            </a:r>
          </a:p>
          <a:p>
            <a:pPr marL="0" indent="0" algn="just">
              <a:buNone/>
            </a:pPr>
            <a:endParaRPr lang="en-US" i="0" u="none" strike="noStrike" baseline="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Netflix, Amazon prime video, Spotify etc.</a:t>
            </a:r>
          </a:p>
        </p:txBody>
      </p:sp>
    </p:spTree>
    <p:extLst>
      <p:ext uri="{BB962C8B-B14F-4D97-AF65-F5344CB8AC3E}">
        <p14:creationId xmlns:p14="http://schemas.microsoft.com/office/powerpoint/2010/main" val="3115493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3906-7C40-D199-7636-647E3F598060}"/>
              </a:ext>
            </a:extLst>
          </p:cNvPr>
          <p:cNvSpPr>
            <a:spLocks noGrp="1"/>
          </p:cNvSpPr>
          <p:nvPr>
            <p:ph type="title"/>
          </p:nvPr>
        </p:nvSpPr>
        <p:spPr/>
        <p:txBody>
          <a:bodyPr>
            <a:normAutofit/>
          </a:bodyPr>
          <a:lstStyle/>
          <a:p>
            <a:pPr algn="just"/>
            <a:r>
              <a:rPr lang="en-US" sz="3200" b="1" i="1" u="none" strike="noStrike" baseline="0" dirty="0">
                <a:latin typeface="Times New Roman" panose="02020603050405020304" pitchFamily="18" charset="0"/>
                <a:cs typeface="Times New Roman" panose="02020603050405020304" pitchFamily="18" charset="0"/>
              </a:rPr>
              <a:t>In what ways are computers changing government and politics?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C87B32-9893-7BAB-9322-59C835CB5163}"/>
              </a:ext>
            </a:extLst>
          </p:cNvPr>
          <p:cNvSpPr>
            <a:spLocks noGrp="1"/>
          </p:cNvSpPr>
          <p:nvPr>
            <p:ph idx="1"/>
          </p:nvPr>
        </p:nvSpPr>
        <p:spPr/>
        <p:txBody>
          <a:bodyPr>
            <a:normAutofit/>
          </a:bodyPr>
          <a:lstStyle/>
          <a:p>
            <a:pPr algn="just"/>
            <a:endParaRPr lang="en-US" b="0" i="0" u="none" strike="noStrike" baseline="0" dirty="0">
              <a:latin typeface="Times New Roman" panose="02020603050405020304" pitchFamily="18" charset="0"/>
              <a:cs typeface="Times New Roman" panose="02020603050405020304" pitchFamily="18" charset="0"/>
            </a:endParaRPr>
          </a:p>
          <a:p>
            <a:pPr algn="just"/>
            <a:r>
              <a:rPr lang="en-US" b="0" i="0" u="none" strike="noStrike" baseline="0" dirty="0">
                <a:latin typeface="Times New Roman" panose="02020603050405020304" pitchFamily="18" charset="0"/>
                <a:cs typeface="Times New Roman" panose="02020603050405020304" pitchFamily="18" charset="0"/>
              </a:rPr>
              <a:t>The internet and other information technology have helped government deliver better services and have paved the way for making governmental operations more transparent to the public.</a:t>
            </a:r>
          </a:p>
          <a:p>
            <a:pPr marL="0" indent="0" algn="just">
              <a:buNone/>
            </a:pPr>
            <a:endParaRPr lang="en-US" b="0" i="0" u="none" strike="noStrike" baseline="0" dirty="0">
              <a:latin typeface="Times New Roman" panose="02020603050405020304" pitchFamily="18" charset="0"/>
              <a:cs typeface="Times New Roman" panose="02020603050405020304" pitchFamily="18" charset="0"/>
            </a:endParaRPr>
          </a:p>
          <a:p>
            <a:pPr algn="just"/>
            <a:r>
              <a:rPr lang="en-US" b="0" i="0" u="none" strike="noStrike" baseline="0" dirty="0">
                <a:latin typeface="Times New Roman" panose="02020603050405020304" pitchFamily="18" charset="0"/>
                <a:cs typeface="Times New Roman" panose="02020603050405020304" pitchFamily="18" charset="0"/>
              </a:rPr>
              <a:t>The internet is also changing the nature of politics, enabling political candidates and political interest groups to connect with voters in new ways, to raise money from multiple small donors instead of just rich fat cats, and (using cellphones and text messaging) to organize street protests.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6031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8846-1514-F8DD-CCD7-990C08333D43}"/>
              </a:ext>
            </a:extLst>
          </p:cNvPr>
          <p:cNvSpPr>
            <a:spLocks noGrp="1"/>
          </p:cNvSpPr>
          <p:nvPr>
            <p:ph type="title"/>
          </p:nvPr>
        </p:nvSpPr>
        <p:spPr/>
        <p:txBody>
          <a:bodyPr>
            <a:normAutofit/>
          </a:bodyPr>
          <a:lstStyle/>
          <a:p>
            <a:pPr algn="just"/>
            <a:r>
              <a:rPr lang="en-US" sz="3200" b="1" i="0" u="none" strike="noStrike" baseline="0" dirty="0">
                <a:latin typeface="Times New Roman" panose="02020603050405020304" pitchFamily="18" charset="0"/>
                <a:cs typeface="Times New Roman" panose="02020603050405020304" pitchFamily="18" charset="0"/>
              </a:rPr>
              <a:t>Jobs &amp; Careers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60D00C-7818-DA89-93A8-D2ECC4532A45}"/>
              </a:ext>
            </a:extLst>
          </p:cNvPr>
          <p:cNvSpPr>
            <a:spLocks noGrp="1"/>
          </p:cNvSpPr>
          <p:nvPr>
            <p:ph idx="1"/>
          </p:nvPr>
        </p:nvSpPr>
        <p:spPr/>
        <p:txBody>
          <a:bodyPr>
            <a:normAutofit/>
          </a:bodyPr>
          <a:lstStyle/>
          <a:p>
            <a:pPr algn="just"/>
            <a:r>
              <a:rPr lang="en-US" b="0" i="0" u="none" strike="noStrike" baseline="0" dirty="0">
                <a:latin typeface="Times New Roman" panose="02020603050405020304" pitchFamily="18" charset="0"/>
                <a:cs typeface="Times New Roman" panose="02020603050405020304" pitchFamily="18" charset="0"/>
              </a:rPr>
              <a:t>Today almost every job and profession requires computer skills of some sort.</a:t>
            </a:r>
          </a:p>
          <a:p>
            <a:pPr algn="just"/>
            <a:r>
              <a:rPr lang="en-US" b="0" i="0" u="none" strike="noStrike" baseline="0" dirty="0">
                <a:latin typeface="Times New Roman" panose="02020603050405020304" pitchFamily="18" charset="0"/>
                <a:cs typeface="Times New Roman" panose="02020603050405020304" pitchFamily="18" charset="0"/>
              </a:rPr>
              <a:t>In the hotel business, even front-desk clerks need to know how to deal with computerized reservation systems.</a:t>
            </a:r>
          </a:p>
          <a:p>
            <a:pPr algn="just"/>
            <a:r>
              <a:rPr lang="en-US" b="0" i="0" u="none" strike="noStrike" baseline="0" dirty="0">
                <a:latin typeface="Times New Roman" panose="02020603050405020304" pitchFamily="18" charset="0"/>
                <a:cs typeface="Times New Roman" panose="02020603050405020304" pitchFamily="18" charset="0"/>
              </a:rPr>
              <a:t>In law enforcement, police officers need to know how to use computers while on patrol or at their desks to check out stolen cars, criminal records, outstanding arrest warrants, and the like. However, investigators with specialized computer backgrounds are also required to help solve fraud, computer break-ins, accounting illegalities, and other high-tech crimes.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699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D25B1-7B62-D04F-AE9F-617CE45986AD}"/>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B342FAAF-36D6-7348-1D49-AA6E5EC2E37F}"/>
              </a:ext>
            </a:extLst>
          </p:cNvPr>
          <p:cNvSpPr>
            <a:spLocks noGrp="1"/>
          </p:cNvSpPr>
          <p:nvPr>
            <p:ph idx="1"/>
          </p:nvPr>
        </p:nvSpPr>
        <p:spPr/>
        <p:txBody>
          <a:bodyPr>
            <a:normAutofit/>
          </a:bodyPr>
          <a:lstStyle/>
          <a:p>
            <a:pPr algn="just"/>
            <a:endParaRPr lang="en-US" b="0" i="0" u="none" strike="noStrike" baseline="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b="0" i="0" u="none" strike="noStrike" baseline="0" dirty="0">
                <a:latin typeface="Times New Roman" panose="02020603050405020304" pitchFamily="18" charset="0"/>
                <a:cs typeface="Times New Roman" panose="02020603050405020304" pitchFamily="18" charset="0"/>
              </a:rPr>
              <a:t>In entertainment, computers are used for such ordinary purposes as budgets, payroll, and ticketing. However, there are also new careers in virtual set design, combining training in architecture and 3-D computer modeling, and in creating cinematic special effects.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899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9A61-92C1-F6BE-71F0-83B729E1FB6E}"/>
              </a:ext>
            </a:extLst>
          </p:cNvPr>
          <p:cNvSpPr>
            <a:spLocks noGrp="1"/>
          </p:cNvSpPr>
          <p:nvPr>
            <p:ph type="title"/>
          </p:nvPr>
        </p:nvSpPr>
        <p:spPr>
          <a:xfrm>
            <a:off x="838200" y="365126"/>
            <a:ext cx="10515600" cy="591478"/>
          </a:xfrm>
        </p:spPr>
        <p:txBody>
          <a:bodyPr>
            <a:normAutofit/>
          </a:bodyPr>
          <a:lstStyle/>
          <a:p>
            <a:r>
              <a:rPr lang="en-US" sz="3200"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952DE111-F97D-2D3C-598E-17106E35439A}"/>
              </a:ext>
            </a:extLst>
          </p:cNvPr>
          <p:cNvSpPr>
            <a:spLocks noGrp="1"/>
          </p:cNvSpPr>
          <p:nvPr>
            <p:ph idx="1"/>
          </p:nvPr>
        </p:nvSpPr>
        <p:spPr>
          <a:xfrm>
            <a:off x="838200" y="956604"/>
            <a:ext cx="10515600" cy="5220359"/>
          </a:xfrm>
        </p:spPr>
        <p:txBody>
          <a:bodyPr>
            <a:normAutofit/>
          </a:bodyPr>
          <a:lstStyle/>
          <a:p>
            <a:pPr algn="just"/>
            <a:r>
              <a:rPr lang="en-US" b="1" i="0" u="none" strike="noStrike" baseline="0" dirty="0">
                <a:solidFill>
                  <a:srgbClr val="128A8A"/>
                </a:solidFill>
                <a:latin typeface="Times New Roman" panose="02020603050405020304" pitchFamily="18" charset="0"/>
                <a:cs typeface="Times New Roman" panose="02020603050405020304" pitchFamily="18" charset="0"/>
              </a:rPr>
              <a:t>WAYS FOR YOU TO FIND EMPLOYERS:</a:t>
            </a:r>
            <a:r>
              <a:rPr lang="en-US" b="0" i="0" u="none" strike="noStrike" baseline="0" dirty="0">
                <a:latin typeface="Times New Roman" panose="02020603050405020304" pitchFamily="18" charset="0"/>
                <a:cs typeface="Times New Roman" panose="02020603050405020304" pitchFamily="18" charset="0"/>
              </a:rPr>
              <a:t>As you might expect, the first to use cyberspace as a job bazaar were companies seeking people with technical backgrounds and technical people seeking employment. However, as the public’s interest in commercial services and the internet has exploded, the focus of online job exchanges has broadened. Now, interspersed among ads for programmers on the internet are openings for forest rangers in Idaho, physical therapists in Atlanta, models in Florida, and English teachers in China.</a:t>
            </a:r>
          </a:p>
          <a:p>
            <a:pPr marL="0" indent="0" algn="just">
              <a:buNone/>
            </a:pPr>
            <a:endParaRPr lang="en-US" b="0" i="0" u="none" strike="noStrike" baseline="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i="0" u="none" strike="noStrike" baseline="0" dirty="0">
                <a:solidFill>
                  <a:srgbClr val="128A8A"/>
                </a:solidFill>
                <a:latin typeface="Times New Roman" panose="02020603050405020304" pitchFamily="18" charset="0"/>
                <a:cs typeface="Times New Roman" panose="02020603050405020304" pitchFamily="18" charset="0"/>
              </a:rPr>
              <a:t>WAYS FOR EMPLOYERS TO FIND YOU: </a:t>
            </a:r>
            <a:r>
              <a:rPr lang="en-US" b="0" i="0" u="none" strike="noStrike" baseline="0" dirty="0">
                <a:solidFill>
                  <a:srgbClr val="000000"/>
                </a:solidFill>
                <a:latin typeface="Times New Roman" panose="02020603050405020304" pitchFamily="18" charset="0"/>
                <a:cs typeface="Times New Roman" panose="02020603050405020304" pitchFamily="18" charset="0"/>
              </a:rPr>
              <a:t>Posting your résumé online for prospective employers to view is attractive because of its low (or zero) cost and wide reach.</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6691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1020</Words>
  <Application>Microsoft Office PowerPoint</Application>
  <PresentationFormat>Widescreen</PresentationFormat>
  <Paragraphs>70</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NewAsterLTStd</vt:lpstr>
      <vt:lpstr>Times New Roman</vt:lpstr>
      <vt:lpstr>Wingdings</vt:lpstr>
      <vt:lpstr>Office Theme</vt:lpstr>
      <vt:lpstr>LEC # 01     Applications of Information and Computing Technology </vt:lpstr>
      <vt:lpstr>Information Technology</vt:lpstr>
      <vt:lpstr>1. Computer Technology</vt:lpstr>
      <vt:lpstr>2. Communications Technology</vt:lpstr>
      <vt:lpstr>Online</vt:lpstr>
      <vt:lpstr>Information Technology in the Field of Education</vt:lpstr>
      <vt:lpstr>Information Technology in the Field of Health</vt:lpstr>
      <vt:lpstr>Cont...</vt:lpstr>
      <vt:lpstr>Money: Toward the Cashless Society</vt:lpstr>
      <vt:lpstr>Infotech in Entertainment &amp; the Arts</vt:lpstr>
      <vt:lpstr>In what ways are computers changing government and politics?</vt:lpstr>
      <vt:lpstr>Jobs &amp; Careers</vt:lpstr>
      <vt:lpstr>Cont...</vt:lpstr>
      <vt:lpstr>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 # 01     Introduction to Information and Computing Technology </dc:title>
  <dc:creator>ahsan bilal</dc:creator>
  <cp:lastModifiedBy>haier</cp:lastModifiedBy>
  <cp:revision>9</cp:revision>
  <dcterms:created xsi:type="dcterms:W3CDTF">2022-11-14T15:36:35Z</dcterms:created>
  <dcterms:modified xsi:type="dcterms:W3CDTF">2025-10-13T03:43:55Z</dcterms:modified>
</cp:coreProperties>
</file>