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31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59FAF-0BAE-4BF9-861B-70D395AB85EA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06DA4-901A-40AF-BAD4-559B377F6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89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2EA2BB-544E-4827-A07B-2142445424C2}" type="slidenum">
              <a:rPr lang="en-US"/>
              <a:pPr eaLnBrk="1" hangingPunct="1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86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4D77166-07C5-4B86-895E-E8DD8988803C}" type="slidenum">
              <a:rPr lang="en-US"/>
              <a:pPr eaLnBrk="1" hangingPunct="1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42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Num1</a:t>
            </a:r>
            <a:r>
              <a:rPr lang="en-US" baseline="0" dirty="0" smtClean="0"/>
              <a:t> =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BBC9C-D98C-406C-860F-73351075EF6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4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Short</a:t>
            </a:r>
            <a:r>
              <a:rPr lang="en-US" baseline="0" dirty="0" smtClean="0"/>
              <a:t> way (int)(3.4)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BBC9C-D98C-406C-860F-73351075EF6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1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2CAE2-9F29-440F-BFBC-CFBBC8DD45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9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F2E1D-8962-45F5-A900-A1AA4F1CC24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8011E-15C2-48AC-B2FC-609801BEC7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jpeg"/><Relationship Id="rId5" Type="http://schemas.openxmlformats.org/officeDocument/2006/relationships/image" Target="../media/image7.wmf"/><Relationship Id="rId4" Type="http://schemas.openxmlformats.org/officeDocument/2006/relationships/oleObject" Target="../embeddings/Microsoft_Word_97_-_2003_Document1.doc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Data-types and operators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Zainab Shahzadi</a:t>
            </a:r>
            <a:endParaRPr lang="en-US" dirty="0"/>
          </a:p>
        </p:txBody>
      </p:sp>
    </p:spTree>
  </p:cSld>
  <p:clrMapOvr>
    <a:masterClrMapping/>
  </p:clrMapOvr>
  <p:transition advTm="1836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Simple Data Types</a:t>
            </a:r>
          </a:p>
        </p:txBody>
      </p:sp>
      <p:sp>
        <p:nvSpPr>
          <p:cNvPr id="1331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Three categories of simple data</a:t>
            </a:r>
          </a:p>
          <a:p>
            <a:pPr lvl="1" eaLnBrk="1" hangingPunct="1"/>
            <a:r>
              <a:rPr lang="en-US" u="sng" dirty="0" smtClean="0"/>
              <a:t>Integral</a:t>
            </a:r>
            <a:r>
              <a:rPr lang="en-US" dirty="0" smtClean="0"/>
              <a:t>: integers (numbers without a decimal)(45)</a:t>
            </a:r>
          </a:p>
          <a:p>
            <a:pPr lvl="1" eaLnBrk="1" hangingPunct="1"/>
            <a:r>
              <a:rPr lang="en-US" u="sng" dirty="0" smtClean="0"/>
              <a:t>Floating-point</a:t>
            </a:r>
            <a:r>
              <a:rPr lang="en-US" dirty="0" smtClean="0"/>
              <a:t>: decimal numbers (45.56)</a:t>
            </a:r>
          </a:p>
          <a:p>
            <a:pPr lvl="1" eaLnBrk="1" hangingPunct="1"/>
            <a:r>
              <a:rPr lang="en-US" u="sng" dirty="0" smtClean="0"/>
              <a:t>character type</a:t>
            </a:r>
            <a:r>
              <a:rPr lang="en-US" dirty="0" smtClean="0"/>
              <a:t>: characters (AZ, a-z, 0-9 etc.)</a:t>
            </a:r>
          </a:p>
          <a:p>
            <a:r>
              <a:rPr lang="en-US" dirty="0" smtClean="0"/>
              <a:t>data types are further classified into nine categories:</a:t>
            </a:r>
          </a:p>
          <a:p>
            <a:pPr lvl="1"/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char, short, </a:t>
            </a:r>
            <a:r>
              <a:rPr lang="en-US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long, </a:t>
            </a:r>
            <a:r>
              <a:rPr lang="en-US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en-US" sz="23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unsigned char, unsigned short, unsigned </a:t>
            </a:r>
            <a:r>
              <a:rPr lang="en-US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unsigned long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E23E7E-320F-48AB-B5CD-744A32F01A98}" type="slidenum">
              <a:rPr lang="en-US">
                <a:solidFill>
                  <a:srgbClr val="045C75"/>
                </a:solidFill>
              </a:rPr>
              <a:pPr eaLnBrk="1" hangingPunct="1"/>
              <a:t>2</a:t>
            </a:fld>
            <a:endParaRPr lang="en-US">
              <a:solidFill>
                <a:srgbClr val="045C75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489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Simple Data Types (cont'd.)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Different compilers may allow different ranges of values</a:t>
            </a:r>
          </a:p>
          <a:p>
            <a:pPr eaLnBrk="1" hangingPunct="1"/>
            <a:endParaRPr lang="en-US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11C5049-FB9F-48CE-B5E1-69D8B52BF0AB}" type="slidenum">
              <a:rPr lang="en-US">
                <a:solidFill>
                  <a:srgbClr val="045C75"/>
                </a:solidFill>
              </a:rPr>
              <a:pPr eaLnBrk="1" hangingPunct="1"/>
              <a:t>3</a:t>
            </a:fld>
            <a:endParaRPr lang="en-US">
              <a:solidFill>
                <a:srgbClr val="045C75"/>
              </a:solidFill>
            </a:endParaRPr>
          </a:p>
        </p:txBody>
      </p:sp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8"/>
          <a:stretch>
            <a:fillRect/>
          </a:stretch>
        </p:blipFill>
        <p:spPr bwMode="auto">
          <a:xfrm>
            <a:off x="381000" y="1828800"/>
            <a:ext cx="8153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23914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bool</a:t>
            </a:r>
            <a:r>
              <a:rPr lang="en-US" smtClean="0"/>
              <a:t> Data Type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bool</a:t>
            </a:r>
            <a:r>
              <a:rPr lang="en-US" smtClean="0"/>
              <a:t> type </a:t>
            </a:r>
          </a:p>
          <a:p>
            <a:pPr lvl="1" eaLnBrk="1" hangingPunct="1"/>
            <a:r>
              <a:rPr lang="en-US" smtClean="0"/>
              <a:t>Two values: </a:t>
            </a:r>
            <a:r>
              <a:rPr lang="en-US" smtClean="0">
                <a:latin typeface="Courier New" panose="02070309020205020404" pitchFamily="49" charset="0"/>
              </a:rPr>
              <a:t>true</a:t>
            </a:r>
            <a:r>
              <a:rPr lang="en-US" smtClean="0"/>
              <a:t> and </a:t>
            </a:r>
            <a:r>
              <a:rPr lang="en-US" smtClean="0">
                <a:latin typeface="Courier New" panose="02070309020205020404" pitchFamily="49" charset="0"/>
              </a:rPr>
              <a:t>false</a:t>
            </a:r>
            <a:endParaRPr lang="en-US" smtClean="0"/>
          </a:p>
          <a:p>
            <a:pPr lvl="1" eaLnBrk="1" hangingPunct="1"/>
            <a:r>
              <a:rPr lang="en-US" smtClean="0"/>
              <a:t>Manipulate logical (Boolean) expressions</a:t>
            </a:r>
          </a:p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true</a:t>
            </a:r>
            <a:r>
              <a:rPr lang="en-US" smtClean="0"/>
              <a:t> and </a:t>
            </a:r>
            <a:r>
              <a:rPr lang="en-US" smtClean="0">
                <a:latin typeface="Courier New" panose="02070309020205020404" pitchFamily="49" charset="0"/>
              </a:rPr>
              <a:t>false</a:t>
            </a:r>
            <a:r>
              <a:rPr lang="en-US" smtClean="0"/>
              <a:t> </a:t>
            </a:r>
          </a:p>
          <a:p>
            <a:pPr lvl="1" eaLnBrk="1" hangingPunct="1"/>
            <a:r>
              <a:rPr lang="en-US" smtClean="0"/>
              <a:t>Logical values</a:t>
            </a:r>
          </a:p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bool</a:t>
            </a:r>
            <a:r>
              <a:rPr lang="en-US" smtClean="0"/>
              <a:t>, </a:t>
            </a:r>
            <a:r>
              <a:rPr lang="en-US" smtClean="0">
                <a:latin typeface="Courier New" panose="02070309020205020404" pitchFamily="49" charset="0"/>
              </a:rPr>
              <a:t>true</a:t>
            </a:r>
            <a:r>
              <a:rPr lang="en-US" smtClean="0"/>
              <a:t>, and </a:t>
            </a:r>
            <a:r>
              <a:rPr lang="en-US" smtClean="0">
                <a:latin typeface="Courier New" panose="02070309020205020404" pitchFamily="49" charset="0"/>
              </a:rPr>
              <a:t>false</a:t>
            </a:r>
            <a:r>
              <a:rPr lang="en-US" smtClean="0"/>
              <a:t> </a:t>
            </a:r>
          </a:p>
          <a:p>
            <a:pPr lvl="1" eaLnBrk="1" hangingPunct="1"/>
            <a:r>
              <a:rPr lang="en-US" smtClean="0"/>
              <a:t>Reserved words</a:t>
            </a:r>
          </a:p>
          <a:p>
            <a:pPr eaLnBrk="1" hangingPunct="1"/>
            <a:endParaRPr lang="en-US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62F5FE-B747-4BF5-BF4F-CBCA3E0F2733}" type="slidenum">
              <a:rPr lang="en-US">
                <a:solidFill>
                  <a:srgbClr val="045C75"/>
                </a:solidFill>
              </a:rPr>
              <a:pPr eaLnBrk="1" hangingPunct="1"/>
              <a:t>4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6967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char Data Type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The smallest integral data type</a:t>
            </a:r>
          </a:p>
          <a:p>
            <a:pPr eaLnBrk="1" hangingPunct="1"/>
            <a:r>
              <a:rPr lang="en-US" dirty="0" smtClean="0"/>
              <a:t>Used for characters: letters, digits, and special symbols</a:t>
            </a:r>
          </a:p>
          <a:p>
            <a:pPr eaLnBrk="1" hangingPunct="1"/>
            <a:r>
              <a:rPr lang="en-US" dirty="0" smtClean="0"/>
              <a:t>Each character is enclosed in single quotes</a:t>
            </a:r>
          </a:p>
          <a:p>
            <a:pPr lvl="1" eaLnBrk="1" hangingPunct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'A', 'a', '0', '*', '+', '$', '&amp;' </a:t>
            </a:r>
          </a:p>
          <a:p>
            <a:pPr eaLnBrk="1" hangingPunct="1"/>
            <a:r>
              <a:rPr lang="en-US" dirty="0" smtClean="0"/>
              <a:t>A blank space is a character</a:t>
            </a:r>
          </a:p>
          <a:p>
            <a:pPr lvl="1" eaLnBrk="1" hangingPunct="1"/>
            <a:r>
              <a:rPr lang="en-US" dirty="0" smtClean="0"/>
              <a:t>Written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dirty="0" smtClean="0"/>
              <a:t>, with a space left between the single quotes</a:t>
            </a:r>
          </a:p>
          <a:p>
            <a:pPr lvl="1" eaLnBrk="1" hangingPunct="1"/>
            <a:r>
              <a:rPr lang="en-US" dirty="0" smtClean="0"/>
              <a:t>‘abc’ and ‘!=‘ are not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</a:p>
          <a:p>
            <a:pPr lvl="1" eaLnBrk="1" hangingPunct="1"/>
            <a:r>
              <a:rPr lang="en-US" dirty="0"/>
              <a:t>ASCII character set represent a different character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1A624A-246A-4F02-90CD-6A975C584398}" type="slidenum">
              <a:rPr lang="en-US">
                <a:solidFill>
                  <a:srgbClr val="045C75"/>
                </a:solidFill>
              </a:rPr>
              <a:pPr eaLnBrk="1" hangingPunct="1"/>
              <a:t>5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18608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may be familiar with scientific notation. For example:</a:t>
            </a:r>
          </a:p>
          <a:p>
            <a:pPr lvl="1"/>
            <a:r>
              <a:rPr lang="en-US" dirty="0" smtClean="0"/>
              <a:t>43872918 = 4.3872918 * 107 {10 to the power of seven}</a:t>
            </a:r>
          </a:p>
          <a:p>
            <a:pPr lvl="1"/>
            <a:r>
              <a:rPr lang="en-US" dirty="0" smtClean="0"/>
              <a:t>.0000265 = 2.65 * 10-5 {10 to the power of minus five}</a:t>
            </a:r>
          </a:p>
          <a:p>
            <a:pPr lvl="1"/>
            <a:r>
              <a:rPr lang="en-US" dirty="0" smtClean="0"/>
              <a:t>47.9832 = 4.79832 * 101 {10 to the power of one}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787569"/>
      </p:ext>
    </p:extLst>
  </p:cSld>
  <p:clrMapOvr>
    <a:masterClrMapping/>
  </p:clrMapOvr>
  <p:transition advTm="6184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Floating-Point Data Types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C++ uses scientific notation to represent real numbers (floating-point notation)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459ECA-FBDA-47A0-82A8-2F1FFC3CC532}" type="slidenum">
              <a:rPr lang="en-US">
                <a:solidFill>
                  <a:srgbClr val="045C75"/>
                </a:solidFill>
              </a:rPr>
              <a:pPr eaLnBrk="1" hangingPunct="1"/>
              <a:t>7</a:t>
            </a:fld>
            <a:endParaRPr lang="en-US">
              <a:solidFill>
                <a:srgbClr val="045C75"/>
              </a:solidFill>
            </a:endParaRPr>
          </a:p>
        </p:txBody>
      </p:sp>
      <p:pic>
        <p:nvPicPr>
          <p:cNvPr id="1946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1"/>
          <a:stretch>
            <a:fillRect/>
          </a:stretch>
        </p:blipFill>
        <p:spPr bwMode="auto">
          <a:xfrm>
            <a:off x="609600" y="2971800"/>
            <a:ext cx="8153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418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Floating-Point Data Types (cont'd.)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mtClean="0"/>
              <a:t>: represents any real number</a:t>
            </a:r>
          </a:p>
          <a:p>
            <a:pPr lvl="1" eaLnBrk="1" hangingPunct="1"/>
            <a:r>
              <a:rPr lang="en-US" smtClean="0"/>
              <a:t>Range: -3.4E+38 to 3.4E+38 (four bytes)</a:t>
            </a:r>
          </a:p>
          <a:p>
            <a:pPr eaLnBrk="1" hangingPunct="1"/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mtClean="0"/>
              <a:t>: represents any real number</a:t>
            </a:r>
          </a:p>
          <a:p>
            <a:pPr lvl="1" eaLnBrk="1" hangingPunct="1"/>
            <a:r>
              <a:rPr lang="en-US" smtClean="0"/>
              <a:t>Range: -1.7E+308 to 1.7E+308 (eight bytes)</a:t>
            </a: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4C0C97-E412-4D0E-81EB-0200E611132F}" type="slidenum">
              <a:rPr lang="en-US">
                <a:solidFill>
                  <a:srgbClr val="045C75"/>
                </a:solidFill>
              </a:rPr>
              <a:pPr eaLnBrk="1" hangingPunct="1"/>
              <a:t>8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49694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Floating-Point Data Types (cont'd.)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Maximum number of significant digits (decimal places) for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mtClean="0"/>
              <a:t> values is 6 or 7 </a:t>
            </a:r>
          </a:p>
          <a:p>
            <a:pPr eaLnBrk="1" hangingPunct="1"/>
            <a:r>
              <a:rPr lang="en-US" smtClean="0"/>
              <a:t>Maximum number of significant digits for 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mtClean="0"/>
              <a:t> is 15</a:t>
            </a:r>
          </a:p>
          <a:p>
            <a:pPr eaLnBrk="1" hangingPunct="1"/>
            <a:r>
              <a:rPr lang="en-US" u="sng" smtClean="0"/>
              <a:t>Precision</a:t>
            </a:r>
            <a:r>
              <a:rPr lang="en-US" smtClean="0"/>
              <a:t>: maximum number of significant digits</a:t>
            </a:r>
          </a:p>
          <a:p>
            <a:pPr lvl="1" eaLnBrk="1" hangingPunct="1"/>
            <a:r>
              <a:rPr lang="en-US" smtClean="0"/>
              <a:t>Float values are called </a:t>
            </a:r>
            <a:r>
              <a:rPr lang="en-US" u="sng" smtClean="0"/>
              <a:t>single precision</a:t>
            </a:r>
          </a:p>
          <a:p>
            <a:pPr lvl="1" eaLnBrk="1" hangingPunct="1"/>
            <a:r>
              <a:rPr lang="en-US" smtClean="0"/>
              <a:t>Double values are called </a:t>
            </a:r>
            <a:r>
              <a:rPr lang="en-US" u="sng" smtClean="0"/>
              <a:t>double precision</a:t>
            </a:r>
          </a:p>
          <a:p>
            <a:pPr lvl="1" eaLnBrk="1" hangingPunct="1"/>
            <a:endParaRPr lang="en-US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9AAC5DE-7754-4926-AE97-5FBCF9DBC19C}" type="slidenum">
              <a:rPr lang="en-US">
                <a:solidFill>
                  <a:srgbClr val="045C75"/>
                </a:solidFill>
              </a:rPr>
              <a:pPr eaLnBrk="1" hangingPunct="1"/>
              <a:t>9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32617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 and variables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When we declare a variable we not only specify the variable we also specify what type of data a variable can store. A syntax rule to declare a variable </a:t>
            </a:r>
            <a:br>
              <a:rPr lang="en-US" dirty="0" smtClean="0"/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datatype identifier;</a:t>
            </a:r>
          </a:p>
          <a:p>
            <a:r>
              <a:rPr lang="en-US" dirty="0"/>
              <a:t>For example consider the following </a:t>
            </a:r>
            <a:r>
              <a:rPr lang="en-US" dirty="0" smtClean="0"/>
              <a:t>examples: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nt counter;</a:t>
            </a:r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ouble interestRate;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har grade;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292375"/>
      </p:ext>
    </p:extLst>
  </p:cSld>
  <p:clrMapOvr>
    <a:masterClrMapping/>
  </p:clrMapOvr>
  <p:transition advTm="75914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700103622"/>
              </p:ext>
            </p:extLst>
          </p:nvPr>
        </p:nvGraphicFramePr>
        <p:xfrm>
          <a:off x="457200" y="274638"/>
          <a:ext cx="8382000" cy="5762622"/>
        </p:xfrm>
        <a:graphic>
          <a:graphicData uri="http://schemas.openxmlformats.org/drawingml/2006/table">
            <a:tbl>
              <a:tblPr/>
              <a:tblGrid>
                <a:gridCol w="3259138"/>
                <a:gridCol w="1319212"/>
                <a:gridCol w="3803650"/>
              </a:tblGrid>
              <a:tr h="396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Type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Width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Common Range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</a:tr>
              <a:tr h="4890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char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-128 to 127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unsigned char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 to 255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0" i="0" dirty="0" smtClean="0">
                          <a:solidFill>
                            <a:srgbClr val="2A2A2A"/>
                          </a:solidFill>
                          <a:effectLst/>
                          <a:latin typeface="Segoe UI" panose="020B0502040204020203" pitchFamily="34" charset="0"/>
                        </a:rPr>
                        <a:t>–2,147,483,648 to 2,147,483,647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unsigned int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 to 4,294,967,295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short int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-32768 to 32767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unsigned short int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 to 65535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long int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-2,147,483,648 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2,147,483,647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unsigned long int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 to 4,294,967,295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float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3.4E-38 to 3.4E+38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double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1.7E-308 to 1.7E+308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long double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80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3.4E-4932 to 3.4E+4932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Tm="58654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915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 smtClean="0"/>
              <a:t>Arithmetic Operators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C++ arithmetic operators: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 smtClean="0"/>
              <a:t>+ addition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 smtClean="0"/>
              <a:t>- subtraction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 smtClean="0"/>
              <a:t>* multiplication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 smtClean="0"/>
              <a:t>/ division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 smtClean="0"/>
              <a:t>% modulus operator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+, -, *, and / can be used with integral and floating-point data types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Operators can be </a:t>
            </a:r>
            <a:r>
              <a:rPr lang="en-US" u="sng" dirty="0" smtClean="0"/>
              <a:t>unary</a:t>
            </a:r>
            <a:r>
              <a:rPr lang="en-US" dirty="0" smtClean="0"/>
              <a:t> or </a:t>
            </a:r>
            <a:r>
              <a:rPr lang="en-US" u="sng" dirty="0" smtClean="0"/>
              <a:t>binary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5D0543-7D50-4665-8359-75A80F21A67C}" type="slidenum">
              <a:rPr lang="en-US">
                <a:solidFill>
                  <a:srgbClr val="045C75"/>
                </a:solidFill>
              </a:rPr>
              <a:pPr eaLnBrk="1" hangingPunct="1"/>
              <a:t>12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38967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" y="2667000"/>
            <a:ext cx="8763000" cy="335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75" y="914400"/>
            <a:ext cx="747229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63755"/>
      </p:ext>
    </p:extLst>
  </p:cSld>
  <p:clrMapOvr>
    <a:masterClrMapping/>
  </p:clrMapOvr>
  <p:transition advTm="13844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43815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5557" y="1371600"/>
            <a:ext cx="8292193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3196"/>
      </p:ext>
    </p:extLst>
  </p:cSld>
  <p:clrMapOvr>
    <a:masterClrMapping/>
  </p:clrMapOvr>
  <p:transition advTm="57323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Example—Contd..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6757" y="2514600"/>
            <a:ext cx="5470485" cy="26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19618"/>
      </p:ext>
    </p:extLst>
  </p:cSld>
  <p:clrMapOvr>
    <a:masterClrMapping/>
  </p:clrMapOvr>
  <p:transition advTm="8866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1689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z="2400" dirty="0" smtClean="0"/>
          </a:p>
          <a:p>
            <a:pPr lvl="1" eaLnBrk="1" hangingPunct="1"/>
            <a:r>
              <a:rPr lang="en-US" b="1" dirty="0" smtClean="0">
                <a:latin typeface="Courier New" panose="02070309020205020404" pitchFamily="49" charset="0"/>
              </a:rPr>
              <a:t>*</a:t>
            </a:r>
            <a:r>
              <a:rPr lang="en-US" dirty="0" smtClean="0"/>
              <a:t> </a:t>
            </a:r>
            <a:r>
              <a:rPr lang="en-US" sz="2000" dirty="0" smtClean="0"/>
              <a:t>: Multiplication </a:t>
            </a:r>
          </a:p>
          <a:p>
            <a:pPr lvl="1" eaLnBrk="1" hangingPunct="1"/>
            <a:r>
              <a:rPr lang="en-US" sz="2000" b="1" dirty="0" smtClean="0">
                <a:latin typeface="Courier New" panose="02070309020205020404" pitchFamily="49" charset="0"/>
              </a:rPr>
              <a:t>/</a:t>
            </a:r>
            <a:r>
              <a:rPr lang="en-US" sz="2000" dirty="0" smtClean="0"/>
              <a:t> : Division</a:t>
            </a:r>
          </a:p>
          <a:p>
            <a:pPr lvl="2" eaLnBrk="1" hangingPunct="1"/>
            <a:r>
              <a:rPr lang="en-US" sz="2000" b="1" dirty="0" smtClean="0">
                <a:solidFill>
                  <a:srgbClr val="FF0000"/>
                </a:solidFill>
              </a:rPr>
              <a:t>Integer division </a:t>
            </a:r>
            <a:r>
              <a:rPr lang="en-US" sz="2000" dirty="0" smtClean="0"/>
              <a:t>truncates remainder</a:t>
            </a:r>
          </a:p>
          <a:p>
            <a:pPr lvl="3" eaLnBrk="1" hangingPunct="1"/>
            <a:r>
              <a:rPr lang="en-US" b="1" dirty="0" smtClean="0">
                <a:latin typeface="Courier New" panose="02070309020205020404" pitchFamily="49" charset="0"/>
              </a:rPr>
              <a:t>7 / 5</a:t>
            </a:r>
            <a:r>
              <a:rPr lang="en-US" dirty="0" smtClean="0"/>
              <a:t> evaluates to 1</a:t>
            </a:r>
          </a:p>
          <a:p>
            <a:pPr lvl="1" eaLnBrk="1" hangingPunct="1"/>
            <a:r>
              <a:rPr lang="en-US" sz="2000" b="1" dirty="0" smtClean="0">
                <a:latin typeface="Courier New" panose="02070309020205020404" pitchFamily="49" charset="0"/>
              </a:rPr>
              <a:t>%</a:t>
            </a:r>
            <a:r>
              <a:rPr lang="en-US" sz="2000" dirty="0" smtClean="0"/>
              <a:t> : Modulus operator returns remainder </a:t>
            </a:r>
          </a:p>
          <a:p>
            <a:pPr lvl="3" eaLnBrk="1" hangingPunct="1"/>
            <a:r>
              <a:rPr lang="en-US" b="1" dirty="0" smtClean="0">
                <a:latin typeface="Courier New" panose="02070309020205020404" pitchFamily="49" charset="0"/>
              </a:rPr>
              <a:t>7 % 5</a:t>
            </a:r>
            <a:r>
              <a:rPr lang="en-US" dirty="0" smtClean="0"/>
              <a:t> evaluates to 2</a:t>
            </a:r>
          </a:p>
          <a:p>
            <a:pPr lvl="1" eaLnBrk="1" hangingPunct="1"/>
            <a:r>
              <a:rPr lang="en-US" sz="2000" dirty="0" smtClean="0"/>
              <a:t> +  : Addition</a:t>
            </a:r>
          </a:p>
          <a:p>
            <a:pPr lvl="1" eaLnBrk="1" hangingPunct="1"/>
            <a:r>
              <a:rPr lang="en-US" sz="2000" dirty="0" smtClean="0"/>
              <a:t> _  : Subtraction </a:t>
            </a:r>
          </a:p>
          <a:p>
            <a:pPr lvl="3" eaLnBrk="1" hangingPunct="1"/>
            <a:endParaRPr lang="en-US" dirty="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/>
            <a:r>
              <a:rPr lang="en-US" smtClean="0"/>
              <a:t>C++ Math Operator Rules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533400" y="4495800"/>
          <a:ext cx="7824788" cy="360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Document" r:id="rId4" imgW="7802880" imgH="3604260" progId="Word.Document.8">
                  <p:embed/>
                </p:oleObj>
              </mc:Choice>
              <mc:Fallback>
                <p:oleObj name="Document" r:id="rId4" imgW="7802880" imgH="360426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95800"/>
                        <a:ext cx="7824788" cy="360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" t="7778" r="4599" b="7778"/>
          <a:stretch/>
        </p:blipFill>
        <p:spPr>
          <a:xfrm>
            <a:off x="6477000" y="1219200"/>
            <a:ext cx="1981200" cy="2468380"/>
          </a:xfrm>
          <a:prstGeom prst="rect">
            <a:avLst/>
          </a:prstGeom>
        </p:spPr>
      </p:pic>
    </p:spTree>
  </p:cSld>
  <p:clrMapOvr>
    <a:masterClrMapping/>
  </p:clrMapOvr>
  <p:transition advTm="24054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Order of Precedence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All operations inside of () are evaluated first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*, /, and % are at the same level of precedence and are evaluated next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+ and – have the same level of precedence and are evaluated last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When operators are on the same level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Performed from left to right (associativity)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Courier New" panose="02070309020205020404" pitchFamily="49" charset="0"/>
              </a:rPr>
              <a:t>3 * 7 - 6 + 2 * 5 / 4 + 6</a:t>
            </a:r>
            <a:r>
              <a:rPr lang="en-US" dirty="0" smtClean="0"/>
              <a:t> means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 smtClean="0">
                <a:latin typeface="Courier New" panose="02070309020205020404" pitchFamily="49" charset="0"/>
              </a:rPr>
              <a:t>(((3 * 7) – 6) + ((2 * 5) / 4 )) + 6</a:t>
            </a:r>
            <a:endParaRPr lang="en-US" dirty="0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F37734-0B1D-41C6-9248-B507BBD0C6E7}" type="slidenum">
              <a:rPr lang="en-US">
                <a:solidFill>
                  <a:srgbClr val="045C75"/>
                </a:solidFill>
              </a:rPr>
              <a:pPr eaLnBrk="1" hangingPunct="1"/>
              <a:t>17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32912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81891" y="2895600"/>
            <a:ext cx="7980218" cy="2438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3269652"/>
      </p:ext>
    </p:extLst>
  </p:cSld>
  <p:clrMapOvr>
    <a:masterClrMapping/>
  </p:clrMapOvr>
  <p:transition advTm="499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5654" y="2743200"/>
            <a:ext cx="8171146" cy="210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85350"/>
      </p:ext>
    </p:extLst>
  </p:cSld>
  <p:clrMapOvr>
    <a:masterClrMapping/>
  </p:clrMapOvr>
  <p:transition advTm="2254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Expressions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all operands </a:t>
            </a:r>
            <a:r>
              <a:rPr lang="en-US" dirty="0" smtClean="0"/>
              <a:t>are</a:t>
            </a:r>
            <a:r>
              <a:rPr lang="en-US" dirty="0" smtClean="0">
                <a:solidFill>
                  <a:srgbClr val="FF0000"/>
                </a:solidFill>
              </a:rPr>
              <a:t> integers</a:t>
            </a:r>
          </a:p>
          <a:p>
            <a:pPr lvl="1" eaLnBrk="1" hangingPunct="1"/>
            <a:r>
              <a:rPr lang="en-US" dirty="0" smtClean="0"/>
              <a:t>Expression is called an </a:t>
            </a:r>
            <a:r>
              <a:rPr lang="en-US" u="sng" dirty="0" smtClean="0">
                <a:solidFill>
                  <a:srgbClr val="FF0000"/>
                </a:solidFill>
              </a:rPr>
              <a:t>integral expression</a:t>
            </a:r>
          </a:p>
          <a:p>
            <a:pPr lvl="2" eaLnBrk="1" hangingPunct="1"/>
            <a:r>
              <a:rPr lang="en-US" dirty="0" smtClean="0"/>
              <a:t>Yields an integral result</a:t>
            </a:r>
          </a:p>
          <a:p>
            <a:pPr lvl="2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anose="02070309020205020404" pitchFamily="49" charset="0"/>
              </a:rPr>
              <a:t>2 + 3 * 5</a:t>
            </a:r>
          </a:p>
          <a:p>
            <a:pPr eaLnBrk="1" hangingPunct="1"/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all operands </a:t>
            </a:r>
            <a:r>
              <a:rPr lang="en-US" dirty="0" smtClean="0"/>
              <a:t>are </a:t>
            </a:r>
            <a:r>
              <a:rPr lang="en-US" dirty="0" smtClean="0">
                <a:solidFill>
                  <a:srgbClr val="FF0000"/>
                </a:solidFill>
              </a:rPr>
              <a:t>floating-point</a:t>
            </a:r>
          </a:p>
          <a:p>
            <a:pPr lvl="1" eaLnBrk="1" hangingPunct="1"/>
            <a:r>
              <a:rPr lang="en-US" dirty="0" smtClean="0"/>
              <a:t>Expression is called a </a:t>
            </a:r>
            <a:r>
              <a:rPr lang="en-US" u="sng" dirty="0" smtClean="0">
                <a:solidFill>
                  <a:srgbClr val="FF0000"/>
                </a:solidFill>
              </a:rPr>
              <a:t>floating-point expression</a:t>
            </a:r>
          </a:p>
          <a:p>
            <a:pPr lvl="2" eaLnBrk="1" hangingPunct="1"/>
            <a:r>
              <a:rPr lang="en-US" dirty="0" smtClean="0"/>
              <a:t>Yields a floating-point result</a:t>
            </a:r>
          </a:p>
          <a:p>
            <a:pPr lvl="2" eaLnBrk="1" hangingPunct="1"/>
            <a:r>
              <a:rPr lang="en-US" dirty="0" smtClean="0"/>
              <a:t>Example: </a:t>
            </a:r>
            <a:r>
              <a:rPr lang="en-US" dirty="0" smtClean="0">
                <a:latin typeface="Courier New" panose="02070309020205020404" pitchFamily="49" charset="0"/>
              </a:rPr>
              <a:t>12.8 * 17.5 - 34.50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01540B-DD1C-4BC5-90C0-20F26C328D41}" type="slidenum">
              <a:rPr lang="en-US">
                <a:solidFill>
                  <a:srgbClr val="045C75"/>
                </a:solidFill>
              </a:rPr>
              <a:pPr eaLnBrk="1" hangingPunct="1"/>
              <a:t>20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19035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C++ integral expressions:</a:t>
            </a:r>
          </a:p>
          <a:p>
            <a:r>
              <a:rPr lang="en-US" dirty="0"/>
              <a:t>2 + 3 * 5</a:t>
            </a:r>
          </a:p>
          <a:p>
            <a:r>
              <a:rPr lang="en-US" dirty="0"/>
              <a:t>3 + x - y / 7</a:t>
            </a:r>
          </a:p>
          <a:p>
            <a:r>
              <a:rPr lang="pl-PL" dirty="0"/>
              <a:t>x + 2 * (y - z) + 18</a:t>
            </a:r>
          </a:p>
          <a:p>
            <a:r>
              <a:rPr lang="en-US" dirty="0"/>
              <a:t>In these expressions, x, y, and z represent variables of the integer type; that is, they </a:t>
            </a:r>
            <a:r>
              <a:rPr lang="en-US" dirty="0" smtClean="0"/>
              <a:t>can hold </a:t>
            </a:r>
            <a:r>
              <a:rPr lang="en-US" dirty="0"/>
              <a:t>integer values.</a:t>
            </a:r>
          </a:p>
        </p:txBody>
      </p:sp>
    </p:spTree>
    <p:extLst>
      <p:ext uri="{BB962C8B-B14F-4D97-AF65-F5344CB8AC3E}">
        <p14:creationId xmlns:p14="http://schemas.microsoft.com/office/powerpoint/2010/main" val="3699286897"/>
      </p:ext>
    </p:extLst>
  </p:cSld>
  <p:clrMapOvr>
    <a:masterClrMapping/>
  </p:clrMapOvr>
  <p:transition advTm="2751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Mixed Expressions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Mixed expression: </a:t>
            </a:r>
          </a:p>
          <a:p>
            <a:pPr lvl="1" eaLnBrk="1" hangingPunct="1"/>
            <a:r>
              <a:rPr lang="en-US" smtClean="0"/>
              <a:t>Has operands of different data types</a:t>
            </a:r>
          </a:p>
          <a:p>
            <a:pPr lvl="1" eaLnBrk="1" hangingPunct="1"/>
            <a:r>
              <a:rPr lang="en-US" smtClean="0"/>
              <a:t>Contains integers and floating-point</a:t>
            </a:r>
          </a:p>
          <a:p>
            <a:pPr eaLnBrk="1" hangingPunct="1"/>
            <a:r>
              <a:rPr lang="en-US" smtClean="0"/>
              <a:t>Examples of mixed expressions: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smtClean="0">
                <a:latin typeface="Courier New" panose="02070309020205020404" pitchFamily="49" charset="0"/>
              </a:rPr>
              <a:t>2 + 3.5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smtClean="0">
                <a:latin typeface="Courier New" panose="02070309020205020404" pitchFamily="49" charset="0"/>
              </a:rPr>
              <a:t>6  /  4 + 3.9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smtClean="0">
                <a:latin typeface="Courier New" panose="02070309020205020404" pitchFamily="49" charset="0"/>
              </a:rPr>
              <a:t>5.4  *  2 – 13.6 + 18  /  2</a:t>
            </a:r>
          </a:p>
          <a:p>
            <a:pPr eaLnBrk="1" hangingPunct="1"/>
            <a:endParaRPr lang="en-US" smtClean="0">
              <a:latin typeface="Courier New" panose="02070309020205020404" pitchFamily="49" charset="0"/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D1371B-66DD-4870-AAAD-1C854EEFA6ED}" type="slidenum">
              <a:rPr lang="en-US">
                <a:solidFill>
                  <a:srgbClr val="045C75"/>
                </a:solidFill>
              </a:rPr>
              <a:pPr eaLnBrk="1" hangingPunct="1"/>
              <a:t>22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11162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Mixed Expressions (cont'd.)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Evaluation rules:</a:t>
            </a:r>
            <a:br>
              <a:rPr lang="en-US" dirty="0" smtClean="0"/>
            </a:br>
            <a:r>
              <a:rPr lang="en-US" sz="2800" dirty="0" smtClean="0">
                <a:solidFill>
                  <a:srgbClr val="FF0000"/>
                </a:solidFill>
              </a:rPr>
              <a:t>Rule # 1</a:t>
            </a:r>
          </a:p>
          <a:p>
            <a:pPr lvl="1" eaLnBrk="1" hangingPunct="1"/>
            <a:r>
              <a:rPr lang="en-US" dirty="0" smtClean="0"/>
              <a:t>If operator has same types of operands</a:t>
            </a:r>
          </a:p>
          <a:p>
            <a:pPr lvl="2" eaLnBrk="1" hangingPunct="1"/>
            <a:r>
              <a:rPr lang="en-US" dirty="0" smtClean="0"/>
              <a:t>Evaluated according to the type of the operands </a:t>
            </a:r>
          </a:p>
          <a:p>
            <a:pPr lvl="1" eaLnBrk="1" hangingPunct="1"/>
            <a:r>
              <a:rPr lang="en-US" dirty="0" smtClean="0"/>
              <a:t>If operator has both types of operands</a:t>
            </a:r>
          </a:p>
          <a:p>
            <a:pPr lvl="2" eaLnBrk="1" hangingPunct="1"/>
            <a:r>
              <a:rPr lang="en-US" dirty="0" smtClean="0"/>
              <a:t>Integer is changed to floating-point  with decimal part “0”</a:t>
            </a:r>
          </a:p>
          <a:p>
            <a:pPr lvl="2" eaLnBrk="1" hangingPunct="1"/>
            <a:r>
              <a:rPr lang="en-US" dirty="0" smtClean="0"/>
              <a:t>Operator is evaluated </a:t>
            </a:r>
          </a:p>
          <a:p>
            <a:pPr lvl="2" eaLnBrk="1" hangingPunct="1"/>
            <a:r>
              <a:rPr lang="en-US" dirty="0" smtClean="0"/>
              <a:t>Result is floating-point</a:t>
            </a:r>
          </a:p>
          <a:p>
            <a:pPr marL="366713" lvl="1" indent="0" eaLnBrk="1" hangingPunct="1">
              <a:buNone/>
            </a:pPr>
            <a:r>
              <a:rPr lang="en-US" dirty="0">
                <a:solidFill>
                  <a:srgbClr val="FF0000"/>
                </a:solidFill>
              </a:rPr>
              <a:t>Rule # 2</a:t>
            </a:r>
            <a:endParaRPr lang="en-US" dirty="0" smtClean="0"/>
          </a:p>
          <a:p>
            <a:pPr lvl="1" eaLnBrk="1" hangingPunct="1"/>
            <a:r>
              <a:rPr lang="en-US" dirty="0" smtClean="0"/>
              <a:t>Entire expression is evaluated according to precedence rules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5FA7B7-CFF9-4B58-B157-99D12BB02FCE}" type="slidenum">
              <a:rPr lang="en-US">
                <a:solidFill>
                  <a:srgbClr val="045C75"/>
                </a:solidFill>
              </a:rPr>
              <a:pPr eaLnBrk="1" hangingPunct="1"/>
              <a:t>23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1115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5400" dirty="0" smtClean="0"/>
              <a:t>Example – I 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6963"/>
            <a:ext cx="8229600" cy="52276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smtClean="0"/>
              <a:t>#include </a:t>
            </a:r>
            <a:r>
              <a:rPr lang="en-US" sz="2800" dirty="0"/>
              <a:t>&lt;</a:t>
            </a:r>
            <a:r>
              <a:rPr lang="en-US" sz="2800" dirty="0" err="1"/>
              <a:t>iostream</a:t>
            </a:r>
            <a:r>
              <a:rPr lang="en-US" sz="2800" dirty="0"/>
              <a:t>&gt;</a:t>
            </a:r>
          </a:p>
          <a:p>
            <a:pPr marL="0" indent="0">
              <a:buNone/>
            </a:pPr>
            <a:r>
              <a:rPr lang="en-US" sz="2800" dirty="0"/>
              <a:t>using namespace </a:t>
            </a:r>
            <a:r>
              <a:rPr lang="en-US" sz="2800" dirty="0" err="1"/>
              <a:t>std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int main</a:t>
            </a:r>
            <a:r>
              <a:rPr lang="en-US" sz="2800" dirty="0" smtClean="0"/>
              <a:t>(){</a:t>
            </a:r>
            <a:endParaRPr lang="en-US" sz="2800" dirty="0"/>
          </a:p>
          <a:p>
            <a:pPr marL="366713" lvl="1" indent="0">
              <a:buNone/>
            </a:pPr>
            <a:r>
              <a:rPr lang="fr-FR" dirty="0"/>
              <a:t>cout &lt;&lt; "5.0 + 3.5 = " &lt;&lt; 5.0 + 3.5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fr-FR" dirty="0"/>
              <a:t>cout &lt;&lt; "3.0 + 9.4 = " &lt;&lt; 3.0 + 9.4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fr-FR" dirty="0"/>
              <a:t>cout &lt;&lt; "16.3 - 5.2 = " &lt;&lt; 16.3 - 5.2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fr-FR" dirty="0"/>
              <a:t>cout &lt;&lt; "4.2 * 2.5 = " &lt;&lt; 4.2 * 2.5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fr-FR" dirty="0"/>
              <a:t>cout &lt;&lt; "5.0 / 2.0 = " &lt;&lt; 5.0 / 2.0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fr-FR" dirty="0"/>
              <a:t>cout &lt;&lt; "34.5 / 6.0 = " &lt;&lt; 34.5 / 6.0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fr-FR" dirty="0"/>
              <a:t>cout &lt;&lt; "34.5 / 6.5 = " &lt;&lt; 34.5 / 6.5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366713" lvl="1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4429234"/>
      </p:ext>
    </p:extLst>
  </p:cSld>
  <p:clrMapOvr>
    <a:masterClrMapping/>
  </p:clrMapOvr>
  <p:transition advTm="15734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Type Conversion (Casting)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5486400"/>
            <a:ext cx="7086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u="sng" dirty="0" smtClean="0"/>
              <a:t>Implicit type coercion</a:t>
            </a:r>
            <a:r>
              <a:rPr lang="en-US" dirty="0" smtClean="0"/>
              <a:t>: when value of one type is automatically changed to another type</a:t>
            </a:r>
          </a:p>
          <a:p>
            <a:pPr lvl="1" eaLnBrk="1" hangingPunct="1"/>
            <a:r>
              <a:rPr lang="en-US" dirty="0" smtClean="0"/>
              <a:t>2 + 3.4 = 2.0 + 3.4 = 5.4</a:t>
            </a:r>
          </a:p>
          <a:p>
            <a:pPr lvl="1" eaLnBrk="1" hangingPunct="1"/>
            <a:r>
              <a:rPr lang="en-US" dirty="0" smtClean="0"/>
              <a:t>int num1; </a:t>
            </a:r>
          </a:p>
          <a:p>
            <a:pPr lvl="1" eaLnBrk="1" hangingPunct="1"/>
            <a:r>
              <a:rPr lang="en-US" dirty="0" smtClean="0"/>
              <a:t>float num2 = 12.45;</a:t>
            </a:r>
          </a:p>
          <a:p>
            <a:pPr lvl="1" eaLnBrk="1" hangingPunct="1"/>
            <a:r>
              <a:rPr lang="en-US" dirty="0" smtClean="0"/>
              <a:t>num1 = num2;  </a:t>
            </a:r>
          </a:p>
          <a:p>
            <a:pPr lvl="1" eaLnBrk="1" hangingPunct="1"/>
            <a:r>
              <a:rPr lang="en-US" dirty="0"/>
              <a:t> </a:t>
            </a:r>
            <a:r>
              <a:rPr lang="en-US" dirty="0" smtClean="0"/>
              <a:t>num1 = ?</a:t>
            </a:r>
          </a:p>
          <a:p>
            <a:pPr eaLnBrk="1" hangingPunct="1"/>
            <a:r>
              <a:rPr lang="en-US" u="sng" dirty="0" smtClean="0"/>
              <a:t>Cast operator</a:t>
            </a:r>
            <a:r>
              <a:rPr lang="en-US" dirty="0" smtClean="0"/>
              <a:t>: provides explicit type conversion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dirty="0" err="1" smtClean="0">
                <a:latin typeface="Courier New" panose="02070309020205020404" pitchFamily="49" charset="0"/>
              </a:rPr>
              <a:t>static_cast</a:t>
            </a:r>
            <a:r>
              <a:rPr lang="en-US" dirty="0" smtClean="0">
                <a:latin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</a:rPr>
              <a:t>dataTypeName</a:t>
            </a:r>
            <a:r>
              <a:rPr lang="en-US" dirty="0" smtClean="0">
                <a:latin typeface="Courier New" panose="02070309020205020404" pitchFamily="49" charset="0"/>
              </a:rPr>
              <a:t>&gt;(expression)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984B4B-D709-4204-AF1A-07DD97983652}" type="slidenum">
              <a:rPr lang="en-US">
                <a:solidFill>
                  <a:srgbClr val="045C75"/>
                </a:solidFill>
              </a:rPr>
              <a:pPr eaLnBrk="1" hangingPunct="1"/>
              <a:t>25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51594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305800" cy="1143000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Type Conversion (cont'd.)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B0BC44-9987-4B76-BF55-1575E84DB59C}" type="slidenum">
              <a:rPr lang="en-US">
                <a:solidFill>
                  <a:srgbClr val="045C75"/>
                </a:solidFill>
              </a:rPr>
              <a:pPr eaLnBrk="1" hangingPunct="1"/>
              <a:t>26</a:t>
            </a:fld>
            <a:endParaRPr lang="en-US">
              <a:solidFill>
                <a:srgbClr val="045C75"/>
              </a:solidFill>
            </a:endParaRPr>
          </a:p>
        </p:txBody>
      </p:sp>
      <p:pic>
        <p:nvPicPr>
          <p:cNvPr id="3072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0"/>
          <a:stretch>
            <a:fillRect/>
          </a:stretch>
        </p:blipFill>
        <p:spPr bwMode="auto">
          <a:xfrm>
            <a:off x="381000" y="1447800"/>
            <a:ext cx="838200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6589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Allocating Memory with Constants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8563"/>
            <a:ext cx="8229600" cy="4389437"/>
          </a:xfrm>
        </p:spPr>
        <p:txBody>
          <a:bodyPr/>
          <a:lstStyle/>
          <a:p>
            <a:r>
              <a:rPr lang="en-US" dirty="0"/>
              <a:t>Storing data in the computer’s memory is a two-step process:</a:t>
            </a:r>
          </a:p>
          <a:p>
            <a:pPr lvl="1"/>
            <a:r>
              <a:rPr lang="en-US" dirty="0"/>
              <a:t>1. Instruct the computer to allocate memory.</a:t>
            </a:r>
          </a:p>
          <a:p>
            <a:pPr lvl="1"/>
            <a:r>
              <a:rPr lang="en-US" dirty="0"/>
              <a:t>2. Include statements in the program to put data </a:t>
            </a:r>
            <a:r>
              <a:rPr lang="en-US" dirty="0" smtClean="0"/>
              <a:t>into the </a:t>
            </a:r>
            <a:r>
              <a:rPr lang="en-US" dirty="0"/>
              <a:t>allocated memory.</a:t>
            </a:r>
          </a:p>
        </p:txBody>
      </p:sp>
    </p:spTree>
    <p:extLst>
      <p:ext uri="{BB962C8B-B14F-4D97-AF65-F5344CB8AC3E}">
        <p14:creationId xmlns:p14="http://schemas.microsoft.com/office/powerpoint/2010/main" val="121644936"/>
      </p:ext>
    </p:extLst>
  </p:cSld>
  <p:clrMapOvr>
    <a:masterClrMapping/>
  </p:clrMapOvr>
  <p:transition advTm="14078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Named constant: </a:t>
            </a:r>
            <a:r>
              <a:rPr lang="en-US" dirty="0"/>
              <a:t>A memory location whose content is not allowed to change </a:t>
            </a:r>
            <a:r>
              <a:rPr lang="en-US" dirty="0" smtClean="0"/>
              <a:t>during program </a:t>
            </a:r>
            <a:r>
              <a:rPr lang="en-US" dirty="0"/>
              <a:t>execution.</a:t>
            </a:r>
          </a:p>
          <a:p>
            <a:r>
              <a:rPr lang="en-US" dirty="0"/>
              <a:t>To allocate memory, we use C++’s declaration statements. The syntax to declare </a:t>
            </a:r>
            <a:r>
              <a:rPr lang="en-US" dirty="0" smtClean="0"/>
              <a:t>a named </a:t>
            </a:r>
            <a:r>
              <a:rPr lang="en-US" dirty="0"/>
              <a:t>constant 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2125" y="3748881"/>
            <a:ext cx="5619750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" y="4744242"/>
            <a:ext cx="6019800" cy="170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9080"/>
      </p:ext>
    </p:extLst>
  </p:cSld>
  <p:clrMapOvr>
    <a:masterClrMapping/>
  </p:clrMapOvr>
  <p:transition advTm="52224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Variable: </a:t>
            </a:r>
            <a:r>
              <a:rPr lang="en-US" dirty="0"/>
              <a:t>A memory location whose content may change during program </a:t>
            </a:r>
            <a:r>
              <a:rPr lang="en-US" dirty="0" smtClean="0"/>
              <a:t>execution. The </a:t>
            </a:r>
            <a:r>
              <a:rPr lang="en-US" dirty="0"/>
              <a:t>syntax for declaring one variable or multiple variables 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3276600"/>
            <a:ext cx="7669705" cy="10780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4840" y="4441984"/>
            <a:ext cx="6842760" cy="176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21002"/>
      </p:ext>
    </p:extLst>
  </p:cSld>
  <p:clrMapOvr>
    <a:masterClrMapping/>
  </p:clrMapOvr>
  <p:transition advTm="15215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39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1087</Words>
  <Application>Microsoft Office PowerPoint</Application>
  <PresentationFormat>On-screen Show (4:3)</PresentationFormat>
  <Paragraphs>212</Paragraphs>
  <Slides>29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Segoe UI</vt:lpstr>
      <vt:lpstr>Office Theme</vt:lpstr>
      <vt:lpstr>Document</vt:lpstr>
      <vt:lpstr>Data-types and operators</vt:lpstr>
      <vt:lpstr>Simple Data Types</vt:lpstr>
      <vt:lpstr>Simple Data Types (cont'd.)</vt:lpstr>
      <vt:lpstr>bool Data Type</vt:lpstr>
      <vt:lpstr>char Data Type</vt:lpstr>
      <vt:lpstr>Floating-Point Data Types</vt:lpstr>
      <vt:lpstr>Floating-Point Data Types</vt:lpstr>
      <vt:lpstr>Floating-Point Data Types (cont'd.)</vt:lpstr>
      <vt:lpstr>Floating-Point Data Types (cont'd.)</vt:lpstr>
      <vt:lpstr>Data type and variables</vt:lpstr>
      <vt:lpstr>PowerPoint Presentation</vt:lpstr>
      <vt:lpstr>Arithmetic Operators</vt:lpstr>
      <vt:lpstr>PowerPoint Presentation</vt:lpstr>
      <vt:lpstr>Example</vt:lpstr>
      <vt:lpstr>Example—Contd..</vt:lpstr>
      <vt:lpstr>C++ Math Operator Rules</vt:lpstr>
      <vt:lpstr>Order of Precedence</vt:lpstr>
      <vt:lpstr>Example</vt:lpstr>
      <vt:lpstr>Example</vt:lpstr>
      <vt:lpstr>Expressions</vt:lpstr>
      <vt:lpstr>Examples</vt:lpstr>
      <vt:lpstr>Mixed Expressions</vt:lpstr>
      <vt:lpstr>Mixed Expressions (cont'd.)</vt:lpstr>
      <vt:lpstr>Example – I </vt:lpstr>
      <vt:lpstr>Type Conversion (Casting)</vt:lpstr>
      <vt:lpstr>Type Conversion (cont'd.)</vt:lpstr>
      <vt:lpstr>Allocating Memory with Constants and Variables</vt:lpstr>
      <vt:lpstr>Contd..</vt:lpstr>
      <vt:lpstr>Variable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Data-types and operators</dc:title>
  <dc:creator>sadia tariq</dc:creator>
  <cp:lastModifiedBy>Microsoft account</cp:lastModifiedBy>
  <cp:revision>6</cp:revision>
  <dcterms:created xsi:type="dcterms:W3CDTF">2020-05-30T13:47:56Z</dcterms:created>
  <dcterms:modified xsi:type="dcterms:W3CDTF">2025-10-19T14:32:17Z</dcterms:modified>
</cp:coreProperties>
</file>