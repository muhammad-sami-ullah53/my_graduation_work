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277" r:id="rId4"/>
    <p:sldId id="27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9" r:id="rId19"/>
    <p:sldId id="280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00DF2-B803-4206-BF6B-9110539E268C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4EC0A-C698-4542-B875-FCB82B2B81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24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B15235B-73B1-44C8-B3EA-CC9CA25F0D8F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15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A3913E0-1A8B-4131-81EC-5F9FA75F1910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68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75912D9-6D4C-4DAF-893E-418587E3657F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2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A31C962D-2CB8-4495-8B48-B8F20212977B}" type="slidenum">
              <a:rPr lang="en-US" sz="1000" b="0">
                <a:latin typeface="Times New Roman" pitchFamily="18" charset="0"/>
              </a:rPr>
              <a:pPr/>
              <a:t>9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626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94027C5C-F36A-44D9-8B8C-2EF19AAEBE28}" type="slidenum">
              <a:rPr lang="en-US" sz="1000" b="0">
                <a:latin typeface="Times New Roman" pitchFamily="18" charset="0"/>
              </a:rPr>
              <a:pPr/>
              <a:t>10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185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0A42AE3-561F-439E-91DA-76DB286B58ED}" type="slidenum">
              <a:rPr lang="en-US" sz="1000" b="0">
                <a:latin typeface="Times New Roman" pitchFamily="18" charset="0"/>
              </a:rPr>
              <a:pPr/>
              <a:t>11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854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0F54CF4-4500-4DF2-96ED-EB472357FE84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35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1B74ED7-7C78-45A6-9FE0-D28E99A794B8}" type="slidenum">
              <a:rPr lang="en-US" sz="1000" b="0">
                <a:latin typeface="Times New Roman" pitchFamily="18" charset="0"/>
              </a:rPr>
              <a:pPr/>
              <a:t>13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692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6FA26162-79BA-4054-98C9-D18A135A765C}" type="slidenum">
              <a:rPr lang="en-US" sz="1000" b="0">
                <a:latin typeface="Times New Roman" pitchFamily="18" charset="0"/>
              </a:rPr>
              <a:pPr/>
              <a:t>14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806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112176A-72F5-4E0F-A3FF-8DB6F006C444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791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A763FD1-AD4A-483B-A5B6-E95802671AFA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191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4B39262-6BAE-4563-82FB-48E76E57C17F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33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C399247-0812-47C0-B3FF-045DCF577392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23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039"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28986" indent="-280379" defTabSz="933039">
              <a:defRPr sz="2000" b="1">
                <a:solidFill>
                  <a:schemeClr val="tx1"/>
                </a:solidFill>
                <a:latin typeface="Arial" charset="0"/>
              </a:defRPr>
            </a:lvl2pPr>
            <a:lvl3pPr marL="1121516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3pPr>
            <a:lvl4pPr marL="1570122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4pPr>
            <a:lvl5pPr marL="2018729" indent="-224303" defTabSz="933039">
              <a:defRPr sz="2000" b="1">
                <a:solidFill>
                  <a:schemeClr val="tx1"/>
                </a:solidFill>
                <a:latin typeface="Arial" charset="0"/>
              </a:defRPr>
            </a:lvl5pPr>
            <a:lvl6pPr marL="2467335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6pPr>
            <a:lvl7pPr marL="2915941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7pPr>
            <a:lvl8pPr marL="3364548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8pPr>
            <a:lvl9pPr marL="3813154" indent="-224303" defTabSz="933039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2000"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5D19C3C1-2B97-44C3-8D62-F709C934D1D5}" type="slidenum">
              <a:rPr lang="en-US" sz="1000" b="0">
                <a:latin typeface="Times New Roman" pitchFamily="18" charset="0"/>
              </a:rPr>
              <a:pPr/>
              <a:t>19</a:t>
            </a:fld>
            <a:endParaRPr lang="en-US" sz="1000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39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E0892BF-FE22-47BA-A4FA-C9105FD07F6A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688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AF4C5-E9F2-4F8C-B2F4-7B7EF5171781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56FAF-846B-4BDB-B1DC-CFD118326A7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.wav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4.wav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5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6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7.wav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8.wav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9.wav"/><Relationship Id="rId1" Type="http://schemas.openxmlformats.org/officeDocument/2006/relationships/tags" Target="../tags/tag1.xml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0.wav"/><Relationship Id="rId1" Type="http://schemas.openxmlformats.org/officeDocument/2006/relationships/tags" Target="../tags/tag2.xml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1.wav"/><Relationship Id="rId1" Type="http://schemas.openxmlformats.org/officeDocument/2006/relationships/tags" Target="../tags/tag3.xml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2.wav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3.wav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4.wav"/><Relationship Id="rId1" Type="http://schemas.openxmlformats.org/officeDocument/2006/relationships/tags" Target="../tags/tag5.xml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5.wav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6.wav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7.wav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emf"/><Relationship Id="rId2" Type="http://schemas.openxmlformats.org/officeDocument/2006/relationships/audio" Target="../media/audio18.wav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Word_97_-_2003_Document1.doc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9.wav"/><Relationship Id="rId1" Type="http://schemas.openxmlformats.org/officeDocument/2006/relationships/tags" Target="../tags/tag6.xml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20.wav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 to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Zainab Shahzadi</a:t>
            </a:r>
            <a:endParaRPr lang="en-US" dirty="0"/>
          </a:p>
        </p:txBody>
      </p:sp>
      <p:pic>
        <p:nvPicPr>
          <p:cNvPr id="5" name="~PP2895.WAV">
            <a:hlinkClick r:id="" action="ppaction://media"/>
          </p:cNvPr>
          <p:cNvPicPr>
            <a:picLocks noRot="1" noChangeAspect="1"/>
          </p:cNvPicPr>
          <p:nvPr>
            <a:wavAudioFile r:embed="rId1" name="~PP2895.WAV"/>
          </p:nvPr>
        </p:nvPicPr>
        <p:blipFill>
          <a:blip r:embed="rId3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2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400" dirty="0" smtClean="0"/>
              <a:t>History of C and C++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229600" cy="5715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2800" b="1" dirty="0" smtClean="0"/>
              <a:t>History of C</a:t>
            </a:r>
          </a:p>
          <a:p>
            <a:pPr lvl="1" eaLnBrk="1" hangingPunct="1"/>
            <a:r>
              <a:rPr lang="en-US" dirty="0" smtClean="0"/>
              <a:t>Evolved from two other programming languages</a:t>
            </a:r>
          </a:p>
          <a:p>
            <a:pPr lvl="2" eaLnBrk="1" hangingPunct="1"/>
            <a:r>
              <a:rPr lang="en-US" sz="2000" dirty="0" smtClean="0"/>
              <a:t>BCPL and B: “</a:t>
            </a:r>
            <a:r>
              <a:rPr lang="en-US" sz="2000" dirty="0" err="1" smtClean="0"/>
              <a:t>Typeless</a:t>
            </a:r>
            <a:r>
              <a:rPr lang="en-US" sz="2000" dirty="0" smtClean="0"/>
              <a:t>” languages</a:t>
            </a:r>
          </a:p>
          <a:p>
            <a:pPr lvl="2"/>
            <a:r>
              <a:rPr lang="en-US" sz="1700" dirty="0" smtClean="0"/>
              <a:t>Dennis Ritchie (Bell Lab): Added typing, other features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 is a programming language developed in the 1970's alongside the UNIX operating system. 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C provides a comprehensive set of features for handling a wide variety of applications, such as systems development and scientific computation. </a:t>
            </a:r>
          </a:p>
          <a:p>
            <a:pPr lvl="1" eaLnBrk="1" hangingPunct="1"/>
            <a:r>
              <a:rPr lang="en-US" sz="2000" dirty="0" smtClean="0"/>
              <a:t>1989: ANSI standard/ ANSI/ISO 9899: 1990</a:t>
            </a:r>
          </a:p>
          <a:p>
            <a:r>
              <a:rPr lang="en-US" sz="2800" b="1" dirty="0"/>
              <a:t>History of C++ </a:t>
            </a:r>
          </a:p>
          <a:p>
            <a:pPr lvl="1" eaLnBrk="1" hangingPunct="1"/>
            <a:r>
              <a:rPr lang="en-US" dirty="0"/>
              <a:t>Early 1980s: </a:t>
            </a:r>
            <a:r>
              <a:rPr lang="en-US" dirty="0" err="1"/>
              <a:t>Bjarne</a:t>
            </a:r>
            <a:r>
              <a:rPr lang="en-US" dirty="0"/>
              <a:t> </a:t>
            </a:r>
            <a:r>
              <a:rPr lang="en-US" dirty="0" err="1"/>
              <a:t>Stroustrup</a:t>
            </a:r>
            <a:r>
              <a:rPr lang="en-US" dirty="0"/>
              <a:t> (Bell Lab)</a:t>
            </a:r>
          </a:p>
          <a:p>
            <a:pPr lvl="1" eaLnBrk="1" hangingPunct="1"/>
            <a:r>
              <a:rPr lang="en-US" dirty="0"/>
              <a:t>Provides capabilities for object-oriented programming</a:t>
            </a:r>
          </a:p>
          <a:p>
            <a:pPr lvl="2" eaLnBrk="1" hangingPunct="1"/>
            <a:r>
              <a:rPr lang="en-US" sz="2000" dirty="0" smtClean="0"/>
              <a:t>Objects: reusable software components </a:t>
            </a:r>
          </a:p>
          <a:p>
            <a:pPr lvl="2" eaLnBrk="1" hangingPunct="1"/>
            <a:r>
              <a:rPr lang="en-US" sz="2000" dirty="0" smtClean="0"/>
              <a:t>Object-oriented programs</a:t>
            </a:r>
          </a:p>
          <a:p>
            <a:pPr eaLnBrk="1" hangingPunct="1"/>
            <a:r>
              <a:rPr lang="en-US" sz="2000" dirty="0" smtClean="0"/>
              <a:t>Building block approach” to creating programs</a:t>
            </a:r>
          </a:p>
          <a:p>
            <a:pPr lvl="1" eaLnBrk="1" hangingPunct="1"/>
            <a:r>
              <a:rPr lang="en-US" sz="2000" dirty="0" smtClean="0"/>
              <a:t>C++ programs are built from pieces called classes and functions</a:t>
            </a:r>
          </a:p>
          <a:p>
            <a:pPr lvl="1" eaLnBrk="1" hangingPunct="1"/>
            <a:r>
              <a:rPr lang="en-US" sz="2000" dirty="0" smtClean="0"/>
              <a:t>C++ standard library: Rich collections of existing classes and functions</a:t>
            </a:r>
          </a:p>
        </p:txBody>
      </p:sp>
      <p:pic>
        <p:nvPicPr>
          <p:cNvPr id="5" name="~PP792.WAV">
            <a:hlinkClick r:id="" action="ppaction://media"/>
          </p:cNvPr>
          <p:cNvPicPr>
            <a:picLocks noRot="1" noChangeAspect="1"/>
          </p:cNvPicPr>
          <p:nvPr>
            <a:wavAudioFile r:embed="rId1" name="~PP792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42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Integrated </a:t>
            </a:r>
            <a:r>
              <a:rPr lang="en-US" smtClean="0"/>
              <a:t>development environment</a:t>
            </a:r>
          </a:p>
          <a:p>
            <a:r>
              <a:rPr lang="en-US" dirty="0" smtClean="0"/>
              <a:t>Editor</a:t>
            </a:r>
          </a:p>
          <a:p>
            <a:r>
              <a:rPr lang="en-US" dirty="0" smtClean="0"/>
              <a:t>Compiler</a:t>
            </a:r>
          </a:p>
          <a:p>
            <a:r>
              <a:rPr lang="en-US" dirty="0" smtClean="0"/>
              <a:t>Linker</a:t>
            </a:r>
          </a:p>
          <a:p>
            <a:r>
              <a:rPr lang="en-US" dirty="0" smtClean="0"/>
              <a:t>loader</a:t>
            </a:r>
            <a:endParaRPr lang="en-US" dirty="0"/>
          </a:p>
        </p:txBody>
      </p:sp>
      <p:pic>
        <p:nvPicPr>
          <p:cNvPr id="5" name="~PP2385.WAV">
            <a:hlinkClick r:id="" action="ppaction://media"/>
          </p:cNvPr>
          <p:cNvPicPr>
            <a:picLocks noRot="1" noChangeAspect="1"/>
          </p:cNvPicPr>
          <p:nvPr>
            <a:wavAudioFile r:embed="rId1" name="~PP2385.WAV"/>
          </p:nvPr>
        </p:nvPicPr>
        <p:blipFill>
          <a:blip r:embed="rId3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9428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Compiler</a:t>
            </a: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457200" y="2133600"/>
            <a:ext cx="2057400" cy="2743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b="1" i="1">
                <a:latin typeface="Helvetica" pitchFamily="34" charset="0"/>
              </a:rPr>
              <a:t>C++ Program</a:t>
            </a:r>
          </a:p>
          <a:p>
            <a:pPr algn="ctr" eaLnBrk="0" hangingPunct="0">
              <a:defRPr/>
            </a:pPr>
            <a:endParaRPr lang="en-US" sz="2000" b="1" i="1">
              <a:latin typeface="Helvetica" pitchFamily="34" charset="0"/>
            </a:endParaRPr>
          </a:p>
          <a:p>
            <a:pPr algn="ctr" eaLnBrk="0" hangingPunct="0">
              <a:defRPr/>
            </a:pPr>
            <a:endParaRPr lang="en-US" sz="2000" b="1" i="1">
              <a:latin typeface="Helvetica" pitchFamily="34" charset="0"/>
            </a:endParaRPr>
          </a:p>
          <a:p>
            <a:pPr algn="ctr" eaLnBrk="0" hangingPunct="0">
              <a:defRPr/>
            </a:pPr>
            <a:r>
              <a:rPr lang="en-US" sz="2000" b="1">
                <a:latin typeface="Courier New" pitchFamily="49" charset="0"/>
              </a:rPr>
              <a:t>int main() {</a:t>
            </a:r>
          </a:p>
          <a:p>
            <a:pPr algn="ctr" eaLnBrk="0" hangingPunct="0">
              <a:defRPr/>
            </a:pPr>
            <a:r>
              <a:rPr lang="en-US" sz="2000" b="1">
                <a:latin typeface="Courier New" pitchFamily="49" charset="0"/>
              </a:rPr>
              <a:t>int i=1;</a:t>
            </a:r>
          </a:p>
          <a:p>
            <a:pPr algn="ctr" eaLnBrk="0" hangingPunct="0">
              <a:defRPr/>
            </a:pPr>
            <a:r>
              <a:rPr lang="en-US" sz="2000" b="1">
                <a:latin typeface="Courier New" pitchFamily="49" charset="0"/>
              </a:rPr>
              <a:t>. . .</a:t>
            </a:r>
          </a:p>
          <a:p>
            <a:pPr algn="ctr" eaLnBrk="0" hangingPunct="0">
              <a:defRPr/>
            </a:pPr>
            <a:endParaRPr lang="en-US" sz="2000" b="1" i="1">
              <a:latin typeface="Helvetica" pitchFamily="34" charset="0"/>
            </a:endParaRP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6705600" y="2286000"/>
            <a:ext cx="1905000" cy="24384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2000" b="1" i="1">
                <a:latin typeface="Helvetica" pitchFamily="34" charset="0"/>
              </a:rPr>
              <a:t>Machine</a:t>
            </a:r>
          </a:p>
          <a:p>
            <a:pPr algn="ctr" eaLnBrk="0" hangingPunct="0">
              <a:defRPr/>
            </a:pPr>
            <a:r>
              <a:rPr lang="en-US" sz="2000" b="1" i="1">
                <a:latin typeface="Helvetica" pitchFamily="34" charset="0"/>
              </a:rPr>
              <a:t>Language</a:t>
            </a:r>
          </a:p>
          <a:p>
            <a:pPr algn="ctr" eaLnBrk="0" hangingPunct="0">
              <a:defRPr/>
            </a:pPr>
            <a:r>
              <a:rPr lang="en-US" sz="2000" b="1" i="1">
                <a:latin typeface="Helvetica" pitchFamily="34" charset="0"/>
              </a:rPr>
              <a:t>Program</a:t>
            </a:r>
          </a:p>
          <a:p>
            <a:pPr algn="ctr" eaLnBrk="0" hangingPunct="0">
              <a:defRPr/>
            </a:pPr>
            <a:endParaRPr lang="en-US" sz="2000" b="1" i="1">
              <a:latin typeface="Helvetica" pitchFamily="34" charset="0"/>
            </a:endParaRPr>
          </a:p>
          <a:p>
            <a:pPr algn="ctr" eaLnBrk="0" hangingPunct="0">
              <a:defRPr/>
            </a:pPr>
            <a:endParaRPr lang="en-US" sz="2000" b="1" i="1">
              <a:latin typeface="Helvetica" pitchFamily="34" charset="0"/>
            </a:endParaRPr>
          </a:p>
          <a:p>
            <a:pPr algn="ctr" eaLnBrk="0" hangingPunct="0">
              <a:defRPr/>
            </a:pPr>
            <a:r>
              <a:rPr lang="en-US" sz="2000" b="1">
                <a:latin typeface="Courier New" pitchFamily="49" charset="0"/>
              </a:rPr>
              <a:t>01001001</a:t>
            </a:r>
          </a:p>
          <a:p>
            <a:pPr algn="ctr" eaLnBrk="0" hangingPunct="0">
              <a:defRPr/>
            </a:pPr>
            <a:r>
              <a:rPr lang="en-US" sz="2000" b="1">
                <a:latin typeface="Courier New" pitchFamily="49" charset="0"/>
              </a:rPr>
              <a:t>10010100</a:t>
            </a:r>
            <a:endParaRPr lang="en-US" sz="2000" b="1" i="1">
              <a:latin typeface="Helvetica" pitchFamily="34" charset="0"/>
            </a:endParaRP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3352800" y="2057400"/>
            <a:ext cx="2667000" cy="14478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hangingPunct="0">
              <a:defRPr/>
            </a:pPr>
            <a:r>
              <a:rPr lang="en-US" sz="3200" b="1" i="1">
                <a:latin typeface="Times New Roman" pitchFamily="18" charset="0"/>
              </a:rPr>
              <a:t>C++ Compiler</a:t>
            </a:r>
            <a:endParaRPr lang="en-US" sz="2400">
              <a:latin typeface="Times New Roman" pitchFamily="18" charset="0"/>
            </a:endParaRPr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 flipV="1">
            <a:off x="2667000" y="2895600"/>
            <a:ext cx="6858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6096000" y="2895600"/>
            <a:ext cx="609600" cy="228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838200" y="5410200"/>
            <a:ext cx="42672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800">
                <a:solidFill>
                  <a:schemeClr val="bg2"/>
                </a:solidFill>
                <a:latin typeface="Times New Roman" pitchFamily="18" charset="0"/>
              </a:rPr>
              <a:t>Created with text editor or development environment</a:t>
            </a:r>
            <a:endParaRPr lang="en-US" sz="24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 flipH="1" flipV="1">
            <a:off x="2590800" y="5029200"/>
            <a:ext cx="381000" cy="381000"/>
          </a:xfrm>
          <a:prstGeom prst="line">
            <a:avLst/>
          </a:prstGeom>
          <a:noFill/>
          <a:ln w="76200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1" name="~PP63.WAV">
            <a:hlinkClick r:id="" action="ppaction://media"/>
          </p:cNvPr>
          <p:cNvPicPr>
            <a:picLocks noRot="1" noChangeAspect="1"/>
          </p:cNvPicPr>
          <p:nvPr>
            <a:wavAudioFile r:embed="rId1" name="~PP63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08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cs typeface="Times New Roman" pitchFamily="18" charset="0"/>
              </a:rPr>
              <a:t>Compilers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cs typeface="Times New Roman" pitchFamily="18" charset="0"/>
              </a:rPr>
              <a:t>Translate high-level language to machine language</a:t>
            </a:r>
          </a:p>
          <a:p>
            <a:r>
              <a:rPr lang="en-US" dirty="0">
                <a:cs typeface="Times New Roman" pitchFamily="18" charset="0"/>
              </a:rPr>
              <a:t>Check that the program obeys the </a:t>
            </a:r>
            <a:r>
              <a:rPr lang="en-US" dirty="0" smtClean="0">
                <a:cs typeface="Times New Roman" pitchFamily="18" charset="0"/>
              </a:rPr>
              <a:t>rules</a:t>
            </a:r>
            <a:br>
              <a:rPr lang="en-US" dirty="0" smtClean="0">
                <a:cs typeface="Times New Roman" pitchFamily="18" charset="0"/>
              </a:rPr>
            </a:br>
            <a:endParaRPr lang="en-US" dirty="0" smtClean="0">
              <a:cs typeface="Times New Roman" pitchFamily="18" charset="0"/>
            </a:endParaRPr>
          </a:p>
          <a:p>
            <a:pPr lvl="1" eaLnBrk="1" hangingPunct="1"/>
            <a:r>
              <a:rPr lang="en-US" b="1" dirty="0" smtClean="0">
                <a:solidFill>
                  <a:schemeClr val="tx2"/>
                </a:solidFill>
                <a:cs typeface="Times New Roman" pitchFamily="18" charset="0"/>
              </a:rPr>
              <a:t>Source code</a:t>
            </a:r>
          </a:p>
          <a:p>
            <a:pPr lvl="2" eaLnBrk="1" hangingPunct="1"/>
            <a:r>
              <a:rPr lang="en-US" dirty="0" smtClean="0">
                <a:cs typeface="Times New Roman" pitchFamily="18" charset="0"/>
              </a:rPr>
              <a:t> the original program in a high level language</a:t>
            </a:r>
          </a:p>
          <a:p>
            <a:pPr lvl="1" eaLnBrk="1" hangingPunct="1"/>
            <a:r>
              <a:rPr lang="en-US" b="1" dirty="0" smtClean="0">
                <a:solidFill>
                  <a:schemeClr val="tx2"/>
                </a:solidFill>
                <a:cs typeface="Times New Roman" pitchFamily="18" charset="0"/>
              </a:rPr>
              <a:t>Object code</a:t>
            </a:r>
            <a:endParaRPr lang="en-US" dirty="0" smtClean="0">
              <a:cs typeface="Times New Roman" pitchFamily="18" charset="0"/>
            </a:endParaRPr>
          </a:p>
          <a:p>
            <a:pPr lvl="2" eaLnBrk="1" hangingPunct="1"/>
            <a:r>
              <a:rPr lang="en-US" dirty="0" smtClean="0">
                <a:cs typeface="Times New Roman" pitchFamily="18" charset="0"/>
              </a:rPr>
              <a:t> the translated version in machine language</a:t>
            </a:r>
          </a:p>
          <a:p>
            <a:pPr eaLnBrk="1" hangingPunct="1"/>
            <a:endParaRPr lang="en-US" dirty="0" smtClean="0">
              <a:cs typeface="Times New Roman" pitchFamily="18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dirty="0" smtClean="0">
              <a:cs typeface="Times New Roman" pitchFamily="18" charset="0"/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6537325" y="4903788"/>
            <a:ext cx="1720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8BE1A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2"/>
                </a:solidFill>
                <a:latin typeface="Arial" charset="0"/>
              </a:defRPr>
            </a:lvl1pPr>
            <a:lvl2pPr marL="742950" indent="-285750" eaLnBrk="0" hangingPunct="0">
              <a:defRPr sz="2800">
                <a:solidFill>
                  <a:schemeClr val="tx2"/>
                </a:solidFill>
                <a:latin typeface="Arial" charset="0"/>
              </a:defRPr>
            </a:lvl2pPr>
            <a:lvl3pPr marL="1143000" indent="-228600" eaLnBrk="0" hangingPunct="0">
              <a:defRPr sz="2800">
                <a:solidFill>
                  <a:schemeClr val="tx2"/>
                </a:solidFill>
                <a:latin typeface="Arial" charset="0"/>
              </a:defRPr>
            </a:lvl3pPr>
            <a:lvl4pPr marL="1600200" indent="-228600" eaLnBrk="0" hangingPunct="0">
              <a:defRPr sz="2800">
                <a:solidFill>
                  <a:schemeClr val="tx2"/>
                </a:solidFill>
                <a:latin typeface="Arial" charset="0"/>
              </a:defRPr>
            </a:lvl4pPr>
            <a:lvl5pPr marL="2057400" indent="-228600" eaLnBrk="0" hangingPunct="0">
              <a:defRPr sz="2800">
                <a:solidFill>
                  <a:schemeClr val="tx2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defRPr sz="2800">
                <a:solidFill>
                  <a:schemeClr val="tx2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defRPr sz="2800">
                <a:solidFill>
                  <a:schemeClr val="tx2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defRPr sz="2800">
                <a:solidFill>
                  <a:schemeClr val="tx2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itchFamily="2" charset="2"/>
              <a:defRPr sz="28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endParaRPr lang="en-US"/>
          </a:p>
        </p:txBody>
      </p:sp>
      <p:pic>
        <p:nvPicPr>
          <p:cNvPr id="6" name="~PP1148.WAV">
            <a:hlinkClick r:id="" action="ppaction://media"/>
          </p:cNvPr>
          <p:cNvPicPr>
            <a:picLocks noRot="1" noChangeAspect="1"/>
          </p:cNvPicPr>
          <p:nvPr>
            <a:wavAudioFile r:embed="rId1" name="~PP1148.WAV"/>
          </p:nvPr>
        </p:nvPicPr>
        <p:blipFill>
          <a:blip r:embed="rId3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91383"/>
      </p:ext>
    </p:extLst>
  </p:cSld>
  <p:clrMapOvr>
    <a:masterClrMapping/>
  </p:clrMapOvr>
  <p:transition spd="slow" advTm="174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Linkers and loader	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Some programs we use are already compiled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Their object code is available for us to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For example:  Input and output routines</a:t>
            </a:r>
            <a:br>
              <a:rPr lang="en-US" dirty="0" smtClean="0"/>
            </a:br>
            <a:endParaRPr 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A </a:t>
            </a:r>
            <a:r>
              <a:rPr lang="en-US" b="1" dirty="0" smtClean="0">
                <a:solidFill>
                  <a:schemeClr val="tx2"/>
                </a:solidFill>
              </a:rPr>
              <a:t>Linker</a:t>
            </a:r>
            <a:r>
              <a:rPr lang="en-US" dirty="0" smtClean="0"/>
              <a:t> combines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The object code for the programs we write </a:t>
            </a:r>
            <a:br>
              <a:rPr lang="en-US" dirty="0" smtClean="0"/>
            </a:br>
            <a:r>
              <a:rPr lang="en-US" dirty="0" smtClean="0"/>
              <a:t>                             </a:t>
            </a:r>
            <a:r>
              <a:rPr lang="en-US" dirty="0" smtClean="0">
                <a:solidFill>
                  <a:schemeClr val="tx2"/>
                </a:solidFill>
              </a:rPr>
              <a:t>and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The object code for the pre-compiled </a:t>
            </a:r>
            <a:r>
              <a:rPr lang="en-US" dirty="0"/>
              <a:t>routines </a:t>
            </a:r>
            <a:r>
              <a:rPr lang="en-US" dirty="0" smtClean="0"/>
              <a:t>(of SDK</a:t>
            </a:r>
            <a:r>
              <a:rPr lang="en-US" dirty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                           </a:t>
            </a:r>
            <a:r>
              <a:rPr lang="en-US" dirty="0" smtClean="0">
                <a:solidFill>
                  <a:schemeClr val="tx2"/>
                </a:solidFill>
              </a:rPr>
              <a:t>into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The machine language program the CPU can run</a:t>
            </a:r>
          </a:p>
          <a:p>
            <a:r>
              <a:rPr lang="en-US" u="sng" dirty="0"/>
              <a:t>Loader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Loads executable program into main memory</a:t>
            </a:r>
          </a:p>
          <a:p>
            <a:r>
              <a:rPr lang="en-US" dirty="0" smtClean="0"/>
              <a:t>The </a:t>
            </a:r>
            <a:r>
              <a:rPr lang="en-US" dirty="0"/>
              <a:t>last step is to execute the program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dirty="0" smtClean="0"/>
          </a:p>
        </p:txBody>
      </p:sp>
      <p:pic>
        <p:nvPicPr>
          <p:cNvPr id="5" name="~PP1911.WAV">
            <a:hlinkClick r:id="" action="ppaction://media"/>
          </p:cNvPr>
          <p:cNvPicPr>
            <a:picLocks noRot="1" noChangeAspect="1"/>
          </p:cNvPicPr>
          <p:nvPr>
            <a:wavAudioFile r:embed="rId1" name="~PP1911.WAV"/>
          </p:nvPr>
        </p:nvPicPr>
        <p:blipFill>
          <a:blip r:embed="rId3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99261"/>
      </p:ext>
    </p:extLst>
  </p:cSld>
  <p:clrMapOvr>
    <a:masterClrMapping/>
  </p:clrMapOvr>
  <p:transition spd="slow" advTm="6212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715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smtClean="0"/>
              <a:t>The Problem Analysis–Coding–Execution Cycle (cont’d.)</a:t>
            </a:r>
          </a:p>
        </p:txBody>
      </p:sp>
      <p:sp>
        <p:nvSpPr>
          <p:cNvPr id="430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B7160FE-393B-46F3-BDA2-5561F521D38E}" type="slidenum">
              <a:rPr lang="en-US">
                <a:solidFill>
                  <a:srgbClr val="898989"/>
                </a:solidFill>
              </a:rPr>
              <a:pPr eaLnBrk="1" hangingPunct="1"/>
              <a:t>7</a:t>
            </a:fld>
            <a:endParaRPr lang="en-US">
              <a:solidFill>
                <a:srgbClr val="898989"/>
              </a:solidFill>
            </a:endParaRPr>
          </a:p>
        </p:txBody>
      </p:sp>
      <p:pic>
        <p:nvPicPr>
          <p:cNvPr id="31749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47700"/>
            <a:ext cx="5604286" cy="607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~PP3759.WAV">
            <a:hlinkClick r:id="" action="ppaction://media"/>
          </p:cNvPr>
          <p:cNvPicPr>
            <a:picLocks noRot="1" noChangeAspect="1"/>
          </p:cNvPicPr>
          <p:nvPr>
            <a:wavAudioFile r:embed="rId1" name="~PP3759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82005"/>
      </p:ext>
    </p:extLst>
  </p:cSld>
  <p:clrMapOvr>
    <a:masterClrMapping/>
  </p:clrMapOvr>
  <p:transition advTm="796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4582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Basics of a Typical C++ Environment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C++ systems</a:t>
            </a:r>
          </a:p>
          <a:p>
            <a:pPr lvl="1" eaLnBrk="1" hangingPunct="1"/>
            <a:r>
              <a:rPr lang="en-US" dirty="0" smtClean="0"/>
              <a:t>Program-development environment</a:t>
            </a:r>
          </a:p>
          <a:p>
            <a:pPr lvl="1" eaLnBrk="1" hangingPunct="1"/>
            <a:r>
              <a:rPr lang="en-US" dirty="0" smtClean="0"/>
              <a:t>Language</a:t>
            </a:r>
          </a:p>
          <a:p>
            <a:pPr lvl="1" eaLnBrk="1" hangingPunct="1"/>
            <a:r>
              <a:rPr lang="en-US" dirty="0" smtClean="0"/>
              <a:t>C++ Standard Library</a:t>
            </a:r>
          </a:p>
          <a:p>
            <a:pPr eaLnBrk="1" hangingPunct="1"/>
            <a:r>
              <a:rPr lang="en-US" dirty="0" smtClean="0"/>
              <a:t>C++ program names extensions</a:t>
            </a:r>
          </a:p>
          <a:p>
            <a:pPr lvl="1" eaLnBrk="1" hangingPunct="1"/>
            <a:r>
              <a:rPr lang="en-US" dirty="0" smtClean="0"/>
              <a:t>.</a:t>
            </a:r>
            <a:r>
              <a:rPr lang="en-US" dirty="0" err="1" smtClean="0"/>
              <a:t>cpp</a:t>
            </a:r>
            <a:r>
              <a:rPr lang="en-US" dirty="0" smtClean="0"/>
              <a:t> (C Plus Plus)</a:t>
            </a:r>
          </a:p>
          <a:p>
            <a:pPr lvl="1" eaLnBrk="1" hangingPunct="1"/>
            <a:r>
              <a:rPr lang="en-US" dirty="0" smtClean="0"/>
              <a:t>.c (C)</a:t>
            </a:r>
          </a:p>
        </p:txBody>
      </p:sp>
      <p:pic>
        <p:nvPicPr>
          <p:cNvPr id="5" name="~PP2551.WAV">
            <a:hlinkClick r:id="" action="ppaction://media"/>
          </p:cNvPr>
          <p:cNvPicPr>
            <a:picLocks noRot="1" noChangeAspect="1"/>
          </p:cNvPicPr>
          <p:nvPr>
            <a:wavAudioFile r:embed="rId1" name="~PP2551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642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848600" cy="1066800"/>
          </a:xfrm>
        </p:spPr>
        <p:txBody>
          <a:bodyPr/>
          <a:lstStyle/>
          <a:p>
            <a:r>
              <a:rPr lang="en-US" smtClean="0"/>
              <a:t>Programming Style</a:t>
            </a:r>
          </a:p>
        </p:txBody>
      </p:sp>
      <p:sp>
        <p:nvSpPr>
          <p:cNvPr id="1536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5105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dirty="0" smtClean="0"/>
              <a:t>     </a:t>
            </a:r>
            <a:r>
              <a:rPr lang="en-US" sz="2800" b="1" dirty="0" smtClean="0"/>
              <a:t>C++ is a </a:t>
            </a:r>
            <a:r>
              <a:rPr lang="en-US" sz="2800" b="1" dirty="0" smtClean="0">
                <a:solidFill>
                  <a:srgbClr val="FF0000"/>
                </a:solidFill>
              </a:rPr>
              <a:t>free-format language</a:t>
            </a:r>
            <a:r>
              <a:rPr lang="en-US" sz="2800" b="1" dirty="0" smtClean="0"/>
              <a:t>, which means that:</a:t>
            </a:r>
            <a:endParaRPr lang="en-US" sz="2800" dirty="0" smtClean="0"/>
          </a:p>
          <a:p>
            <a:pPr>
              <a:lnSpc>
                <a:spcPct val="90000"/>
              </a:lnSpc>
            </a:pPr>
            <a:r>
              <a:rPr lang="en-US" sz="2800" dirty="0" smtClean="0"/>
              <a:t>Extra blanks (spaces) or tabs before or after identifiers/operators are ignored.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Blank lines are ignored by the compiler just like comments.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Code can be indented in any way. 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There can be more than one statement on a single line.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A single statement can continue over several lines.</a:t>
            </a:r>
          </a:p>
        </p:txBody>
      </p:sp>
      <p:pic>
        <p:nvPicPr>
          <p:cNvPr id="5" name="~PP2118.WAV">
            <a:hlinkClick r:id="" action="ppaction://media"/>
          </p:cNvPr>
          <p:cNvPicPr>
            <a:picLocks noRot="1" noChangeAspect="1"/>
          </p:cNvPicPr>
          <p:nvPr>
            <a:wavAudioFile r:embed="rId2" name="~PP2118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2249352"/>
      </p:ext>
    </p:extLst>
  </p:cSld>
  <p:clrMapOvr>
    <a:masterClrMapping/>
  </p:clrMapOvr>
  <p:transition advTm="8470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43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536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105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dirty="0" smtClean="0"/>
              <a:t>In order to improve the readability of your program,  use the following conventions: 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Start the program with a </a:t>
            </a:r>
            <a:r>
              <a:rPr lang="en-US" sz="2400" b="1" dirty="0" smtClean="0">
                <a:solidFill>
                  <a:srgbClr val="FF0000"/>
                </a:solidFill>
              </a:rPr>
              <a:t>header</a:t>
            </a:r>
            <a:r>
              <a:rPr lang="en-US" sz="2400" dirty="0" smtClean="0"/>
              <a:t> that tells what the program does.    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Use </a:t>
            </a:r>
            <a:r>
              <a:rPr lang="en-US" sz="2400" dirty="0" smtClean="0">
                <a:solidFill>
                  <a:srgbClr val="FF0000"/>
                </a:solidFill>
              </a:rPr>
              <a:t>meaningful variable names</a:t>
            </a:r>
            <a:r>
              <a:rPr lang="en-US" sz="2400" dirty="0" smtClean="0"/>
              <a:t>. </a:t>
            </a:r>
          </a:p>
          <a:p>
            <a:pPr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Document</a:t>
            </a:r>
            <a:r>
              <a:rPr lang="en-US" sz="2400" dirty="0" smtClean="0"/>
              <a:t> each variable declaration with a </a:t>
            </a:r>
            <a:r>
              <a:rPr lang="en-US" sz="2400" dirty="0" smtClean="0">
                <a:solidFill>
                  <a:srgbClr val="FF0000"/>
                </a:solidFill>
              </a:rPr>
              <a:t>comment</a:t>
            </a:r>
            <a:r>
              <a:rPr lang="en-US" sz="2400" dirty="0" smtClean="0"/>
              <a:t> telling what the variable is used for.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Place each </a:t>
            </a:r>
            <a:r>
              <a:rPr lang="en-US" sz="2400" dirty="0" smtClean="0">
                <a:solidFill>
                  <a:srgbClr val="FF0000"/>
                </a:solidFill>
              </a:rPr>
              <a:t>executable statement </a:t>
            </a:r>
            <a:r>
              <a:rPr lang="en-US" sz="2400" dirty="0" smtClean="0"/>
              <a:t>on a </a:t>
            </a:r>
            <a:r>
              <a:rPr lang="en-US" sz="2400" dirty="0" smtClean="0">
                <a:solidFill>
                  <a:srgbClr val="FF0000"/>
                </a:solidFill>
              </a:rPr>
              <a:t>single line</a:t>
            </a:r>
            <a:r>
              <a:rPr lang="en-US" sz="2400" dirty="0" smtClean="0"/>
              <a:t>. 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A segment of code is a sequence of executable statements that belong together.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/>
              <a:t>Use </a:t>
            </a:r>
            <a:r>
              <a:rPr lang="en-US" sz="2400" dirty="0" smtClean="0">
                <a:solidFill>
                  <a:srgbClr val="FF0000"/>
                </a:solidFill>
              </a:rPr>
              <a:t>blank lines </a:t>
            </a:r>
            <a:r>
              <a:rPr lang="en-US" sz="2400" dirty="0" smtClean="0"/>
              <a:t>to </a:t>
            </a:r>
            <a:r>
              <a:rPr lang="en-US" sz="2400" dirty="0" smtClean="0">
                <a:solidFill>
                  <a:srgbClr val="FF0000"/>
                </a:solidFill>
              </a:rPr>
              <a:t>separate</a:t>
            </a:r>
            <a:r>
              <a:rPr lang="en-US" sz="2400" dirty="0" smtClean="0"/>
              <a:t> different segments of code.</a:t>
            </a:r>
          </a:p>
          <a:p>
            <a:pPr lvl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Document each segment </a:t>
            </a:r>
            <a:r>
              <a:rPr lang="en-US" sz="2400" dirty="0" smtClean="0"/>
              <a:t>of code with a comment telling what the segment does.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7848600" cy="1066800"/>
          </a:xfrm>
          <a:noFill/>
        </p:spPr>
        <p:txBody>
          <a:bodyPr anchor="ctr"/>
          <a:lstStyle/>
          <a:p>
            <a:r>
              <a:rPr lang="en-US" smtClean="0"/>
              <a:t>Programming Style (cont. )</a:t>
            </a:r>
          </a:p>
        </p:txBody>
      </p:sp>
      <p:pic>
        <p:nvPicPr>
          <p:cNvPr id="5" name="~PP3990.WAV">
            <a:hlinkClick r:id="" action="ppaction://media"/>
          </p:cNvPr>
          <p:cNvPicPr>
            <a:picLocks noRot="1" noChangeAspect="1"/>
          </p:cNvPicPr>
          <p:nvPr>
            <a:wavAudioFile r:embed="rId2" name="~PP3990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4316484"/>
      </p:ext>
    </p:extLst>
  </p:cSld>
  <p:clrMapOvr>
    <a:masterClrMapping/>
  </p:clrMapOvr>
  <p:transition advTm="3457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5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638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6629400" cy="1066800"/>
          </a:xfrm>
        </p:spPr>
        <p:txBody>
          <a:bodyPr/>
          <a:lstStyle/>
          <a:p>
            <a:r>
              <a:rPr lang="en-US" smtClean="0"/>
              <a:t>C++ keywords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305800" cy="5029200"/>
          </a:xfrm>
        </p:spPr>
        <p:txBody>
          <a:bodyPr/>
          <a:lstStyle/>
          <a:p>
            <a:r>
              <a:rPr lang="en-US" sz="2400" dirty="0" smtClean="0"/>
              <a:t>Keywords appear in </a:t>
            </a:r>
            <a:r>
              <a:rPr lang="en-US" sz="2400" dirty="0" smtClean="0">
                <a:solidFill>
                  <a:schemeClr val="accent1"/>
                </a:solidFill>
              </a:rPr>
              <a:t>blue</a:t>
            </a:r>
            <a:r>
              <a:rPr lang="en-US" sz="2400" dirty="0" smtClean="0"/>
              <a:t> in Visual C++.        </a:t>
            </a:r>
          </a:p>
          <a:p>
            <a:r>
              <a:rPr lang="en-US" sz="2400" dirty="0" smtClean="0"/>
              <a:t>Each keyword has a predefined purpose in the language. </a:t>
            </a:r>
          </a:p>
          <a:p>
            <a:r>
              <a:rPr lang="en-US" sz="2400" dirty="0" smtClean="0"/>
              <a:t>Do not use keywords as variable and constant names!!</a:t>
            </a:r>
          </a:p>
          <a:p>
            <a:endParaRPr lang="en-US" sz="2400" dirty="0" smtClean="0"/>
          </a:p>
          <a:p>
            <a:r>
              <a:rPr lang="en-US" sz="2400" dirty="0" smtClean="0"/>
              <a:t>We shall cover the following keywords in this class:</a:t>
            </a:r>
          </a:p>
          <a:p>
            <a:pPr>
              <a:buFont typeface="Monotype Sorts" pitchFamily="2" charset="2"/>
              <a:buNone/>
            </a:pPr>
            <a:r>
              <a:rPr lang="en-US" sz="1800" dirty="0" smtClean="0">
                <a:solidFill>
                  <a:srgbClr val="3366CC"/>
                </a:solidFill>
              </a:rPr>
              <a:t>      </a:t>
            </a:r>
            <a:r>
              <a:rPr lang="en-US" sz="2400" b="1" dirty="0" err="1" smtClean="0">
                <a:solidFill>
                  <a:srgbClr val="3366CC"/>
                </a:solidFill>
                <a:latin typeface="Courier New" pitchFamily="49" charset="0"/>
              </a:rPr>
              <a:t>bool</a:t>
            </a:r>
            <a:r>
              <a:rPr lang="en-US" sz="2400" b="1" dirty="0" smtClean="0">
                <a:solidFill>
                  <a:srgbClr val="3366CC"/>
                </a:solidFill>
                <a:latin typeface="Courier New" pitchFamily="49" charset="0"/>
              </a:rPr>
              <a:t>, break, case, char, </a:t>
            </a:r>
            <a:r>
              <a:rPr lang="en-US" sz="2400" b="1" dirty="0" err="1" smtClean="0">
                <a:solidFill>
                  <a:srgbClr val="3366CC"/>
                </a:solidFill>
                <a:latin typeface="Courier New" pitchFamily="49" charset="0"/>
              </a:rPr>
              <a:t>const</a:t>
            </a:r>
            <a:r>
              <a:rPr lang="en-US" sz="2400" b="1" dirty="0" smtClean="0">
                <a:solidFill>
                  <a:srgbClr val="3366CC"/>
                </a:solidFill>
                <a:latin typeface="Courier New" pitchFamily="49" charset="0"/>
              </a:rPr>
              <a:t>, continue, do, default, double, else, extern, false, float, for, if, </a:t>
            </a:r>
            <a:r>
              <a:rPr lang="en-US" sz="2400" b="1" dirty="0" err="1" smtClean="0">
                <a:solidFill>
                  <a:srgbClr val="3366CC"/>
                </a:solidFill>
                <a:latin typeface="Courier New" pitchFamily="49" charset="0"/>
              </a:rPr>
              <a:t>int</a:t>
            </a:r>
            <a:r>
              <a:rPr lang="en-US" sz="2400" b="1" dirty="0" smtClean="0">
                <a:solidFill>
                  <a:srgbClr val="3366CC"/>
                </a:solidFill>
                <a:latin typeface="Courier New" pitchFamily="49" charset="0"/>
              </a:rPr>
              <a:t>, long, namespace, return, short, static, </a:t>
            </a:r>
            <a:r>
              <a:rPr lang="en-US" sz="2400" b="1" dirty="0" err="1" smtClean="0">
                <a:solidFill>
                  <a:srgbClr val="3366CC"/>
                </a:solidFill>
                <a:latin typeface="Courier New" pitchFamily="49" charset="0"/>
              </a:rPr>
              <a:t>struct</a:t>
            </a:r>
            <a:r>
              <a:rPr lang="en-US" sz="2400" b="1" dirty="0" smtClean="0">
                <a:solidFill>
                  <a:srgbClr val="3366CC"/>
                </a:solidFill>
                <a:latin typeface="Courier New" pitchFamily="49" charset="0"/>
              </a:rPr>
              <a:t>, switch, </a:t>
            </a:r>
            <a:r>
              <a:rPr lang="en-US" sz="2400" b="1" dirty="0" err="1" smtClean="0">
                <a:solidFill>
                  <a:srgbClr val="3366CC"/>
                </a:solidFill>
                <a:latin typeface="Courier New" pitchFamily="49" charset="0"/>
              </a:rPr>
              <a:t>typedef</a:t>
            </a:r>
            <a:r>
              <a:rPr lang="en-US" sz="2400" b="1" dirty="0" smtClean="0">
                <a:solidFill>
                  <a:srgbClr val="3366CC"/>
                </a:solidFill>
                <a:latin typeface="Courier New" pitchFamily="49" charset="0"/>
              </a:rPr>
              <a:t>, true, unsigned, void, while</a:t>
            </a:r>
          </a:p>
        </p:txBody>
      </p:sp>
      <p:pic>
        <p:nvPicPr>
          <p:cNvPr id="6" name="~PP3858.WAV">
            <a:hlinkClick r:id="" action="ppaction://media"/>
          </p:cNvPr>
          <p:cNvPicPr>
            <a:picLocks noRot="1" noChangeAspect="1"/>
          </p:cNvPicPr>
          <p:nvPr>
            <a:wavAudioFile r:embed="rId2" name="~PP3858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1777630"/>
      </p:ext>
    </p:extLst>
  </p:cSld>
  <p:clrMapOvr>
    <a:masterClrMapping/>
  </p:clrMapOvr>
  <p:transition spd="med" advTm="407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3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717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Structure of a C++ Program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C++ program is a collection of definitions and declarations:</a:t>
            </a:r>
          </a:p>
          <a:p>
            <a:pPr lvl="1" eaLnBrk="1" hangingPunct="1"/>
            <a:r>
              <a:rPr lang="en-US" dirty="0" smtClean="0"/>
              <a:t>data type definitions</a:t>
            </a:r>
          </a:p>
          <a:p>
            <a:pPr lvl="1" eaLnBrk="1" hangingPunct="1"/>
            <a:r>
              <a:rPr lang="en-US" dirty="0" smtClean="0"/>
              <a:t>global data declarations</a:t>
            </a:r>
          </a:p>
          <a:p>
            <a:pPr lvl="1" eaLnBrk="1" hangingPunct="1"/>
            <a:r>
              <a:rPr lang="en-US" dirty="0" smtClean="0"/>
              <a:t>function definitions (subroutines)</a:t>
            </a:r>
          </a:p>
          <a:p>
            <a:pPr lvl="1" eaLnBrk="1" hangingPunct="1"/>
            <a:r>
              <a:rPr lang="en-US" dirty="0" smtClean="0"/>
              <a:t>class definitions</a:t>
            </a:r>
          </a:p>
          <a:p>
            <a:pPr lvl="1" eaLnBrk="1" hangingPunct="1"/>
            <a:r>
              <a:rPr lang="en-US" dirty="0" smtClean="0"/>
              <a:t>a special function called  </a:t>
            </a:r>
            <a:r>
              <a:rPr lang="en-US" b="1" dirty="0" smtClean="0">
                <a:latin typeface="Courier New" pitchFamily="49" charset="0"/>
              </a:rPr>
              <a:t>main()    </a:t>
            </a:r>
            <a:r>
              <a:rPr lang="en-US" dirty="0" smtClean="0"/>
              <a:t>(where the action starts).</a:t>
            </a:r>
          </a:p>
        </p:txBody>
      </p:sp>
      <p:pic>
        <p:nvPicPr>
          <p:cNvPr id="6" name="~PP2097.WAV">
            <a:hlinkClick r:id="" action="ppaction://media"/>
          </p:cNvPr>
          <p:cNvPicPr>
            <a:picLocks noRot="1" noChangeAspect="1"/>
          </p:cNvPicPr>
          <p:nvPr>
            <a:wavAudioFile r:embed="rId1" name="~PP2097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86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62000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General form of a C++ program</a:t>
            </a:r>
            <a:r>
              <a:rPr lang="en-US" sz="3200" dirty="0" smtClean="0"/>
              <a:t>  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50292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800" b="1" dirty="0" smtClean="0">
                <a:solidFill>
                  <a:srgbClr val="339966"/>
                </a:solidFill>
                <a:latin typeface="Courier New" pitchFamily="49" charset="0"/>
              </a:rPr>
              <a:t>// Program description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solidFill>
                  <a:srgbClr val="A2C1FE"/>
                </a:solidFill>
                <a:latin typeface="Courier New" pitchFamily="49" charset="0"/>
              </a:rPr>
              <a:t>#include</a:t>
            </a:r>
            <a:r>
              <a:rPr lang="en-US" sz="2800" b="1" dirty="0" smtClean="0">
                <a:latin typeface="Courier New" pitchFamily="49" charset="0"/>
              </a:rPr>
              <a:t> directives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err="1" smtClean="0">
                <a:solidFill>
                  <a:srgbClr val="A2C1FE"/>
                </a:solidFill>
                <a:latin typeface="Courier New" pitchFamily="49" charset="0"/>
              </a:rPr>
              <a:t>int</a:t>
            </a:r>
            <a:r>
              <a:rPr lang="en-US" sz="2800" b="1" dirty="0" smtClean="0">
                <a:latin typeface="Courier New" pitchFamily="49" charset="0"/>
              </a:rPr>
              <a:t> main()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     constant declarations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     variable declarations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     executable statements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     </a:t>
            </a:r>
            <a:r>
              <a:rPr lang="en-US" sz="2800" b="1" dirty="0" smtClean="0">
                <a:solidFill>
                  <a:srgbClr val="A2C1FE"/>
                </a:solidFill>
                <a:latin typeface="Courier New" pitchFamily="49" charset="0"/>
              </a:rPr>
              <a:t>return</a:t>
            </a:r>
            <a:r>
              <a:rPr lang="en-US" sz="2800" b="1" dirty="0" smtClean="0">
                <a:latin typeface="Courier New" pitchFamily="49" charset="0"/>
              </a:rPr>
              <a:t> 0;</a:t>
            </a:r>
          </a:p>
          <a:p>
            <a:pPr>
              <a:buFont typeface="Monotype Sorts" pitchFamily="2" charset="2"/>
              <a:buNone/>
            </a:pPr>
            <a:r>
              <a:rPr lang="en-US" sz="2800" b="1" dirty="0" smtClean="0">
                <a:latin typeface="Courier New" pitchFamily="49" charset="0"/>
              </a:rPr>
              <a:t>}</a:t>
            </a:r>
          </a:p>
        </p:txBody>
      </p:sp>
      <p:pic>
        <p:nvPicPr>
          <p:cNvPr id="6" name="~PP1311.WAV">
            <a:hlinkClick r:id="" action="ppaction://media"/>
          </p:cNvPr>
          <p:cNvPicPr>
            <a:picLocks noRot="1" noChangeAspect="1"/>
          </p:cNvPicPr>
          <p:nvPr>
            <a:wavAudioFile r:embed="rId2" name="~PP1311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8998479"/>
      </p:ext>
    </p:extLst>
  </p:cSld>
  <p:clrMapOvr>
    <a:masterClrMapping/>
  </p:clrMapOvr>
  <p:transition advTm="3602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6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6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848600" cy="1066800"/>
          </a:xfrm>
        </p:spPr>
        <p:txBody>
          <a:bodyPr/>
          <a:lstStyle/>
          <a:p>
            <a:r>
              <a:rPr lang="en-US" smtClean="0"/>
              <a:t>C++ compiler directives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038600"/>
          </a:xfrm>
        </p:spPr>
        <p:txBody>
          <a:bodyPr/>
          <a:lstStyle/>
          <a:p>
            <a:endParaRPr lang="en-US" sz="1600" dirty="0" smtClean="0"/>
          </a:p>
          <a:p>
            <a:r>
              <a:rPr lang="en-US" sz="2400" dirty="0" smtClean="0"/>
              <a:t>Compiler directives appear in blue in Visual C++. </a:t>
            </a:r>
          </a:p>
          <a:p>
            <a:r>
              <a:rPr lang="en-US" sz="2400" dirty="0" smtClean="0"/>
              <a:t>The  </a:t>
            </a:r>
            <a:r>
              <a:rPr lang="en-US" sz="2400" b="1" dirty="0" smtClean="0">
                <a:solidFill>
                  <a:srgbClr val="A2C1FE"/>
                </a:solidFill>
                <a:latin typeface="Courier New" pitchFamily="49" charset="0"/>
              </a:rPr>
              <a:t>#include</a:t>
            </a:r>
            <a:r>
              <a:rPr lang="en-US" sz="2400" dirty="0" smtClean="0">
                <a:solidFill>
                  <a:schemeClr val="accent2"/>
                </a:solidFill>
              </a:rPr>
              <a:t> </a:t>
            </a:r>
            <a:r>
              <a:rPr lang="en-US" sz="2400" dirty="0" smtClean="0"/>
              <a:t>directive tells the compiler to include some already existing C++ code in your program.</a:t>
            </a:r>
          </a:p>
          <a:p>
            <a:r>
              <a:rPr lang="en-US" sz="2400" dirty="0" smtClean="0"/>
              <a:t>The included file is then linked with the program. </a:t>
            </a:r>
          </a:p>
          <a:p>
            <a:r>
              <a:rPr lang="en-US" sz="2400" dirty="0" smtClean="0"/>
              <a:t>There are two forms of </a:t>
            </a:r>
            <a:r>
              <a:rPr lang="en-US" sz="2400" b="1" dirty="0" smtClean="0">
                <a:solidFill>
                  <a:srgbClr val="A2C1FE"/>
                </a:solidFill>
                <a:latin typeface="Courier New" pitchFamily="49" charset="0"/>
              </a:rPr>
              <a:t>#include</a:t>
            </a:r>
            <a:r>
              <a:rPr lang="en-US" sz="2400" dirty="0" smtClean="0"/>
              <a:t> statements: </a:t>
            </a:r>
          </a:p>
          <a:p>
            <a:pPr>
              <a:buFont typeface="Monotype Sorts" pitchFamily="2" charset="2"/>
              <a:buNone/>
            </a:pPr>
            <a:r>
              <a:rPr lang="en-US" sz="2400" b="1" dirty="0" smtClean="0">
                <a:solidFill>
                  <a:schemeClr val="accent2"/>
                </a:solidFill>
                <a:latin typeface="Courier New" pitchFamily="49" charset="0"/>
              </a:rPr>
              <a:t>   </a:t>
            </a:r>
            <a:r>
              <a:rPr lang="en-US" sz="2400" b="1" dirty="0" smtClean="0">
                <a:solidFill>
                  <a:srgbClr val="A2C1FE"/>
                </a:solidFill>
                <a:latin typeface="Courier New" pitchFamily="49" charset="0"/>
              </a:rPr>
              <a:t>#include</a:t>
            </a:r>
            <a:r>
              <a:rPr lang="en-US" sz="2400" b="1" dirty="0" smtClean="0">
                <a:latin typeface="Courier New" pitchFamily="49" charset="0"/>
              </a:rPr>
              <a:t> &lt;</a:t>
            </a:r>
            <a:r>
              <a:rPr lang="en-US" sz="2400" b="1" dirty="0" err="1" smtClean="0">
                <a:latin typeface="Courier New" pitchFamily="49" charset="0"/>
              </a:rPr>
              <a:t>iostream</a:t>
            </a:r>
            <a:r>
              <a:rPr lang="en-US" sz="2400" b="1" dirty="0" smtClean="0">
                <a:latin typeface="Courier New" pitchFamily="49" charset="0"/>
              </a:rPr>
              <a:t>&gt; </a:t>
            </a: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//for pre-defined files</a:t>
            </a:r>
            <a:r>
              <a:rPr lang="en-US" sz="2400" b="1" dirty="0" smtClean="0">
                <a:latin typeface="Courier New" pitchFamily="49" charset="0"/>
              </a:rPr>
              <a:t> </a:t>
            </a:r>
            <a:br>
              <a:rPr lang="en-US" sz="2400" b="1" dirty="0" smtClean="0">
                <a:latin typeface="Courier New" pitchFamily="49" charset="0"/>
              </a:rPr>
            </a:br>
            <a:r>
              <a:rPr lang="en-US" sz="2400" b="1" dirty="0" smtClean="0">
                <a:latin typeface="Courier New" pitchFamily="49" charset="0"/>
              </a:rPr>
              <a:t/>
            </a:r>
            <a:br>
              <a:rPr lang="en-US" sz="2400" b="1" dirty="0" smtClean="0">
                <a:latin typeface="Courier New" pitchFamily="49" charset="0"/>
              </a:rPr>
            </a:br>
            <a:endParaRPr lang="en-US" sz="2400" b="1" dirty="0" smtClean="0">
              <a:solidFill>
                <a:srgbClr val="339966"/>
              </a:solidFill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1400" b="1" dirty="0" smtClean="0">
                <a:latin typeface="Courier New" pitchFamily="49" charset="0"/>
              </a:rPr>
              <a:t> </a:t>
            </a:r>
          </a:p>
        </p:txBody>
      </p:sp>
      <p:pic>
        <p:nvPicPr>
          <p:cNvPr id="6" name="~PP2400.WAV">
            <a:hlinkClick r:id="" action="ppaction://media"/>
          </p:cNvPr>
          <p:cNvPicPr>
            <a:picLocks noRot="1" noChangeAspect="1"/>
          </p:cNvPicPr>
          <p:nvPr>
            <a:wavAudioFile r:embed="rId2" name="~PP2400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91942301"/>
      </p:ext>
    </p:extLst>
  </p:cSld>
  <p:clrMapOvr>
    <a:masterClrMapping/>
  </p:clrMapOvr>
  <p:transition advTm="379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43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143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C++ Preprocessor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C++ Compilers automatically invoke a </a:t>
            </a:r>
            <a:r>
              <a:rPr lang="en-US" i="1" dirty="0" smtClean="0"/>
              <a:t>preprocessor</a:t>
            </a:r>
            <a:r>
              <a:rPr lang="en-US" dirty="0" smtClean="0"/>
              <a:t> that takes care of #include statements and some other special directives.</a:t>
            </a:r>
          </a:p>
          <a:p>
            <a:r>
              <a:rPr lang="en-US" dirty="0"/>
              <a:t>Definitions that allow your program to use the functions and classes that make up the standard C++ library are in these files</a:t>
            </a:r>
            <a:r>
              <a:rPr lang="en-US" dirty="0" smtClean="0"/>
              <a:t>.</a:t>
            </a:r>
          </a:p>
          <a:p>
            <a:pPr eaLnBrk="1" hangingPunct="1"/>
            <a:r>
              <a:rPr lang="en-US" dirty="0" smtClean="0"/>
              <a:t>You don't need to do anything special to run the preprocessor - it happens automatically.</a:t>
            </a:r>
          </a:p>
        </p:txBody>
      </p:sp>
      <p:pic>
        <p:nvPicPr>
          <p:cNvPr id="6" name="~PP3916.WAV">
            <a:hlinkClick r:id="" action="ppaction://media"/>
          </p:cNvPr>
          <p:cNvPicPr>
            <a:picLocks noRot="1" noChangeAspect="1"/>
          </p:cNvPicPr>
          <p:nvPr>
            <a:wavAudioFile r:embed="rId1" name="~PP3916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4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Some common include statements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n-US" dirty="0" smtClean="0"/>
              <a:t>Basic I/O: </a:t>
            </a:r>
            <a:r>
              <a:rPr lang="en-US" dirty="0" err="1" smtClean="0">
                <a:latin typeface="Courier New" pitchFamily="49" charset="0"/>
              </a:rPr>
              <a:t>iostream.h</a:t>
            </a:r>
            <a:endParaRPr lang="en-US" dirty="0" smtClean="0"/>
          </a:p>
          <a:p>
            <a:pPr eaLnBrk="1" hangingPunct="1">
              <a:lnSpc>
                <a:spcPct val="160000"/>
              </a:lnSpc>
            </a:pPr>
            <a:r>
              <a:rPr lang="en-US" dirty="0" smtClean="0"/>
              <a:t>I/O manipulation: </a:t>
            </a:r>
            <a:r>
              <a:rPr lang="en-US" dirty="0" err="1" smtClean="0">
                <a:latin typeface="Courier New" pitchFamily="49" charset="0"/>
              </a:rPr>
              <a:t>iomanip.h</a:t>
            </a:r>
            <a:endParaRPr lang="en-US" dirty="0" smtClean="0"/>
          </a:p>
          <a:p>
            <a:pPr eaLnBrk="1" hangingPunct="1">
              <a:lnSpc>
                <a:spcPct val="160000"/>
              </a:lnSpc>
            </a:pPr>
            <a:r>
              <a:rPr lang="en-US" dirty="0" smtClean="0"/>
              <a:t>Standard Library: </a:t>
            </a:r>
            <a:r>
              <a:rPr lang="en-US" dirty="0" err="1" smtClean="0">
                <a:latin typeface="Courier New" pitchFamily="49" charset="0"/>
              </a:rPr>
              <a:t>stdlib.h</a:t>
            </a:r>
            <a:endParaRPr lang="en-US" dirty="0" smtClean="0"/>
          </a:p>
          <a:p>
            <a:pPr eaLnBrk="1" hangingPunct="1">
              <a:lnSpc>
                <a:spcPct val="160000"/>
              </a:lnSpc>
            </a:pPr>
            <a:r>
              <a:rPr lang="en-US" dirty="0" smtClean="0"/>
              <a:t>Time and Date support: </a:t>
            </a:r>
            <a:r>
              <a:rPr lang="en-US" dirty="0" err="1" smtClean="0">
                <a:latin typeface="Courier New" pitchFamily="49" charset="0"/>
              </a:rPr>
              <a:t>time.h</a:t>
            </a:r>
            <a:endParaRPr lang="en-US" dirty="0" smtClean="0">
              <a:latin typeface="Courier New" pitchFamily="49" charset="0"/>
            </a:endParaRPr>
          </a:p>
          <a:p>
            <a:pPr eaLnBrk="1" hangingPunct="1">
              <a:lnSpc>
                <a:spcPct val="160000"/>
              </a:lnSpc>
            </a:pPr>
            <a:r>
              <a:rPr lang="en-US" dirty="0" smtClean="0"/>
              <a:t>Mathematics support: </a:t>
            </a:r>
            <a:r>
              <a:rPr lang="en-US" dirty="0" err="1" smtClean="0">
                <a:latin typeface="Courier New" pitchFamily="49" charset="0"/>
              </a:rPr>
              <a:t>math.h</a:t>
            </a:r>
            <a:endParaRPr lang="en-US" dirty="0" smtClean="0">
              <a:latin typeface="Courier New" pitchFamily="49" charset="0"/>
            </a:endParaRPr>
          </a:p>
          <a:p>
            <a:pPr eaLnBrk="1" hangingPunct="1">
              <a:lnSpc>
                <a:spcPct val="160000"/>
              </a:lnSpc>
              <a:buFontTx/>
              <a:buNone/>
            </a:pPr>
            <a:endParaRPr lang="en-US" dirty="0" smtClean="0">
              <a:latin typeface="Courier New" pitchFamily="49" charset="0"/>
            </a:endParaRPr>
          </a:p>
        </p:txBody>
      </p:sp>
      <p:pic>
        <p:nvPicPr>
          <p:cNvPr id="6" name="~PP3050.WAV">
            <a:hlinkClick r:id="" action="ppaction://media"/>
          </p:cNvPr>
          <p:cNvPicPr>
            <a:picLocks noRot="1" noChangeAspect="1"/>
          </p:cNvPicPr>
          <p:nvPr>
            <a:wavAudioFile r:embed="rId1" name="~PP3050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13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dirty="0" smtClean="0"/>
              <a:t>Basics of a Typical C++ Program Environment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93837"/>
            <a:ext cx="8229600" cy="4525963"/>
          </a:xfrm>
        </p:spPr>
        <p:txBody>
          <a:bodyPr/>
          <a:lstStyle/>
          <a:p>
            <a:pPr eaLnBrk="1" hangingPunct="1"/>
            <a:r>
              <a:rPr lang="en-US" sz="2400" dirty="0" smtClean="0"/>
              <a:t>Common Input/output functions</a:t>
            </a:r>
          </a:p>
          <a:p>
            <a:pPr lvl="1" eaLnBrk="1" hangingPunct="1"/>
            <a:r>
              <a:rPr lang="en-US" sz="2400" b="1" dirty="0" err="1" smtClean="0">
                <a:solidFill>
                  <a:srgbClr val="009999"/>
                </a:solidFill>
                <a:latin typeface="Courier New" pitchFamily="49" charset="0"/>
              </a:rPr>
              <a:t>cin</a:t>
            </a:r>
            <a:endParaRPr lang="en-US" sz="2400" b="1" dirty="0" smtClean="0">
              <a:solidFill>
                <a:srgbClr val="009999"/>
              </a:solidFill>
              <a:latin typeface="Courier New" pitchFamily="49" charset="0"/>
            </a:endParaRPr>
          </a:p>
          <a:p>
            <a:pPr lvl="2" eaLnBrk="1" hangingPunct="1"/>
            <a:r>
              <a:rPr lang="en-US" sz="2000" dirty="0" smtClean="0"/>
              <a:t>Standard input stream</a:t>
            </a:r>
          </a:p>
          <a:p>
            <a:pPr lvl="2" eaLnBrk="1" hangingPunct="1"/>
            <a:r>
              <a:rPr lang="en-US" sz="2000" dirty="0" smtClean="0"/>
              <a:t>Normally keyboard</a:t>
            </a:r>
          </a:p>
          <a:p>
            <a:pPr lvl="1" eaLnBrk="1" hangingPunct="1"/>
            <a:r>
              <a:rPr lang="en-US" sz="2500" b="1" dirty="0" err="1" smtClean="0">
                <a:solidFill>
                  <a:srgbClr val="009999"/>
                </a:solidFill>
                <a:latin typeface="Courier New" pitchFamily="49" charset="0"/>
              </a:rPr>
              <a:t>cout</a:t>
            </a:r>
            <a:endParaRPr lang="en-US" sz="2500" b="1" dirty="0" smtClean="0">
              <a:solidFill>
                <a:srgbClr val="009999"/>
              </a:solidFill>
              <a:latin typeface="Courier New" pitchFamily="49" charset="0"/>
            </a:endParaRPr>
          </a:p>
          <a:p>
            <a:pPr lvl="2" eaLnBrk="1" hangingPunct="1"/>
            <a:r>
              <a:rPr lang="en-US" sz="2000" dirty="0" smtClean="0"/>
              <a:t>Standard output stream</a:t>
            </a:r>
          </a:p>
          <a:p>
            <a:pPr lvl="2" eaLnBrk="1" hangingPunct="1"/>
            <a:r>
              <a:rPr lang="en-US" sz="2000" dirty="0" smtClean="0"/>
              <a:t>Normally computer screen</a:t>
            </a:r>
          </a:p>
        </p:txBody>
      </p:sp>
      <p:pic>
        <p:nvPicPr>
          <p:cNvPr id="6" name="~PP2195.WAV">
            <a:hlinkClick r:id="" action="ppaction://media"/>
          </p:cNvPr>
          <p:cNvPicPr>
            <a:picLocks noRot="1" noChangeAspect="1"/>
          </p:cNvPicPr>
          <p:nvPr>
            <a:wavAudioFile r:embed="rId1" name="~PP2195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93265"/>
      </p:ext>
    </p:extLst>
  </p:cSld>
  <p:clrMapOvr>
    <a:masterClrMapping/>
  </p:clrMapOvr>
  <p:transition advTm="1954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86800" cy="667512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A Simple Program: Printing a Line of Text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>
              <a:buFontTx/>
              <a:buNone/>
            </a:pPr>
            <a:endParaRPr lang="en-US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255387"/>
              </p:ext>
            </p:extLst>
          </p:nvPr>
        </p:nvGraphicFramePr>
        <p:xfrm>
          <a:off x="531813" y="1447800"/>
          <a:ext cx="8091487" cy="540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r:id="rId6" imgW="5939820" imgH="3971950" progId="Word.Document.8">
                  <p:embed/>
                </p:oleObj>
              </mc:Choice>
              <mc:Fallback>
                <p:oleObj name="Document" r:id="rId6" imgW="5939820" imgH="397195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3" y="1447800"/>
                        <a:ext cx="8091487" cy="540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~PP4043.WAV">
            <a:hlinkClick r:id="" action="ppaction://media"/>
          </p:cNvPr>
          <p:cNvPicPr>
            <a:picLocks noRot="1" noChangeAspect="1"/>
          </p:cNvPicPr>
          <p:nvPr>
            <a:wavAudioFile r:embed="rId2" name="~PP4043.WAV"/>
          </p:nvPr>
        </p:nvPicPr>
        <p:blipFill>
          <a:blip r:embed="rId8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226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838200"/>
          </a:xfrm>
        </p:spPr>
        <p:txBody>
          <a:bodyPr/>
          <a:lstStyle/>
          <a:p>
            <a:r>
              <a:rPr lang="en-US" smtClean="0"/>
              <a:t>C++ comments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400" dirty="0" smtClean="0"/>
              <a:t>Comments appear in green in Visual C++.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Comments are explanatory notes; they are ignored by the compiler.</a:t>
            </a:r>
          </a:p>
          <a:p>
            <a:pPr>
              <a:lnSpc>
                <a:spcPct val="90000"/>
              </a:lnSpc>
            </a:pPr>
            <a:r>
              <a:rPr lang="en-US" sz="2400" dirty="0" smtClean="0"/>
              <a:t>There are two ways to include comments in a program: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sz="2400" dirty="0" smtClean="0"/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 dirty="0" smtClean="0">
                <a:solidFill>
                  <a:srgbClr val="669900"/>
                </a:solidFill>
                <a:latin typeface="Courier New" pitchFamily="49" charset="0"/>
              </a:rPr>
              <a:t>	</a:t>
            </a: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//</a:t>
            </a:r>
            <a:r>
              <a:rPr lang="en-US" sz="2400" dirty="0" smtClean="0">
                <a:solidFill>
                  <a:srgbClr val="00FF99"/>
                </a:solidFill>
                <a:latin typeface="Courier New" pitchFamily="49" charset="0"/>
              </a:rPr>
              <a:t> A double slash marks the start of a </a:t>
            </a: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//single line </a:t>
            </a:r>
            <a:r>
              <a:rPr lang="en-US" sz="2400" dirty="0" smtClean="0">
                <a:solidFill>
                  <a:srgbClr val="00FF99"/>
                </a:solidFill>
                <a:latin typeface="Courier New" pitchFamily="49" charset="0"/>
              </a:rPr>
              <a:t>comment.  </a:t>
            </a: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endParaRPr lang="en-US" sz="2400" b="1" dirty="0" smtClean="0">
              <a:solidFill>
                <a:srgbClr val="00FF99"/>
              </a:solidFill>
              <a:latin typeface="Courier New" pitchFamily="49" charset="0"/>
            </a:endParaRPr>
          </a:p>
          <a:p>
            <a:pPr lvl="1">
              <a:lnSpc>
                <a:spcPct val="90000"/>
              </a:lnSpc>
              <a:buFont typeface="Monotype Sorts" pitchFamily="2" charset="2"/>
              <a:buNone/>
            </a:pP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	/* </a:t>
            </a:r>
            <a:r>
              <a:rPr lang="en-US" sz="2400" dirty="0" smtClean="0">
                <a:solidFill>
                  <a:srgbClr val="00FF99"/>
                </a:solidFill>
                <a:latin typeface="Courier New" pitchFamily="49" charset="0"/>
              </a:rPr>
              <a:t>A slash followed by an asterisk marks the start of </a:t>
            </a: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a multiple line comment</a:t>
            </a:r>
            <a:r>
              <a:rPr lang="en-US" sz="2400" dirty="0" smtClean="0">
                <a:solidFill>
                  <a:srgbClr val="00FF99"/>
                </a:solidFill>
                <a:latin typeface="Courier New" pitchFamily="49" charset="0"/>
              </a:rPr>
              <a:t>. It ends with an asterisk followed by a slash. </a:t>
            </a:r>
            <a:r>
              <a:rPr lang="en-US" sz="2400" b="1" dirty="0" smtClean="0">
                <a:solidFill>
                  <a:srgbClr val="00FF99"/>
                </a:solidFill>
                <a:latin typeface="Courier New" pitchFamily="49" charset="0"/>
              </a:rPr>
              <a:t>*/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sz="1400" b="1" dirty="0" smtClean="0">
                <a:solidFill>
                  <a:srgbClr val="00CC99"/>
                </a:solidFill>
                <a:latin typeface="Courier New" pitchFamily="49" charset="0"/>
              </a:rPr>
              <a:t> </a:t>
            </a:r>
          </a:p>
        </p:txBody>
      </p:sp>
      <p:pic>
        <p:nvPicPr>
          <p:cNvPr id="5" name="~PP2215.WAV">
            <a:hlinkClick r:id="" action="ppaction://media"/>
          </p:cNvPr>
          <p:cNvPicPr>
            <a:picLocks noRot="1" noChangeAspect="1"/>
          </p:cNvPicPr>
          <p:nvPr>
            <a:wavAudioFile r:embed="rId2" name="~PP2215.WAV"/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5369408"/>
      </p:ext>
    </p:extLst>
  </p:cSld>
  <p:clrMapOvr>
    <a:masterClrMapping/>
  </p:clrMapOvr>
  <p:transition advTm="267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3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1331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772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Hello World++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// Hello World program</a:t>
            </a:r>
          </a:p>
          <a:p>
            <a:pPr eaLnBrk="1" hangingPunct="1">
              <a:buFontTx/>
              <a:buNone/>
            </a:pPr>
            <a:endParaRPr lang="en-US" sz="2400" b="1" dirty="0" smtClean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#include &lt;</a:t>
            </a:r>
            <a:r>
              <a:rPr lang="en-US" sz="2400" b="1" dirty="0" err="1" smtClean="0">
                <a:latin typeface="Courier New" pitchFamily="49" charset="0"/>
              </a:rPr>
              <a:t>iostream</a:t>
            </a:r>
            <a:r>
              <a:rPr lang="en-US" sz="2400" b="1" dirty="0" smtClean="0">
                <a:latin typeface="Courier New" pitchFamily="49" charset="0"/>
              </a:rPr>
              <a:t>&gt;</a:t>
            </a: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Using namespace std;</a:t>
            </a:r>
          </a:p>
          <a:p>
            <a:pPr eaLnBrk="1" hangingPunct="1">
              <a:buFontTx/>
              <a:buNone/>
            </a:pPr>
            <a:endParaRPr lang="en-US" sz="2400" b="1" dirty="0" smtClean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2400" b="1" dirty="0" err="1" smtClean="0">
                <a:latin typeface="Courier New" pitchFamily="49" charset="0"/>
              </a:rPr>
              <a:t>int</a:t>
            </a:r>
            <a:r>
              <a:rPr lang="en-US" sz="2400" b="1" dirty="0" smtClean="0">
                <a:latin typeface="Courier New" pitchFamily="49" charset="0"/>
              </a:rPr>
              <a:t> main() {</a:t>
            </a:r>
          </a:p>
          <a:p>
            <a:pPr eaLnBrk="1" hangingPunct="1">
              <a:buFontTx/>
              <a:buNone/>
            </a:pPr>
            <a:endParaRPr lang="en-US" sz="2400" b="1" dirty="0" smtClean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	</a:t>
            </a:r>
            <a:r>
              <a:rPr lang="en-US" sz="2400" b="1" dirty="0" err="1" smtClean="0">
                <a:latin typeface="Courier New" pitchFamily="49" charset="0"/>
              </a:rPr>
              <a:t>cout</a:t>
            </a:r>
            <a:r>
              <a:rPr lang="en-US" sz="2400" b="1" dirty="0" smtClean="0">
                <a:latin typeface="Courier New" pitchFamily="49" charset="0"/>
              </a:rPr>
              <a:t> &lt;&lt; "Hello World\n";</a:t>
            </a:r>
          </a:p>
          <a:p>
            <a:pPr eaLnBrk="1" hangingPunct="1">
              <a:buFontTx/>
              <a:buNone/>
            </a:pPr>
            <a:endParaRPr lang="en-US" sz="2400" b="1" dirty="0" smtClean="0">
              <a:latin typeface="Courier New" pitchFamily="49" charset="0"/>
            </a:endParaRP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	return 0;</a:t>
            </a:r>
          </a:p>
          <a:p>
            <a:pPr eaLnBrk="1" hangingPunct="1">
              <a:buFontTx/>
              <a:buNone/>
            </a:pPr>
            <a:r>
              <a:rPr lang="en-US" sz="2400" b="1" dirty="0" smtClean="0">
                <a:latin typeface="Courier New" pitchFamily="49" charset="0"/>
              </a:rPr>
              <a:t>}</a:t>
            </a:r>
            <a:endParaRPr lang="en-US" dirty="0" smtClean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172200" y="1143000"/>
            <a:ext cx="2378075" cy="457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US" sz="2400" b="1" i="1" dirty="0">
                <a:solidFill>
                  <a:schemeClr val="bg2"/>
                </a:solidFill>
                <a:latin typeface="Helvetica" pitchFamily="34" charset="0"/>
              </a:rPr>
              <a:t>comment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 flipH="1">
            <a:off x="5029200" y="1371600"/>
            <a:ext cx="1066800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096000" y="1981200"/>
            <a:ext cx="30480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US" sz="2000" b="1" i="1" dirty="0">
                <a:solidFill>
                  <a:schemeClr val="bg2"/>
                </a:solidFill>
                <a:latin typeface="Helvetica" pitchFamily="34" charset="0"/>
              </a:rPr>
              <a:t>Allows access to an I/O library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 flipH="1" flipV="1">
            <a:off x="4724400" y="2286000"/>
            <a:ext cx="1371600" cy="762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6765925" y="3810000"/>
            <a:ext cx="2378075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US" sz="2000" b="1" i="1" dirty="0">
                <a:solidFill>
                  <a:schemeClr val="bg2"/>
                </a:solidFill>
                <a:latin typeface="Helvetica" pitchFamily="34" charset="0"/>
              </a:rPr>
              <a:t>output (print) a string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 flipV="1">
            <a:off x="5410200" y="3886200"/>
            <a:ext cx="1279525" cy="1524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5105400" y="5029200"/>
            <a:ext cx="34290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/>
            <a:r>
              <a:rPr lang="en-US" sz="2000" b="1" i="1" dirty="0">
                <a:solidFill>
                  <a:schemeClr val="bg2"/>
                </a:solidFill>
                <a:latin typeface="Helvetica" pitchFamily="34" charset="0"/>
              </a:rPr>
              <a:t>Program returns a status code (0 means OK)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 flipH="1" flipV="1">
            <a:off x="2819400" y="4953000"/>
            <a:ext cx="2133600" cy="5334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4572000" y="2895600"/>
            <a:ext cx="42672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en-US" sz="2000" b="1" i="1" dirty="0">
                <a:solidFill>
                  <a:schemeClr val="bg2"/>
                </a:solidFill>
                <a:latin typeface="Helvetica" pitchFamily="34" charset="0"/>
              </a:rPr>
              <a:t>Starts definition of special function main()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H="1" flipV="1">
            <a:off x="2971800" y="3124200"/>
            <a:ext cx="1524000" cy="762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16" name="~PP1983.WAV">
            <a:hlinkClick r:id="" action="ppaction://media"/>
          </p:cNvPr>
          <p:cNvPicPr>
            <a:picLocks noRot="1" noChangeAspect="1"/>
          </p:cNvPicPr>
          <p:nvPr>
            <a:wavAudioFile r:embed="rId1" name="~PP1983.WAV"/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242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0.7|1.3|0.6|0.7|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|0.5|1.1|0.5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1|0.8|0.9|0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9|0.8|0.7|0.7|0.9|0.6|0.6|0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0.4|1.1|0.7|1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1|0.3|21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882</Words>
  <Application>Microsoft Office PowerPoint</Application>
  <PresentationFormat>On-screen Show (4:3)</PresentationFormat>
  <Paragraphs>178</Paragraphs>
  <Slides>20</Slides>
  <Notes>15</Notes>
  <HiddenSlides>0</HiddenSlides>
  <MMClips>20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Courier New</vt:lpstr>
      <vt:lpstr>Helvetica</vt:lpstr>
      <vt:lpstr>Monotype Sorts</vt:lpstr>
      <vt:lpstr>Times New Roman</vt:lpstr>
      <vt:lpstr>Wingdings</vt:lpstr>
      <vt:lpstr>Office Theme</vt:lpstr>
      <vt:lpstr>Document</vt:lpstr>
      <vt:lpstr>Intro to programming</vt:lpstr>
      <vt:lpstr>History of C and C++</vt:lpstr>
      <vt:lpstr>IDE</vt:lpstr>
      <vt:lpstr>Compiler</vt:lpstr>
      <vt:lpstr>Compilers</vt:lpstr>
      <vt:lpstr>Linkers and loader </vt:lpstr>
      <vt:lpstr>The Problem Analysis–Coding–Execution Cycle (cont’d.)</vt:lpstr>
      <vt:lpstr>Basics of a Typical C++ Environment</vt:lpstr>
      <vt:lpstr>Programming Style</vt:lpstr>
      <vt:lpstr>Programming Style (cont. )</vt:lpstr>
      <vt:lpstr>C++ keywords</vt:lpstr>
      <vt:lpstr>Structure of a C++ Program</vt:lpstr>
      <vt:lpstr>General form of a C++ program   </vt:lpstr>
      <vt:lpstr>C++ compiler directives</vt:lpstr>
      <vt:lpstr>C++ Preprocessor</vt:lpstr>
      <vt:lpstr>Some common include statements</vt:lpstr>
      <vt:lpstr>Basics of a Typical C++ Program Environment</vt:lpstr>
      <vt:lpstr>A Simple Program: Printing a Line of Text</vt:lpstr>
      <vt:lpstr>C++ comments</vt:lpstr>
      <vt:lpstr>Hello World++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programming</dc:title>
  <dc:creator>sadia tariq</dc:creator>
  <cp:lastModifiedBy>Microsoft account</cp:lastModifiedBy>
  <cp:revision>9</cp:revision>
  <dcterms:created xsi:type="dcterms:W3CDTF">2020-05-30T13:25:26Z</dcterms:created>
  <dcterms:modified xsi:type="dcterms:W3CDTF">2025-10-13T12:57:18Z</dcterms:modified>
</cp:coreProperties>
</file>