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notesMasterIdLst>
    <p:notesMasterId r:id="rId27"/>
  </p:notesMasterIdLst>
  <p:sldIdLst>
    <p:sldId id="298" r:id="rId2"/>
    <p:sldId id="256" r:id="rId3"/>
    <p:sldId id="257" r:id="rId4"/>
    <p:sldId id="259" r:id="rId5"/>
    <p:sldId id="262" r:id="rId6"/>
    <p:sldId id="263" r:id="rId7"/>
    <p:sldId id="264" r:id="rId8"/>
    <p:sldId id="269" r:id="rId9"/>
    <p:sldId id="270" r:id="rId10"/>
    <p:sldId id="271" r:id="rId11"/>
    <p:sldId id="272" r:id="rId12"/>
    <p:sldId id="276" r:id="rId13"/>
    <p:sldId id="273" r:id="rId14"/>
    <p:sldId id="274" r:id="rId15"/>
    <p:sldId id="279" r:id="rId16"/>
    <p:sldId id="285" r:id="rId17"/>
    <p:sldId id="286" r:id="rId18"/>
    <p:sldId id="284" r:id="rId19"/>
    <p:sldId id="287" r:id="rId20"/>
    <p:sldId id="288" r:id="rId21"/>
    <p:sldId id="291" r:id="rId22"/>
    <p:sldId id="292" r:id="rId23"/>
    <p:sldId id="293" r:id="rId24"/>
    <p:sldId id="295" r:id="rId25"/>
    <p:sldId id="297" r:id="rId26"/>
  </p:sldIdLst>
  <p:sldSz cx="9144000" cy="6858000" type="screen4x3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77"/>
  </p:normalViewPr>
  <p:slideViewPr>
    <p:cSldViewPr>
      <p:cViewPr varScale="1">
        <p:scale>
          <a:sx n="78" d="100"/>
          <a:sy n="78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EFB24-B5E3-44EF-912D-1D679A752AE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F9564-D30A-4833-8006-3EA004FAA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6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3BFC-BD34-3C46-8A4F-4D5FFC39D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8695B-C674-E34C-9B03-42F04442D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F1F-C0C4-454F-A872-086051C3E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2A81-FEFF-4D53-91B3-86B2E60AC67F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BCF59-6D6B-7A48-A0D9-E25C4E8B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1D22-8719-3C4A-8035-EAA76D5B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630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9E19-3D3E-FD45-AC49-4D8EC94A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1F7C-CCD6-0D40-99D4-EB8519B91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D41F1-AC3D-7848-8AA8-E86E4A17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8DE4-2A8C-41D3-AA66-60A17925DC5D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D349-756F-7C42-AF04-2A5AC01F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B50D-66A5-E94C-80D0-EC9173FE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2292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9A05-DA7C-EE47-94B0-7A232308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6C0F5-320F-E242-A67F-69A2AA424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DB3D-CFEB-1842-8C55-060E82DA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DCE69-7901-47CD-B29F-96F60264726F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55FCF-9BE2-AD48-ADFF-244A3B11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EE26E-6E59-034F-9EFA-480BAE4E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7121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6992-FD17-7048-BB6B-15ED997F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6FD1-656C-0D42-AD23-4C1F23CE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7BDF9-F38C-0942-9CFB-B1BB4C0AD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1F03F-8E91-3241-B893-74054A58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0906-CCB4-472D-9E12-1E549EFD2D29}" type="datetime1">
              <a:rPr lang="ar-SA" smtClean="0"/>
              <a:t>21/04/1447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EE476-F124-5346-BE4A-F074C4F4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5674D-EC4C-7C4F-9F88-C218C6E6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958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7BD8-2DBE-3B45-9DD7-BE3B6032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03B88-A007-3C42-9A10-28AED7B74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7FBA5-53FC-9248-B5BB-993C469F0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663C8-219B-854E-ABA1-50D92EC80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E1119-6A07-E24B-B61E-FB4AE2D3A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4943A-E713-BF4D-9B71-71C3458C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3EF2-93DD-4021-915A-B0A2A585AD87}" type="datetime1">
              <a:rPr lang="ar-SA" smtClean="0"/>
              <a:t>21/04/1447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05261-0DDA-5F4E-A3A8-5180F5FE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0F0582-7F57-1C4C-A692-CE01BE59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68870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21DD-6980-C64F-9097-E32EEF3C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94005-26F1-6B44-89B1-C297844D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C5396-F4B4-46EA-82F3-7BB633091472}" type="datetime1">
              <a:rPr lang="ar-SA" smtClean="0"/>
              <a:t>21/04/1447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3E0BF-3EBD-BE42-8B70-966E71F2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B305A-78AC-C44A-90A8-4A4BD13F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4150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5B7EC-409C-E84F-A395-FF5A955E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D2D8-E443-4931-A2E1-625F0CC06AD4}" type="datetime1">
              <a:rPr lang="ar-SA" smtClean="0"/>
              <a:t>21/04/1447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39008-214E-1242-99ED-495FFECB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0F461-7878-3246-B964-2E35B1E2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5137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C53A-7BAA-7E45-AF69-BBAE1724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8AFC-4E9B-0641-878A-4DEBCF0D0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6DA9F-0846-BE44-80BA-48875ED01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7EF51-3FD4-6B46-8A35-4659FBCAB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3BF4-6A46-4738-824D-0A7D1F7815D2}" type="datetime1">
              <a:rPr lang="ar-SA" smtClean="0"/>
              <a:t>21/04/1447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015F-94EE-A743-9616-4A8D5359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E9B38-BC9A-CF4F-A5E7-D46AA97A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569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5405-B467-3B42-92A5-AB651B23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79123-E733-0F48-A78A-94FB2F4A9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95E67-8F22-7540-93EE-431040E09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6145F-290F-3A42-A456-B339157C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0D80-1246-493C-9E4B-A2B4708583B8}" type="datetime1">
              <a:rPr lang="ar-SA" smtClean="0"/>
              <a:t>21/04/1447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18D7E-B398-C549-8F5D-CA7B871B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20BBE-764E-F94A-9A8E-DE1A59DD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240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4C12-957A-F743-9D9F-448742CF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3EA56-E84C-1B4D-98D7-29C65F0C1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E1593-60D4-C643-8F23-B47352A4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079F9-F035-40AC-BB65-CA1C6D7DC9E0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B59B0-F736-3E42-A3A4-14ACCD54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CA7B-15B6-0347-9797-5CB2F0D8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085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2701D-BEA9-CA44-91F5-4642EBA78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1EC0E-64C9-FE4A-A1F8-CBB8F5C59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E3EE-4948-BA41-9F61-B9426F99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93744-EB30-45EF-A5DD-037D847DF75D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57954-74B1-6B45-887D-9368887C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69DE-A9AC-2846-A2A3-54E403D9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273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0CAE31-5558-A14D-90F0-DD67D323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D2AA2-10D2-3C4E-91B0-5798BC2D0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C23C-56DB-7C44-B4F2-18B504839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D3EF2-93DD-4021-915A-B0A2A585AD87}" type="datetime1">
              <a:rPr lang="ar-SA" smtClean="0"/>
              <a:t>21/04/1447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E1AC-4BF2-2F4D-8706-DE6487D63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SA"/>
              <a:t>أ. زينب آل كاظم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183D-6082-E64A-9A11-D4514314B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8E2BA-F417-49BB-9572-64416A60169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990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6CCE-6098-114B-A432-2743EC026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K" sz="7200" b="1" dirty="0"/>
              <a:t>Discrete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AF0D-EF67-DE40-BCB5-D99FE4FB0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endParaRPr lang="en-PK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8D203-C5CA-3548-8E98-FE8E1935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3742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3047999"/>
          </a:xfrm>
        </p:spPr>
        <p:txBody>
          <a:bodyPr>
            <a:normAutofit fontScale="90000"/>
          </a:bodyPr>
          <a:lstStyle/>
          <a:p>
            <a:pPr rtl="0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Mathematics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Its Applications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Kenneth H. Rosen</a:t>
            </a:r>
            <a:b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SEVENTH EDITION</a:t>
            </a:r>
            <a:b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ar-SA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</a:t>
            </a:fld>
            <a:endParaRPr lang="ar-S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Logic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44800"/>
            <a:ext cx="8001000" cy="889000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 rtl="0">
              <a:buNone/>
            </a:pPr>
            <a:r>
              <a:rPr lang="en-US" sz="2400" dirty="0"/>
              <a:t>A proposition is a declarative sentence (that is, a sentence that declares a fact) that is either true or false, but not both.</a:t>
            </a:r>
            <a:endParaRPr lang="ar-SA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26A8E2BA-F417-49BB-9572-64416A601698}" type="slidenum">
              <a:rPr lang="ar-SA" smtClean="0"/>
              <a:pPr algn="l"/>
              <a:t>3</a:t>
            </a:fld>
            <a:endParaRPr lang="ar-SA"/>
          </a:p>
        </p:txBody>
      </p:sp>
      <p:sp>
        <p:nvSpPr>
          <p:cNvPr id="5" name="Rectangle 4"/>
          <p:cNvSpPr/>
          <p:nvPr/>
        </p:nvSpPr>
        <p:spPr>
          <a:xfrm>
            <a:off x="457200" y="1447800"/>
            <a:ext cx="449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1.1 Propositional Logic</a:t>
            </a:r>
            <a:endParaRPr lang="ar-SA" sz="3200" b="1" u="sng" dirty="0">
              <a:solidFill>
                <a:schemeClr val="accent1">
                  <a:lumMod val="75000"/>
                </a:schemeClr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133600"/>
            <a:ext cx="2819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b="1" u="sng" dirty="0">
                <a:solidFill>
                  <a:srgbClr val="00B050"/>
                </a:solidFill>
              </a:rPr>
              <a:t>Propositions</a:t>
            </a:r>
            <a:endParaRPr lang="ar-SA" sz="3200" b="1" u="sng" dirty="0">
              <a:solidFill>
                <a:srgbClr val="00B050"/>
              </a:solidFill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014F1D8B-EE08-4AD8-9B33-B55DBBDDB15B}"/>
              </a:ext>
            </a:extLst>
          </p:cNvPr>
          <p:cNvSpPr txBox="1"/>
          <p:nvPr/>
        </p:nvSpPr>
        <p:spPr>
          <a:xfrm>
            <a:off x="457200" y="3905706"/>
            <a:ext cx="8001000" cy="16312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just" rtl="0"/>
            <a:r>
              <a:rPr lang="en-US" sz="2000" b="1" u="sng" dirty="0">
                <a:solidFill>
                  <a:srgbClr val="7030A0"/>
                </a:solidFill>
              </a:rPr>
              <a:t>EXAMPLE l</a:t>
            </a:r>
            <a:r>
              <a:rPr lang="en-US" sz="2000" b="1" dirty="0">
                <a:solidFill>
                  <a:srgbClr val="7030A0"/>
                </a:solidFill>
              </a:rPr>
              <a:t>  </a:t>
            </a:r>
            <a:r>
              <a:rPr lang="en-US" sz="2000" dirty="0"/>
              <a:t>All the following declarative sentences are propositions.</a:t>
            </a:r>
          </a:p>
          <a:p>
            <a:pPr algn="just" rtl="0"/>
            <a:r>
              <a:rPr lang="en-US" sz="2000" dirty="0">
                <a:solidFill>
                  <a:srgbClr val="FF0000"/>
                </a:solidFill>
              </a:rPr>
              <a:t>1 </a:t>
            </a:r>
            <a:r>
              <a:rPr lang="en-US" sz="2000" dirty="0"/>
              <a:t>. Washington, D.C., is the capital of the United States of America.</a:t>
            </a:r>
          </a:p>
          <a:p>
            <a:pPr algn="just" rtl="0"/>
            <a:r>
              <a:rPr lang="en-US" sz="2000" dirty="0">
                <a:solidFill>
                  <a:srgbClr val="FF0000"/>
                </a:solidFill>
              </a:rPr>
              <a:t>2 </a:t>
            </a:r>
            <a:r>
              <a:rPr lang="en-US" sz="2000" dirty="0"/>
              <a:t>. Toronto is the capital of Canada.</a:t>
            </a:r>
          </a:p>
          <a:p>
            <a:pPr algn="just" rtl="0"/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dirty="0"/>
              <a:t>.  1 + 1 =2</a:t>
            </a:r>
          </a:p>
          <a:p>
            <a:pPr algn="just" rtl="0"/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en-US" sz="2000" dirty="0"/>
              <a:t>. 2 + 2 =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l" rtl="0"/>
            <a:r>
              <a:rPr lang="en-US" sz="2800" b="1" dirty="0">
                <a:solidFill>
                  <a:srgbClr val="00B050"/>
                </a:solidFill>
              </a:rPr>
              <a:t>Some sentences that are not propositions are given in Example 2 .</a:t>
            </a:r>
            <a:endParaRPr lang="ar-SA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00400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2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Consider the following sentences.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1 . What time is it?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1" dirty="0"/>
              <a:t>2 . Read this carefully.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3 . x + 1 = 2 .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1" dirty="0"/>
              <a:t>4 . x + y = Z.</a:t>
            </a:r>
            <a:endParaRPr lang="ar-SA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4</a:t>
            </a:fld>
            <a:endParaRPr lang="ar-SA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87D87AAF-5AE7-455F-848D-66D4B3F01B07}"/>
              </a:ext>
            </a:extLst>
          </p:cNvPr>
          <p:cNvSpPr txBox="1"/>
          <p:nvPr/>
        </p:nvSpPr>
        <p:spPr>
          <a:xfrm>
            <a:off x="469900" y="5117921"/>
            <a:ext cx="822960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l"/>
            <a:r>
              <a:rPr lang="en-US" sz="2400" b="1" dirty="0"/>
              <a:t>The truth value of a proposition is true, denoted by </a:t>
            </a:r>
            <a:r>
              <a:rPr lang="en-US" sz="2400" b="1" dirty="0">
                <a:solidFill>
                  <a:srgbClr val="FF0000"/>
                </a:solidFill>
              </a:rPr>
              <a:t>T</a:t>
            </a:r>
            <a:r>
              <a:rPr lang="en-US" sz="2400" b="1" dirty="0"/>
              <a:t>, if it is a true proposition and false, denoted by </a:t>
            </a:r>
            <a:r>
              <a:rPr lang="en-US" sz="2400" b="1" dirty="0">
                <a:solidFill>
                  <a:srgbClr val="FF0000"/>
                </a:solidFill>
              </a:rPr>
              <a:t>F</a:t>
            </a:r>
            <a:r>
              <a:rPr lang="en-US" sz="2400" b="1" dirty="0"/>
              <a:t>, if it is a false proposition.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229600" cy="4525963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</a:pPr>
            <a:r>
              <a:rPr lang="en-US" dirty="0"/>
              <a:t>We use </a:t>
            </a:r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letters</a:t>
            </a:r>
            <a:r>
              <a:rPr lang="en-US" dirty="0"/>
              <a:t> to denote propositional variables (or statement variables), that is, variables that represent propositions, just as letters are used to denote numerical variables.</a:t>
            </a:r>
          </a:p>
          <a:p>
            <a:pPr algn="l" rtl="0">
              <a:lnSpc>
                <a:spcPct val="150000"/>
              </a:lnSpc>
            </a:pPr>
            <a:r>
              <a:rPr lang="en-US" dirty="0"/>
              <a:t>The area of logic that deals with propositions is called the </a:t>
            </a:r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propositional calculus</a:t>
            </a:r>
            <a:r>
              <a:rPr lang="en-US" dirty="0"/>
              <a:t> or </a:t>
            </a:r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propositional logic.</a:t>
            </a:r>
            <a:endParaRPr lang="ar-SA" u="sng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 rtl="0">
              <a:lnSpc>
                <a:spcPct val="150000"/>
              </a:lnSpc>
            </a:pPr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compound propositions</a:t>
            </a:r>
            <a:r>
              <a:rPr lang="en-US" dirty="0"/>
              <a:t>, are formed from existing propositions using logical operators.</a:t>
            </a:r>
            <a:endParaRPr lang="ar-SA" u="sng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5</a:t>
            </a:fld>
            <a:endParaRPr lang="ar-S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4876800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1 :</a:t>
            </a: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/>
              <a:t>Let p be a proposition. The negation of p, denoted by ¬p (also denoted by p), is the statement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"It is not the case that p."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The proposition ¬ p is read "not p." The truth value of the negation of p, - p, is the opposite of the truth value of p.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6</a:t>
            </a:fld>
            <a:endParaRPr lang="ar-SA"/>
          </a:p>
        </p:txBody>
      </p:sp>
      <p:cxnSp>
        <p:nvCxnSpPr>
          <p:cNvPr id="5" name="Straight Connector 4"/>
          <p:cNvCxnSpPr/>
          <p:nvPr/>
        </p:nvCxnSpPr>
        <p:spPr>
          <a:xfrm>
            <a:off x="6553200" y="1752600"/>
            <a:ext cx="22860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78" y="381000"/>
            <a:ext cx="8229600" cy="5883275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3 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Find the negation of the proposition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"Today is Friday.“ </a:t>
            </a:r>
            <a:r>
              <a:rPr lang="en-US" dirty="0"/>
              <a:t>and express this in simple English.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  <a:p>
            <a:pPr algn="l" rtl="0">
              <a:lnSpc>
                <a:spcPct val="150000"/>
              </a:lnSpc>
              <a:buNone/>
            </a:pPr>
            <a:endParaRPr lang="en-US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4: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Find the negation of the proposition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2+2=5</a:t>
            </a:r>
            <a:r>
              <a:rPr lang="en-US" dirty="0"/>
              <a:t>.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  <a:p>
            <a:pPr algn="l" rtl="0">
              <a:lnSpc>
                <a:spcPct val="150000"/>
              </a:lnSpc>
              <a:buNone/>
            </a:pPr>
            <a:endParaRPr lang="en-US" dirty="0"/>
          </a:p>
          <a:p>
            <a:pPr algn="l" rtl="0">
              <a:lnSpc>
                <a:spcPct val="150000"/>
              </a:lnSpc>
              <a:buNone/>
            </a:pPr>
            <a:endParaRPr lang="en-US" dirty="0"/>
          </a:p>
          <a:p>
            <a:pPr algn="l" rtl="0">
              <a:lnSpc>
                <a:spcPct val="150000"/>
              </a:lnSpc>
              <a:buNone/>
            </a:pPr>
            <a:endParaRPr lang="en-US" dirty="0"/>
          </a:p>
          <a:p>
            <a:pPr algn="l" rtl="0">
              <a:lnSpc>
                <a:spcPct val="150000"/>
              </a:lnSpc>
              <a:buNone/>
            </a:pPr>
            <a:endParaRPr lang="en-US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 rtl="0">
              <a:lnSpc>
                <a:spcPct val="150000"/>
              </a:lnSpc>
              <a:buNone/>
            </a:pP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7</a:t>
            </a:fld>
            <a:endParaRPr lang="ar-S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Table 1 displays the truth table for the negation of a proposition p.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8</a:t>
            </a:fld>
            <a:endParaRPr lang="ar-SA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524001"/>
            <a:ext cx="3352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90600" y="1676400"/>
            <a:ext cx="3048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Truth Table for the Negation of a Proposition.</a:t>
            </a:r>
            <a:endParaRPr lang="ar-SA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3733800"/>
            <a:ext cx="373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p                        </a:t>
            </a:r>
            <a:r>
              <a:rPr lang="en-US" sz="2400" dirty="0"/>
              <a:t>¬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endParaRPr lang="ar-SA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3200" b="1" dirty="0"/>
              <a:t>   T                   F</a:t>
            </a:r>
          </a:p>
          <a:p>
            <a:pPr algn="l"/>
            <a:r>
              <a:rPr lang="en-US" sz="3200" b="1" dirty="0"/>
              <a:t>   F                   T</a:t>
            </a:r>
            <a:endParaRPr lang="ar-SA" sz="32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896B09A7-F129-487B-B50A-DD8D14CF123D}"/>
              </a:ext>
            </a:extLst>
          </p:cNvPr>
          <p:cNvSpPr txBox="1"/>
          <p:nvPr/>
        </p:nvSpPr>
        <p:spPr>
          <a:xfrm>
            <a:off x="4495800" y="1676400"/>
            <a:ext cx="4419600" cy="31085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800" dirty="0"/>
              <a:t>This table has a row for each of the two possible truth values of a proposition </a:t>
            </a:r>
            <a:r>
              <a:rPr lang="en-US" sz="2800" dirty="0">
                <a:solidFill>
                  <a:srgbClr val="FF0000"/>
                </a:solidFill>
              </a:rPr>
              <a:t>P</a:t>
            </a:r>
            <a:r>
              <a:rPr lang="en-US" sz="2800" dirty="0"/>
              <a:t>. Each row shows the truth value of </a:t>
            </a:r>
            <a:r>
              <a:rPr lang="en-US" sz="2800" dirty="0">
                <a:solidFill>
                  <a:srgbClr val="FF0000"/>
                </a:solidFill>
              </a:rPr>
              <a:t>¬P </a:t>
            </a:r>
            <a:r>
              <a:rPr lang="en-US" sz="2800" dirty="0"/>
              <a:t>corresponding to the truth value of p for this row.</a:t>
            </a:r>
            <a:endParaRPr lang="ar-SA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6248400"/>
          </a:xfrm>
        </p:spPr>
        <p:txBody>
          <a:bodyPr>
            <a:noAutofit/>
          </a:bodyPr>
          <a:lstStyle/>
          <a:p>
            <a:pPr algn="just" rtl="0">
              <a:lnSpc>
                <a:spcPct val="160000"/>
              </a:lnSpc>
              <a:buNone/>
            </a:pPr>
            <a:r>
              <a:rPr lang="en-US" sz="2800" dirty="0"/>
              <a:t>The negation operator constructs a new proposition from a single existing proposition. We will now introduce the logical operators  that are used to form new propositions from two or more existing propositions. These logical operators are also called </a:t>
            </a:r>
            <a:r>
              <a:rPr lang="en-US" sz="2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connectives.</a:t>
            </a:r>
          </a:p>
          <a:p>
            <a:pPr algn="l" rtl="0">
              <a:lnSpc>
                <a:spcPct val="160000"/>
              </a:lnSpc>
              <a:buNone/>
            </a:pP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l" rtl="0">
              <a:lnSpc>
                <a:spcPct val="160000"/>
              </a:lnSpc>
              <a:buNone/>
            </a:pPr>
            <a:endParaRPr lang="ar-SA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9</a:t>
            </a:fld>
            <a:endParaRPr lang="ar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2596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2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 be propositions. The conjunction of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, denoted by </a:t>
            </a:r>
            <a:r>
              <a:rPr lang="en-US" dirty="0">
                <a:solidFill>
                  <a:srgbClr val="FF0000"/>
                </a:solidFill>
              </a:rPr>
              <a:t>p /\ q</a:t>
            </a:r>
            <a:r>
              <a:rPr lang="en-US" dirty="0"/>
              <a:t>, is the proposition "p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q ." The conjunction </a:t>
            </a:r>
            <a:r>
              <a:rPr lang="en-US" dirty="0">
                <a:solidFill>
                  <a:srgbClr val="FF0000"/>
                </a:solidFill>
              </a:rPr>
              <a:t>p /\ q </a:t>
            </a:r>
            <a:r>
              <a:rPr lang="en-US" dirty="0"/>
              <a:t>is true when both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 are true and is false otherwise.</a:t>
            </a:r>
            <a:endParaRPr lang="ar-SA" dirty="0"/>
          </a:p>
          <a:p>
            <a:pPr algn="l" rtl="0">
              <a:lnSpc>
                <a:spcPct val="150000"/>
              </a:lnSpc>
              <a:buNone/>
            </a:pP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10</a:t>
            </a:fld>
            <a:endParaRPr lang="ar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399" y="577932"/>
            <a:ext cx="5553501" cy="4832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11</a:t>
            </a:fld>
            <a:endParaRPr lang="ar-S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86800" cy="4525963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5 </a:t>
            </a:r>
            <a:r>
              <a:rPr lang="en-US" sz="2800" dirty="0"/>
              <a:t>Find the </a:t>
            </a:r>
            <a:r>
              <a:rPr lang="en-US" sz="2800" b="1" u="sng" dirty="0"/>
              <a:t>conjunction</a:t>
            </a:r>
            <a:r>
              <a:rPr lang="en-US" sz="2800" b="1" dirty="0"/>
              <a:t> </a:t>
            </a:r>
            <a:r>
              <a:rPr lang="en-US" sz="2800" dirty="0"/>
              <a:t>of the propositions p and q where </a:t>
            </a:r>
            <a:r>
              <a:rPr lang="en-US" sz="2800" b="1" dirty="0">
                <a:solidFill>
                  <a:srgbClr val="0070C0"/>
                </a:solidFill>
              </a:rPr>
              <a:t>p</a:t>
            </a:r>
            <a:r>
              <a:rPr lang="en-US" sz="2800" dirty="0"/>
              <a:t> is the proposition </a:t>
            </a:r>
            <a:r>
              <a:rPr lang="en-US" sz="2800" b="1" dirty="0">
                <a:solidFill>
                  <a:srgbClr val="0070C0"/>
                </a:solidFill>
              </a:rPr>
              <a:t>"Today is Friday"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sz="2800" dirty="0"/>
              <a:t>and </a:t>
            </a:r>
            <a:r>
              <a:rPr lang="en-US" sz="2800" b="1" dirty="0">
                <a:solidFill>
                  <a:srgbClr val="0070C0"/>
                </a:solidFill>
              </a:rPr>
              <a:t>q</a:t>
            </a:r>
            <a:r>
              <a:rPr lang="en-US" sz="2800" dirty="0"/>
              <a:t> is the proposition </a:t>
            </a:r>
            <a:r>
              <a:rPr lang="en-US" sz="2800" b="1" dirty="0">
                <a:solidFill>
                  <a:srgbClr val="0070C0"/>
                </a:solidFill>
              </a:rPr>
              <a:t>"It is raining today.“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</a:rPr>
              <a:t>Solution:</a:t>
            </a:r>
          </a:p>
          <a:p>
            <a:pPr algn="l" rtl="0">
              <a:lnSpc>
                <a:spcPct val="150000"/>
              </a:lnSpc>
              <a:buNone/>
            </a:pPr>
            <a:endParaRPr lang="en-US" dirty="0"/>
          </a:p>
          <a:p>
            <a:pPr algn="l" rtl="0">
              <a:lnSpc>
                <a:spcPct val="150000"/>
              </a:lnSpc>
              <a:buNone/>
            </a:pP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12</a:t>
            </a:fld>
            <a:endParaRPr lang="ar-S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372" y="838200"/>
            <a:ext cx="8229600" cy="4525963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C00000"/>
                </a:solidFill>
              </a:rPr>
              <a:t>DEFINITION 3: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dirty="0"/>
              <a:t>Let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q</a:t>
            </a:r>
            <a:r>
              <a:rPr lang="en-US" b="1" dirty="0"/>
              <a:t> be propositions. The disjunction of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q</a:t>
            </a:r>
            <a:r>
              <a:rPr lang="en-US" b="1" dirty="0"/>
              <a:t>, denoted by </a:t>
            </a:r>
            <a:r>
              <a:rPr lang="en-US" b="1" dirty="0">
                <a:solidFill>
                  <a:srgbClr val="FF0000"/>
                </a:solidFill>
              </a:rPr>
              <a:t>p V q</a:t>
            </a:r>
            <a:r>
              <a:rPr lang="en-US" b="1" dirty="0"/>
              <a:t>, is the proposition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dirty="0"/>
              <a:t>"p 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b="1" dirty="0"/>
              <a:t> q ." The disjunction </a:t>
            </a:r>
            <a:r>
              <a:rPr lang="en-US" b="1" dirty="0">
                <a:solidFill>
                  <a:srgbClr val="FF0000"/>
                </a:solidFill>
              </a:rPr>
              <a:t>p V q </a:t>
            </a:r>
            <a:r>
              <a:rPr lang="en-US" b="1" dirty="0"/>
              <a:t>is false when both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q</a:t>
            </a:r>
            <a:r>
              <a:rPr lang="en-US" b="1" dirty="0"/>
              <a:t> are false and is true otherwise.</a:t>
            </a:r>
            <a:endParaRPr lang="ar-SA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13</a:t>
            </a:fld>
            <a:endParaRPr lang="ar-S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219200"/>
            <a:ext cx="55255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14</a:t>
            </a:fld>
            <a:endParaRPr lang="ar-S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6: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What is the disjunction of the propositions p and q where </a:t>
            </a:r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US" dirty="0"/>
              <a:t> is the proposition </a:t>
            </a:r>
            <a:r>
              <a:rPr lang="en-US" b="1" dirty="0">
                <a:solidFill>
                  <a:srgbClr val="0070C0"/>
                </a:solidFill>
              </a:rPr>
              <a:t>"Today is Friday“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q</a:t>
            </a:r>
            <a:r>
              <a:rPr lang="en-US" dirty="0"/>
              <a:t> is the proposition </a:t>
            </a:r>
            <a:r>
              <a:rPr lang="en-US" b="1" dirty="0">
                <a:solidFill>
                  <a:srgbClr val="0070C0"/>
                </a:solidFill>
              </a:rPr>
              <a:t>"It is raining today.“</a:t>
            </a:r>
          </a:p>
          <a:p>
            <a:pPr algn="l" rtl="0">
              <a:lnSpc>
                <a:spcPct val="150000"/>
              </a:lnSpc>
              <a:buNone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15</a:t>
            </a:fld>
            <a:endParaRPr lang="ar-S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rtl="0"/>
            <a:r>
              <a:rPr lang="en-US" b="1" u="sng" dirty="0">
                <a:solidFill>
                  <a:srgbClr val="FF0000"/>
                </a:solidFill>
              </a:rPr>
              <a:t>Conditional Statements</a:t>
            </a:r>
            <a:endParaRPr lang="ar-SA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05400"/>
              </a:xfrm>
              <a:ln w="1905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60000"/>
                  </a:lnSpc>
                  <a:buNone/>
                </a:pPr>
                <a:r>
                  <a:rPr lang="en-US" b="1" u="sng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DEFINITION 5:</a:t>
                </a:r>
              </a:p>
              <a:p>
                <a:pPr algn="l" rtl="0">
                  <a:lnSpc>
                    <a:spcPct val="160000"/>
                  </a:lnSpc>
                  <a:buNone/>
                </a:pPr>
                <a:r>
                  <a:rPr lang="en-US" dirty="0"/>
                  <a:t>Let </a:t>
                </a:r>
                <a:r>
                  <a:rPr lang="en-US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FF0000"/>
                    </a:solidFill>
                  </a:rPr>
                  <a:t>q</a:t>
                </a:r>
                <a:r>
                  <a:rPr lang="en-US" dirty="0"/>
                  <a:t> be propositions. The conditional statement</a:t>
                </a:r>
              </a:p>
              <a:p>
                <a:pPr algn="l" rtl="0">
                  <a:lnSpc>
                    <a:spcPct val="16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  <a:r>
                  <a:rPr lang="en-US" dirty="0"/>
                  <a:t>is the proposition "if p, then q ." The conditional statement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false when </a:t>
                </a:r>
                <a:r>
                  <a:rPr lang="en-US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/>
                  <a:t> is true and </a:t>
                </a:r>
                <a:r>
                  <a:rPr lang="en-US" dirty="0">
                    <a:solidFill>
                      <a:srgbClr val="FF0000"/>
                    </a:solidFill>
                  </a:rPr>
                  <a:t>q</a:t>
                </a:r>
                <a:r>
                  <a:rPr lang="en-US" dirty="0"/>
                  <a:t> is false, and true otherwise.</a:t>
                </a:r>
              </a:p>
              <a:p>
                <a:pPr algn="l" rtl="0">
                  <a:lnSpc>
                    <a:spcPct val="160000"/>
                  </a:lnSpc>
                  <a:buNone/>
                </a:pPr>
                <a:r>
                  <a:rPr lang="en-US" dirty="0"/>
                  <a:t>In the conditional statement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, p is called the hypothesis (or antecedent or premise) and q is called the conclusion (or consequence)</a:t>
                </a:r>
                <a:endParaRPr lang="ar-S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05400"/>
              </a:xfrm>
              <a:blipFill>
                <a:blip r:embed="rId2"/>
                <a:stretch>
                  <a:fillRect l="-769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16</a:t>
            </a:fld>
            <a:endParaRPr lang="ar-S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50000"/>
                  </a:lnSpc>
                  <a:buNone/>
                </a:pPr>
                <a:r>
                  <a:rPr lang="en-US" b="1" dirty="0"/>
                  <a:t>The statement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𝑝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is called a conditional statement 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𝑝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asserts that q is true</a:t>
                </a:r>
              </a:p>
              <a:p>
                <a:pPr algn="l" rtl="0">
                  <a:lnSpc>
                    <a:spcPct val="150000"/>
                  </a:lnSpc>
                  <a:buNone/>
                </a:pPr>
                <a:r>
                  <a:rPr lang="en-US" b="1" dirty="0"/>
                  <a:t>on the condition that p holds. A conditional statement is also called an </a:t>
                </a:r>
                <a:r>
                  <a:rPr lang="en-US" b="1" dirty="0">
                    <a:solidFill>
                      <a:srgbClr val="FF0000"/>
                    </a:solidFill>
                  </a:rPr>
                  <a:t>implication</a:t>
                </a:r>
                <a:r>
                  <a:rPr lang="en-US" b="1" dirty="0"/>
                  <a:t>.</a:t>
                </a:r>
              </a:p>
              <a:p>
                <a:pPr algn="l" rtl="0">
                  <a:lnSpc>
                    <a:spcPct val="150000"/>
                  </a:lnSpc>
                  <a:buNone/>
                </a:pPr>
                <a:r>
                  <a:rPr lang="en-US" b="1" dirty="0"/>
                  <a:t>statement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𝑝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is true when both p and q are true and when p is false (no matter what truth value q has).</a:t>
                </a:r>
                <a:endParaRPr lang="ar-SA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  <a:blipFill>
                <a:blip r:embed="rId2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17</a:t>
            </a:fld>
            <a:endParaRPr lang="ar-S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371600"/>
            <a:ext cx="5110297" cy="439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18</a:t>
            </a:fld>
            <a:endParaRPr lang="ar-S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381000"/>
            <a:ext cx="792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CONVERSE, CONTRAPOSITIVE, AND INVERSE</a:t>
            </a:r>
            <a:endParaRPr lang="ar-SA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66800"/>
            <a:ext cx="8229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b="1" dirty="0"/>
              <a:t>We can form some new conditional statements starting with a conditional statement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 .</a:t>
            </a:r>
          </a:p>
          <a:p>
            <a:pPr algn="l" rtl="0"/>
            <a:endParaRPr lang="en-US" sz="2400" b="1" dirty="0"/>
          </a:p>
          <a:p>
            <a:pPr algn="l" rtl="0"/>
            <a:r>
              <a:rPr lang="en-US" sz="2400" b="1" dirty="0"/>
              <a:t> In particular, there are three related conditional statements that occur so often that they have special names.</a:t>
            </a:r>
          </a:p>
          <a:p>
            <a:pPr algn="l" rtl="0"/>
            <a:endParaRPr lang="en-US" sz="2400" b="1" dirty="0"/>
          </a:p>
          <a:p>
            <a:pPr algn="l" rtl="0"/>
            <a:r>
              <a:rPr lang="en-US" sz="2400" b="1" dirty="0"/>
              <a:t>1/  The proposition q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p is called </a:t>
            </a: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the converse </a:t>
            </a:r>
            <a:r>
              <a:rPr lang="en-US" sz="2400" b="1" dirty="0"/>
              <a:t>of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 .</a:t>
            </a:r>
          </a:p>
          <a:p>
            <a:pPr algn="l" rtl="0"/>
            <a:endParaRPr lang="en-US" sz="2400" b="1" dirty="0"/>
          </a:p>
          <a:p>
            <a:pPr algn="l" rtl="0"/>
            <a:r>
              <a:rPr lang="en-US" sz="2400" b="1" dirty="0"/>
              <a:t>2/ </a:t>
            </a: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The contrapositive </a:t>
            </a:r>
            <a:r>
              <a:rPr lang="en-US" sz="2400" b="1" dirty="0"/>
              <a:t>of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 is the proposition -q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-p.</a:t>
            </a:r>
          </a:p>
          <a:p>
            <a:pPr algn="l" rtl="0"/>
            <a:endParaRPr lang="en-US" sz="2400" b="1" dirty="0"/>
          </a:p>
          <a:p>
            <a:pPr algn="l" rtl="0"/>
            <a:r>
              <a:rPr lang="en-US" sz="2400" b="1" dirty="0"/>
              <a:t>3/ The proposition -p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-q is called </a:t>
            </a: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the inverse </a:t>
            </a:r>
            <a:r>
              <a:rPr lang="en-US" sz="2400" b="1" dirty="0"/>
              <a:t>of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q.</a:t>
            </a:r>
          </a:p>
          <a:p>
            <a:pPr algn="l" rtl="0"/>
            <a:endParaRPr lang="en-US" sz="2400" b="1" dirty="0"/>
          </a:p>
          <a:p>
            <a:pPr algn="l" rtl="0"/>
            <a:r>
              <a:rPr lang="en-US" sz="2400" b="1" dirty="0"/>
              <a:t> We will see that of these three conditional statements formed from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 , only the contrapositive always has the same truth</a:t>
            </a:r>
          </a:p>
          <a:p>
            <a:pPr algn="l" rtl="0"/>
            <a:r>
              <a:rPr lang="en-US" sz="2400" b="1" dirty="0"/>
              <a:t>value as p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q .</a:t>
            </a:r>
            <a:endParaRPr lang="ar-SA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19</a:t>
            </a:fld>
            <a:endParaRPr lang="ar-S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en-US" dirty="0"/>
              <a:t>When two compound propositions always have the same truth value we call them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equivalent</a:t>
            </a:r>
            <a:r>
              <a:rPr lang="en-US" dirty="0"/>
              <a:t>,</a:t>
            </a:r>
            <a:endParaRPr lang="ar-SA" dirty="0"/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so that a conditional statement and its contrapositive are equivalent</a:t>
            </a:r>
            <a:endParaRPr lang="ar-SA" dirty="0"/>
          </a:p>
          <a:p>
            <a:pPr algn="l" rtl="0">
              <a:lnSpc>
                <a:spcPct val="150000"/>
              </a:lnSpc>
              <a:buNone/>
            </a:pPr>
            <a:r>
              <a:rPr lang="en-US" dirty="0"/>
              <a:t>The converse and the inverse of a conditional statement are also equivalent, but neither is equivalent to the original conditional statement</a:t>
            </a:r>
            <a:endParaRPr lang="ar-S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20</a:t>
            </a:fld>
            <a:endParaRPr lang="ar-S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BICONDITIONALS</a:t>
            </a:r>
            <a:endParaRPr lang="ar-SA" b="1" u="sng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114799"/>
              </a:xfrm>
              <a:ln w="38100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50000"/>
                  </a:lnSpc>
                  <a:buNone/>
                </a:pPr>
                <a:r>
                  <a:rPr lang="en-US" dirty="0"/>
                  <a:t>Let p and q be propositions. The biconditional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p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⟷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/>
                  <a:t> is the proposition </a:t>
                </a:r>
                <a:r>
                  <a:rPr lang="en-US" b="1" dirty="0">
                    <a:solidFill>
                      <a:srgbClr val="002060"/>
                    </a:solidFill>
                  </a:rPr>
                  <a:t>"p if and only if q ."</a:t>
                </a:r>
                <a:r>
                  <a:rPr lang="en-US" dirty="0"/>
                  <a:t> The biconditional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p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⟷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is true when p and q have the same truth values, and is false otherwise. Biconditional statements are also called bi-implications.</a:t>
                </a:r>
                <a:endParaRPr lang="ar-S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114799"/>
              </a:xfrm>
              <a:blipFill>
                <a:blip r:embed="rId2"/>
                <a:stretch>
                  <a:fillRect l="-61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21</a:t>
            </a:fld>
            <a:endParaRPr lang="ar-S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609600"/>
            <a:ext cx="688258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22</a:t>
            </a:fld>
            <a:endParaRPr lang="ar-S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dirty="0"/>
              <a:t>There are some other common ways to express </a:t>
            </a:r>
            <a:r>
              <a:rPr lang="en-US" dirty="0">
                <a:solidFill>
                  <a:srgbClr val="FF0000"/>
                </a:solidFill>
              </a:rPr>
              <a:t>p ↔ q</a:t>
            </a:r>
            <a:r>
              <a:rPr lang="en-US" dirty="0"/>
              <a:t>:</a:t>
            </a:r>
          </a:p>
          <a:p>
            <a:pPr algn="l" rtl="0">
              <a:lnSpc>
                <a:spcPct val="150000"/>
              </a:lnSpc>
            </a:pPr>
            <a:r>
              <a:rPr lang="en-US" dirty="0"/>
              <a:t>"p is necessary and sufficient for q "</a:t>
            </a:r>
          </a:p>
          <a:p>
            <a:pPr algn="l" rtl="0">
              <a:lnSpc>
                <a:spcPct val="150000"/>
              </a:lnSpc>
            </a:pPr>
            <a:r>
              <a:rPr lang="en-US" dirty="0"/>
              <a:t>"if p then q , and conversely"</a:t>
            </a:r>
          </a:p>
          <a:p>
            <a:pPr algn="l" rtl="0">
              <a:lnSpc>
                <a:spcPct val="150000"/>
              </a:lnSpc>
            </a:pPr>
            <a:r>
              <a:rPr lang="en-US" dirty="0"/>
              <a:t>"p </a:t>
            </a:r>
            <a:r>
              <a:rPr lang="en-US" dirty="0" err="1"/>
              <a:t>iff</a:t>
            </a:r>
            <a:r>
              <a:rPr lang="en-US" dirty="0"/>
              <a:t> q ."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23</a:t>
            </a:fld>
            <a:endParaRPr lang="ar-S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Truth Tables o f Compound Propositions</a:t>
            </a:r>
            <a:endParaRPr lang="ar-SA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24</a:t>
            </a:fld>
            <a:endParaRPr lang="ar-SA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160020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</a:t>
            </a:r>
            <a:endParaRPr lang="ar-SA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None/>
            </a:pPr>
            <a:r>
              <a:rPr lang="en-US" b="1" u="sng" dirty="0">
                <a:solidFill>
                  <a:srgbClr val="C00000"/>
                </a:solidFill>
              </a:rPr>
              <a:t>Page 12, 13,14,15</a:t>
            </a:r>
          </a:p>
          <a:p>
            <a:pPr algn="l" rtl="0"/>
            <a:r>
              <a:rPr lang="en-US" dirty="0"/>
              <a:t>1 (</a:t>
            </a:r>
            <a:r>
              <a:rPr lang="en-US" dirty="0" err="1"/>
              <a:t>a,c,e,f</a:t>
            </a:r>
            <a:r>
              <a:rPr lang="en-US" dirty="0"/>
              <a:t>)</a:t>
            </a:r>
            <a:endParaRPr lang="ar-SA" dirty="0"/>
          </a:p>
          <a:p>
            <a:pPr algn="l" rtl="0"/>
            <a:r>
              <a:rPr lang="en-US" dirty="0"/>
              <a:t>3 (</a:t>
            </a:r>
            <a:r>
              <a:rPr lang="en-US" dirty="0" err="1"/>
              <a:t>a,c</a:t>
            </a:r>
            <a:r>
              <a:rPr lang="en-US" dirty="0"/>
              <a:t>)</a:t>
            </a:r>
          </a:p>
          <a:p>
            <a:pPr algn="l" rtl="0"/>
            <a:r>
              <a:rPr lang="en-US" dirty="0"/>
              <a:t>8 (</a:t>
            </a:r>
            <a:r>
              <a:rPr lang="en-US" dirty="0" err="1"/>
              <a:t>a,b,c,f,g</a:t>
            </a:r>
            <a:r>
              <a:rPr lang="en-US" dirty="0"/>
              <a:t>)</a:t>
            </a:r>
          </a:p>
          <a:p>
            <a:pPr algn="l" rtl="0"/>
            <a:r>
              <a:rPr lang="en-US" dirty="0"/>
              <a:t>16(</a:t>
            </a:r>
            <a:r>
              <a:rPr lang="en-US" dirty="0" err="1"/>
              <a:t>a,d</a:t>
            </a:r>
            <a:r>
              <a:rPr lang="en-US" dirty="0"/>
              <a:t>)</a:t>
            </a:r>
          </a:p>
          <a:p>
            <a:pPr algn="l" rtl="0"/>
            <a:r>
              <a:rPr lang="en-US" dirty="0"/>
              <a:t>17(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pPr algn="l" rtl="0"/>
            <a:r>
              <a:rPr lang="en-US" dirty="0"/>
              <a:t>31 (</a:t>
            </a:r>
            <a:r>
              <a:rPr lang="en-US" dirty="0" err="1"/>
              <a:t>d,e</a:t>
            </a:r>
            <a:r>
              <a:rPr lang="en-US" dirty="0"/>
              <a:t>)</a:t>
            </a:r>
          </a:p>
          <a:p>
            <a:pPr algn="l" rtl="0"/>
            <a:r>
              <a:rPr lang="en-US" dirty="0"/>
              <a:t>36 (b)</a:t>
            </a:r>
          </a:p>
          <a:p>
            <a:pPr algn="l" rtl="0"/>
            <a:r>
              <a:rPr lang="en-US" dirty="0"/>
              <a:t>37 (a)</a:t>
            </a:r>
          </a:p>
          <a:p>
            <a:pPr algn="l" rtl="0"/>
            <a:endParaRPr lang="ar-S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E2BA-F417-49BB-9572-64416A601698}" type="slidenum">
              <a:rPr lang="ar-SA" smtClean="0"/>
              <a:pPr/>
              <a:t>25</a:t>
            </a:fld>
            <a:endParaRPr lang="ar-SA"/>
          </a:p>
        </p:txBody>
      </p:sp>
      <p:sp>
        <p:nvSpPr>
          <p:cNvPr id="6" name="Footer Placeholder 3"/>
          <p:cNvSpPr>
            <a:spLocks noGrp="1"/>
          </p:cNvSpPr>
          <p:nvPr/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ar-SA"/>
            </a:defPPr>
            <a:lvl1pPr marL="0" algn="ctr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</a:t>
            </a:r>
            <a:endParaRPr lang="ar-S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1894</TotalTime>
  <Words>1125</Words>
  <Application>Microsoft Office PowerPoint</Application>
  <PresentationFormat>On-screen Show (4:3)</PresentationFormat>
  <Paragraphs>119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Wingdings</vt:lpstr>
      <vt:lpstr>Office Theme</vt:lpstr>
      <vt:lpstr>Discrete Structures</vt:lpstr>
      <vt:lpstr>Discrete Mathematics and Its Applications  Kenneth H. Rosen  SEVENTH EDITION  </vt:lpstr>
      <vt:lpstr>Introduction to Logic</vt:lpstr>
      <vt:lpstr>Some sentences that are not propositions are given in Example 2 .</vt:lpstr>
      <vt:lpstr>PowerPoint Presentation</vt:lpstr>
      <vt:lpstr>PowerPoint Presentation</vt:lpstr>
      <vt:lpstr>PowerPoint Presentation</vt:lpstr>
      <vt:lpstr>Table 1 displays the truth table for the negation of a proposition 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Statements</vt:lpstr>
      <vt:lpstr>PowerPoint Presentation</vt:lpstr>
      <vt:lpstr>PowerPoint Presentation</vt:lpstr>
      <vt:lpstr>PowerPoint Presentation</vt:lpstr>
      <vt:lpstr>PowerPoint Presentation</vt:lpstr>
      <vt:lpstr>BICONDITIONALS</vt:lpstr>
      <vt:lpstr>PowerPoint Presentation</vt:lpstr>
      <vt:lpstr>PowerPoint Presentation</vt:lpstr>
      <vt:lpstr>Truth Tables o f Compound Propositions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and Its Applications</dc:title>
  <dc:creator>Windows User</dc:creator>
  <cp:lastModifiedBy>faiza azmat</cp:lastModifiedBy>
  <cp:revision>101</cp:revision>
  <dcterms:created xsi:type="dcterms:W3CDTF">2013-02-02T15:24:53Z</dcterms:created>
  <dcterms:modified xsi:type="dcterms:W3CDTF">2025-10-13T15:45:20Z</dcterms:modified>
</cp:coreProperties>
</file>